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4446f1407a475a" /><Relationship Type="http://schemas.openxmlformats.org/officeDocument/2006/relationships/extended-properties" Target="/docProps/app.xml" Id="R243f7c19e12741d0" /><Relationship Type="http://schemas.openxmlformats.org/officeDocument/2006/relationships/officeDocument" Target="/ppt/presentation.xml" Id="R70213c2220f949e8" /></Relationships>
</file>

<file path=ppt/presentation.xml><?xml version="1.0" encoding="utf-8"?>
<p:presentation xmlns:p="http://schemas.openxmlformats.org/presentationml/2006/main">
  <p:sldMasterIdLst>
    <p:sldMasterId xmlns:r="http://schemas.openxmlformats.org/officeDocument/2006/relationships" id="2147483648" r:id="Rbec37e8ebe8940c4"/>
  </p:sldMasterIdLst>
  <p:notesMasterIdLst>
    <p:notesMasterId xmlns:r="http://schemas.openxmlformats.org/officeDocument/2006/relationships" r:id="Rb62f6d7a62234da9"/>
  </p:notesMasterIdLst>
  <p:sldIdLst>
    <p:sldId xmlns:r="http://schemas.openxmlformats.org/officeDocument/2006/relationships" id="256" r:id="R6ab7e3024f0a4fef"/>
    <p:sldId xmlns:r="http://schemas.openxmlformats.org/officeDocument/2006/relationships" id="257" r:id="R5e6de653e1c74bb1"/>
    <p:sldId xmlns:r="http://schemas.openxmlformats.org/officeDocument/2006/relationships" id="258" r:id="R81022651ac174e66"/>
    <p:sldId xmlns:r="http://schemas.openxmlformats.org/officeDocument/2006/relationships" id="259" r:id="R3dd32269525a42b2"/>
    <p:sldId xmlns:r="http://schemas.openxmlformats.org/officeDocument/2006/relationships" id="260" r:id="R466adb4e06374438"/>
    <p:sldId xmlns:r="http://schemas.openxmlformats.org/officeDocument/2006/relationships" id="261" r:id="R47ff82277aa94026"/>
    <p:sldId xmlns:r="http://schemas.openxmlformats.org/officeDocument/2006/relationships" id="262" r:id="R39505631f9584c34"/>
    <p:sldId xmlns:r="http://schemas.openxmlformats.org/officeDocument/2006/relationships" id="263" r:id="R3e5dcc292fea44cf"/>
    <p:sldId xmlns:r="http://schemas.openxmlformats.org/officeDocument/2006/relationships" id="264" r:id="R20e8f1fcbd124630"/>
    <p:sldId xmlns:r="http://schemas.openxmlformats.org/officeDocument/2006/relationships" id="265" r:id="R9dc60bc1ee3b43bb"/>
    <p:sldId xmlns:r="http://schemas.openxmlformats.org/officeDocument/2006/relationships" id="266" r:id="R069ef362f876498e"/>
    <p:sldId xmlns:r="http://schemas.openxmlformats.org/officeDocument/2006/relationships" id="267" r:id="R0e5aaf04e0ea4b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0223d36341432e" /><Relationship Type="http://schemas.openxmlformats.org/officeDocument/2006/relationships/slideMaster" Target="/ppt/slideMasters/slideMaster1.xml" Id="Rbec37e8ebe8940c4" /><Relationship Type="http://schemas.openxmlformats.org/officeDocument/2006/relationships/notesMaster" Target="/ppt/notesMasters/notesMaster1.xml" Id="Rb62f6d7a62234da9" /><Relationship Type="http://schemas.openxmlformats.org/officeDocument/2006/relationships/presProps" Target="/ppt/presProps.xml" Id="R04e91a8743d94d5f" /><Relationship Type="http://schemas.openxmlformats.org/officeDocument/2006/relationships/tableStyles" Target="/ppt/tableStyles.xml" Id="Rad6e8c032d4c4293" /><Relationship Type="http://schemas.openxmlformats.org/officeDocument/2006/relationships/slide" Target="/ppt/slides/slide1.xml" Id="R6ab7e3024f0a4fef" /><Relationship Type="http://schemas.openxmlformats.org/officeDocument/2006/relationships/slide" Target="/ppt/slides/slide2.xml" Id="R5e6de653e1c74bb1" /><Relationship Type="http://schemas.openxmlformats.org/officeDocument/2006/relationships/slide" Target="/ppt/slides/slide3.xml" Id="R81022651ac174e66" /><Relationship Type="http://schemas.openxmlformats.org/officeDocument/2006/relationships/slide" Target="/ppt/slides/slide4.xml" Id="R3dd32269525a42b2" /><Relationship Type="http://schemas.openxmlformats.org/officeDocument/2006/relationships/slide" Target="/ppt/slides/slide5.xml" Id="R466adb4e06374438" /><Relationship Type="http://schemas.openxmlformats.org/officeDocument/2006/relationships/slide" Target="/ppt/slides/slide6.xml" Id="R47ff82277aa94026" /><Relationship Type="http://schemas.openxmlformats.org/officeDocument/2006/relationships/slide" Target="/ppt/slides/slide7.xml" Id="R39505631f9584c34" /><Relationship Type="http://schemas.openxmlformats.org/officeDocument/2006/relationships/slide" Target="/ppt/slides/slide8.xml" Id="R3e5dcc292fea44cf" /><Relationship Type="http://schemas.openxmlformats.org/officeDocument/2006/relationships/slide" Target="/ppt/slides/slide9.xml" Id="R20e8f1fcbd124630" /><Relationship Type="http://schemas.openxmlformats.org/officeDocument/2006/relationships/slide" Target="/ppt/slides/slide10.xml" Id="R9dc60bc1ee3b43bb" /><Relationship Type="http://schemas.openxmlformats.org/officeDocument/2006/relationships/slide" Target="/ppt/slides/slide11.xml" Id="R069ef362f876498e" /><Relationship Type="http://schemas.openxmlformats.org/officeDocument/2006/relationships/slide" Target="/ppt/slides/slide12.xml" Id="R0e5aaf04e0ea4b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78fefd776243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d3913a62864391" /><Relationship Type="http://schemas.openxmlformats.org/officeDocument/2006/relationships/notesMaster" Target="/ppt/notesMasters/notesMaster1.xml" Id="R5fe000d0e9204d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7bb28d34394130" /><Relationship Type="http://schemas.openxmlformats.org/officeDocument/2006/relationships/notesMaster" Target="/ppt/notesMasters/notesMaster1.xml" Id="R70b400d32aad4f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a102e7ad364482" /><Relationship Type="http://schemas.openxmlformats.org/officeDocument/2006/relationships/notesMaster" Target="/ppt/notesMasters/notesMaster1.xml" Id="Ra5c710c8d4a047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f61ee00c6c4129" /><Relationship Type="http://schemas.openxmlformats.org/officeDocument/2006/relationships/notesMaster" Target="/ppt/notesMasters/notesMaster1.xml" Id="Rdbf155506bff4a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248e3fb6bc48b1" /><Relationship Type="http://schemas.openxmlformats.org/officeDocument/2006/relationships/notesMaster" Target="/ppt/notesMasters/notesMaster1.xml" Id="Rb359de0edb3a44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b09670b74c4d66" /><Relationship Type="http://schemas.openxmlformats.org/officeDocument/2006/relationships/notesMaster" Target="/ppt/notesMasters/notesMaster1.xml" Id="Rf0c1d916393245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204a71bf694617" /><Relationship Type="http://schemas.openxmlformats.org/officeDocument/2006/relationships/notesMaster" Target="/ppt/notesMasters/notesMaster1.xml" Id="Rc1ae4c3928ca44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6f9d9662184082" /><Relationship Type="http://schemas.openxmlformats.org/officeDocument/2006/relationships/notesMaster" Target="/ppt/notesMasters/notesMaster1.xml" Id="R90745b184f7f46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eef2090cee4061" /><Relationship Type="http://schemas.openxmlformats.org/officeDocument/2006/relationships/notesMaster" Target="/ppt/notesMasters/notesMaster1.xml" Id="R22031f0d5afb45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5417d40e7146b0" /><Relationship Type="http://schemas.openxmlformats.org/officeDocument/2006/relationships/notesMaster" Target="/ppt/notesMasters/notesMaster1.xml" Id="R07e8cbf814d242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5d719f6c714ed1" /><Relationship Type="http://schemas.openxmlformats.org/officeDocument/2006/relationships/notesMaster" Target="/ppt/notesMasters/notesMaster1.xml" Id="Rbe8a0c351d0849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6194fd7ad84038" /><Relationship Type="http://schemas.openxmlformats.org/officeDocument/2006/relationships/notesMaster" Target="/ppt/notesMasters/notesMaster1.xml" Id="R809e0c598f5d4d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we are Team 11. Our project asks whether a small neural network, implemented from first principles in Rust, can learn the motion of a pendulum. We wrote the dense layers, activations, loss, gradients and training loop ourselves. The main result is a large reduction in one-step prediction error compared with predicting no movement. However, we also show accumulated error and an unfamiliar initial condition, because a good local fit alone does not establish a reliable dynamical model.</a:t>
            </a:r>
          </a:p>
          <a:p xmlns:a="http://schemas.openxmlformats.org/drawingml/2006/main">
            <a:r>
              <a:t>Source: results/evaluation.json. Screenshot: native eframe framebuffer, results/figures/gui_native.png.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a damped nonlinear pendulum with angle and angular velocity as its two state coordinates. Gravity is 9.81, length is one metre, and damping is 0.1 per second. The network predicts the state after 0.02 seconds. To generate labels, our fourth-order Runge-Kutta implementation takes ten smaller steps of 0.002 seconds. We call this the numerical reference rather than an exact truth. Equilibrium, convergence, the small-angle analytical limit and decreasing damped energy are checked independently.</a:t>
            </a:r>
          </a:p>
          <a:p xmlns:a="http://schemas.openxmlformats.org/drawingml/2006/main">
            <a:r>
              <a:t/>
            </a:r>
          </a:p>
          <a:p xmlns:a="http://schemas.openxmlformats.org/drawingml/2006/main">
            <a:r>
              <a:t>Sources: Project 11 assignment brief and the repository experiment files. Dataset and models: results/dataset.json and models/*.json. Raw evaluation: results/evaluation.json, results/rollouts.csv. Timing: results/benchmark_rust.json and results/benchmark_numpy.json. API references: https://docs.rs/ndarray/0.17.2/ndarray/ ; https://docs.rs/eframe/0.33.3/eframe/ ; https://numpy.org/doc/stable/reference/global_state.html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fixed seed generates eighty initial conditions. Each produces five hundred transitions over ten seconds, giving forty thousand samples. We split by complete trajectory: fifty-six for training, twelve for validation and twelve for final testing. Randomly splitting individual rows would leak almost neighbouring states between partitions. Input and target means and standard deviations are therefore fitted on training trajectories only. The output target is the next-state increment. The stored checkpoint includes every normalization statistic needed to convert its predictions back to physical units.</a:t>
            </a:r>
          </a:p>
          <a:p xmlns:a="http://schemas.openxmlformats.org/drawingml/2006/main">
            <a:r>
              <a:t/>
            </a:r>
          </a:p>
          <a:p xmlns:a="http://schemas.openxmlformats.org/drawingml/2006/main">
            <a:r>
              <a:t>Sources: Project 11 assignment brief and the repository experiment files. Dataset and models: results/dataset.json and models/*.json. Raw evaluation: results/evaluation.json, results/rollouts.csv. Timing: results/benchmark_rust.json and results/benchmark_numpy.json. API references: https://docs.rs/ndarray/0.17.2/ndarray/ ; https://docs.rs/eframe/0.33.3/eframe/ ; https://numpy.org/doc/stable/reference/global_state.html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architecture has two inputs, two hidden layers with thirty-two Tanh neurons each, and two linear outputs. It contains 1,218 trainable parameters. We also retain a deliberately small two-three-two Sigmoid baseline with seventeen parameters, following the assignment's suggested starting point. ReLU is implemented and tested as well. ndarray performs matrix arithmetic only. There is no automatic differentiation or high-level training framework. At inference, the learned increment is decoded and added to the network's current state, without calling the pendulum equation.</a:t>
            </a:r>
          </a:p>
          <a:p xmlns:a="http://schemas.openxmlformats.org/drawingml/2006/main">
            <a:r>
              <a:t/>
            </a:r>
          </a:p>
          <a:p xmlns:a="http://schemas.openxmlformats.org/drawingml/2006/main">
            <a:r>
              <a:t>Sources: Project 11 assignment brief and the repository experiment files. Dataset and models: results/dataset.json and models/*.json. Raw evaluation: results/evaluation.json, results/rollouts.csv. Timing: results/benchmark_rust.json and results/benchmark_numpy.json. API references: https://docs.rs/ndarray/0.17.2/ndarray/ ; https://docs.rs/eframe/0.33.3/eframe/ ; https://numpy.org/doc/stable/reference/global_state.html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loss averages squared error over both samples and output coordinates. That makes its output derivative two times the residual divided by batch size times output width. We propagate this derivative through activation functions and transposed weight matrices. Weight gradients are the previous activations transposed times the local derivative; bias gradients sum over samples. We compute all gradients before changing any weights. Central differences check every parameter of a small network, and an independent NumPy implementation checks forward values, gradients and one update.</a:t>
            </a:r>
          </a:p>
          <a:p xmlns:a="http://schemas.openxmlformats.org/drawingml/2006/main">
            <a:r>
              <a:t/>
            </a:r>
          </a:p>
          <a:p xmlns:a="http://schemas.openxmlformats.org/drawingml/2006/main">
            <a:r>
              <a:t>Sources: Project 11 assignment brief and the repository experiment files. Dataset and models: results/dataset.json and models/*.json. Raw evaluation: results/evaluation.json, results/rollouts.csv. Timing: results/benchmark_rust.json and results/benchmark_numpy.json. API references: https://docs.rs/ndarray/0.17.2/ndarray/ ; https://docs.rs/eframe/0.33.3/eframe/ ; https://numpy.org/doc/stable/reference/global_state.html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models use mini-batch gradient descent with batch size 128, learning rate 0.01 and two hundred epochs. The checkpoint with the lowest validation loss is retained. The test partition never enters this selection. This plot shows the base-ten logarithm of validation MSE, so changes across several orders of magnitude remain visible. The larger model achieves a much lower validation error. We did not use the proposed fallback hyperparameter sweep, because the default configuration already passed the predefined acceptance condition.</a:t>
            </a:r>
          </a:p>
          <a:p xmlns:a="http://schemas.openxmlformats.org/drawingml/2006/main">
            <a:r>
              <a:t/>
            </a:r>
          </a:p>
          <a:p xmlns:a="http://schemas.openxmlformats.org/drawingml/2006/main">
            <a:r>
              <a:t>Sources: Project 11 assignment brief and the repository experiment files. Dataset and models: results/dataset.json and models/*.json. Raw evaluation: results/evaluation.json, results/rollouts.csv. Timing: results/benchmark_rust.json and results/benchmark_numpy.json. API references: https://docs.rs/ndarray/0.17.2/ndarray/ ; https://docs.rs/eframe/0.33.3/eframe/ ; https://numpy.org/doc/stable/reference/global_state.html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frozen main model is evaluated on six thousand held-out transitions. Its angle RMSE is about 0.000274 radians and velocity RMSE about 0.000765 radians per second. Standardized error improves by 99.10 percent over persistence, exceeding our fifty-percent target. The main network also improves on Euler for this experiment. Nevertheless, RK4 is much more accurate, because it directly uses the known physical equation. These are local predictions from the real current state, so we must still test an autonomous rollout.</a:t>
            </a:r>
          </a:p>
          <a:p xmlns:a="http://schemas.openxmlformats.org/drawingml/2006/main">
            <a:r>
              <a:t/>
            </a:r>
          </a:p>
          <a:p xmlns:a="http://schemas.openxmlformats.org/drawingml/2006/main">
            <a:r>
              <a:t>Sources: Project 11 assignment brief and the repository experiment files. Dataset and models: results/dataset.json and models/*.json. Raw evaluation: results/evaluation.json, results/rollouts.csv. Timing: results/benchmark_rust.json and results/benchmark_numpy.json. API references: https://docs.rs/ndarray/0.17.2/ndarray/ ; https://docs.rs/eframe/0.33.3/eframe/ ; https://numpy.org/doc/stable/reference/global_state.html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these plots the network receives the same initial state as the reference, then uses only its own previous output for five hundred steps. There is no teacher forcing or hidden reset. The left plot shows an unseen test trajectory within the initial-condition range. The right starts at 2.5 radians, outside that range. Its larger phase and amplitude discrepancy is a genuine failure of generalization. The GUI preserves this error and labels the unfamiliar initial state rather than correcting the model using reference physics.</a:t>
            </a:r>
          </a:p>
          <a:p xmlns:a="http://schemas.openxmlformats.org/drawingml/2006/main">
            <a:r>
              <a:t/>
            </a:r>
          </a:p>
          <a:p xmlns:a="http://schemas.openxmlformats.org/drawingml/2006/main">
            <a:r>
              <a:t>Sources: Project 11 assignment brief and the repository experiment files. Dataset and models: results/dataset.json and models/*.json. Raw evaluation: results/evaluation.json, results/rollouts.csv. Timing: results/benchmark_rust.json and results/benchmark_numpy.json. API references: https://docs.rs/ndarray/0.17.2/ndarray/ ; https://docs.rs/eframe/0.33.3/eframe/ ; https://numpy.org/doc/stable/reference/global_state.html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timing comparison, Rust and NumPy share the same float64 dataset, initial parameters and every batch permutation for fifty epochs. Each process warms up once, then runs five timed trials. Startup, data loading and validation are excluded. Median times are 1.056 seconds for Rust and 2.469 seconds for NumPy on this machine. Numerical parity agrees near floating-point roundoff. We report backend differences explicitly, including NumPy's OpenBLAS implementation, so this result is specific to the workload and does not prove a universal language-speed advantage.</a:t>
            </a:r>
          </a:p>
          <a:p xmlns:a="http://schemas.openxmlformats.org/drawingml/2006/main">
            <a:r>
              <a:t/>
            </a:r>
          </a:p>
          <a:p xmlns:a="http://schemas.openxmlformats.org/drawingml/2006/main">
            <a:r>
              <a:t>Sources: Project 11 assignment brief and the repository experiment files. Dataset and models: results/dataset.json and models/*.json. Raw evaluation: results/evaluation.json, results/rollouts.csv. Timing: results/benchmark_rust.json and results/benchmark_numpy.json. API references: https://docs.rs/ndarray/0.17.2/ndarray/ ; https://docs.rs/eframe/0.33.3/eframe/ ; https://numpy.org/doc/stable/reference/global_state.html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now demonstrate the offline desktop lab. We will begin with a held-out initial state, pause and step through the motion, and inspect the time and phase plots. Next we will switch to the smaller network and compare its error. Finally, the high-angle preset shows where generalization deteriorates. Our conclusion is that a handwritten Rust network can learn a useful local transition map, while classical numerical solvers and explicit long-horizon tests remain essential. The next three minutes show these comparisons directly.</a:t>
            </a:r>
          </a:p>
          <a:p xmlns:a="http://schemas.openxmlformats.org/drawingml/2006/main">
            <a:r>
              <a:t/>
            </a:r>
          </a:p>
          <a:p xmlns:a="http://schemas.openxmlformats.org/drawingml/2006/main">
            <a:r>
              <a:t>Sources: Project 11 assignment brief and the repository experiment files. Dataset and models: results/dataset.json and models/*.json. Raw evaluation: results/evaluation.json, results/rollouts.csv. Timing: results/benchmark_rust.json and results/benchmark_numpy.json. API references: https://docs.rs/ndarray/0.17.2/ndarray/ ; https://docs.rs/eframe/0.33.3/eframe/ ; https://numpy.org/doc/stable/reference/global_state.html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for questions about shapes and loss scaling. Samples are rows. The factor 2/(B D) normalizes all scalar outputs. ReLU uses derivative zero at zero and is checked away from the kink. Both weights and biases pass central differences with epsilon 1e-6 and absolute tolerance 1e-7.</a:t>
            </a:r>
          </a:p>
          <a:p xmlns:a="http://schemas.openxmlformats.org/drawingml/2006/main">
            <a:r>
              <a:t/>
            </a:r>
          </a:p>
          <a:p xmlns:a="http://schemas.openxmlformats.org/drawingml/2006/main">
            <a:r>
              <a:t>Sources: Project 11 assignment brief and the repository experiment files. Dataset and models: results/dataset.json and models/*.json. Raw evaluation: results/evaluation.json, results/rollouts.csv. Timing: results/benchmark_rust.json and results/benchmark_numpy.json. API references: https://docs.rs/ndarray/0.17.2/ndarray/ ; https://docs.rs/eframe/0.33.3/eframe/ ; https://numpy.org/doc/stable/reference/global_state.html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for reproduction and scope questions. The model is a fixed-step discrete state-transition surrogate, not a PINN or a continuous learned vector field. Physical parameters are fixed. One seed and one OOD example do not establish broad generalization. No inference-speed advantage over RK4 was measured.</a:t>
            </a:r>
          </a:p>
          <a:p xmlns:a="http://schemas.openxmlformats.org/drawingml/2006/main">
            <a:r>
              <a:t/>
            </a:r>
          </a:p>
          <a:p xmlns:a="http://schemas.openxmlformats.org/drawingml/2006/main">
            <a:r>
              <a:t>Sources: Project 11 assignment brief and the repository experiment files. Dataset and models: results/dataset.json and models/*.json. Raw evaluation: results/evaluation.json, results/rollouts.csv. Timing: results/benchmark_rust.json and results/benchmark_numpy.json. API references: https://docs.rs/ndarray/0.17.2/ndarray/ ; https://docs.rs/eframe/0.33.3/eframe/ ; https://numpy.org/doc/stable/reference/global_state.html</a:t>
            </a:r>
          </a:p>
          <a:p xmlns:a="http://schemas.openxmlformats.org/drawingml/2006/main">
            <a:r>
              <a:t>Related primary research: Lagaris et al. (1998), doi:10.1109/72.712178; Chen et al. (2018), https://arxiv.org/abs/1806.07366 . These are distinct approaches, not the method implemented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f7eaddb19144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9a1d6a073343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3421841ff240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1315b83d0445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c75eb071cf4d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01c2001a4946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D03377-0A71-4F20-A125-8913F2EF42A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561915E-F868-48C0-A527-9ED9EBE780D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43F191-5ABF-4AEE-B5EF-1378D08A180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0EE24B-7738-4AC0-B020-074B6D7BA6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309483-C45E-4391-93E6-5DEEEA85C3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A03861-FAC1-4104-B0C1-4709BE0C29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236C20-5C3B-453A-9EB3-5B509164B6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B7FF994-B0FA-40AE-B056-E18752AD74D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1D0637-2DFA-4D74-8308-DE86A1F148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D0899C-D10E-416B-AD09-D6A8C3EC04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7489769bae4a03" /><Relationship Type="http://schemas.openxmlformats.org/officeDocument/2006/relationships/slideLayout" Target="/ppt/slideLayouts/slideLayout1.xml" Id="R9e7ed47972474e89" /><Relationship Type="http://schemas.openxmlformats.org/officeDocument/2006/relationships/slideLayout" Target="/ppt/slideLayouts/slideLayout2.xml" Id="Re10100bf2d97485f" /><Relationship Type="http://schemas.openxmlformats.org/officeDocument/2006/relationships/slideLayout" Target="/ppt/slideLayouts/slideLayout3.xml" Id="R274cd7acaae94183" /><Relationship Type="http://schemas.openxmlformats.org/officeDocument/2006/relationships/slideLayout" Target="/ppt/slideLayouts/slideLayout4.xml" Id="R16af683b5d3b488f" /><Relationship Type="http://schemas.openxmlformats.org/officeDocument/2006/relationships/slideLayout" Target="/ppt/slideLayouts/slideLayout5.xml" Id="Re76f79e03f944b31" /><Relationship Type="http://schemas.openxmlformats.org/officeDocument/2006/relationships/slideLayout" Target="/ppt/slideLayouts/slideLayout6.xml" Id="Rd31ecdee79474e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7ed47972474e89"/>
    <p:sldLayoutId xmlns:r="http://schemas.openxmlformats.org/officeDocument/2006/relationships" id="2147483650" r:id="Re10100bf2d97485f"/>
    <p:sldLayoutId xmlns:r="http://schemas.openxmlformats.org/officeDocument/2006/relationships" id="2147483651" r:id="R274cd7acaae94183"/>
    <p:sldLayoutId xmlns:r="http://schemas.openxmlformats.org/officeDocument/2006/relationships" id="2147483652" r:id="R16af683b5d3b488f"/>
    <p:sldLayoutId xmlns:r="http://schemas.openxmlformats.org/officeDocument/2006/relationships" id="2147483653" r:id="Re76f79e03f944b31"/>
    <p:sldLayoutId xmlns:r="http://schemas.openxmlformats.org/officeDocument/2006/relationships" id="2147483654" r:id="Rd31ecdee79474e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993cc0fd4a47ff" /><Relationship Type="http://schemas.openxmlformats.org/officeDocument/2006/relationships/image" Target="/ppt/media/image.png" Id="Rf513bbcbd78d4780" /><Relationship Type="http://schemas.openxmlformats.org/officeDocument/2006/relationships/notesSlide" Target="/ppt/notesSlides/notesSlide1.xml" Id="R56f4319acb2c40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580b358bdd4797" /><Relationship Type="http://schemas.openxmlformats.org/officeDocument/2006/relationships/notesSlide" Target="/ppt/notesSlides/notesSlide2.xml" Id="Rc892d2aea5944d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81d783271934c97" /><Relationship Type="http://schemas.openxmlformats.org/officeDocument/2006/relationships/notesSlide" Target="/ppt/notesSlides/notesSlide3.xml" Id="Rf89a6f3ab36440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b642e56795348b0" /><Relationship Type="http://schemas.openxmlformats.org/officeDocument/2006/relationships/notesSlide" Target="/ppt/notesSlides/notesSlide4.xml" Id="Rdb709ae5fca644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283eaae9a544822" /><Relationship Type="http://schemas.openxmlformats.org/officeDocument/2006/relationships/notesSlide" Target="/ppt/notesSlides/notesSlide5.xml" Id="R5a4a689814224c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23a55e29d2d4184" /><Relationship Type="http://schemas.openxmlformats.org/officeDocument/2006/relationships/chart" Target="/ppt/slides/charts/chart1.xml" Id="R164359c1834e41c7" /><Relationship Type="http://schemas.openxmlformats.org/officeDocument/2006/relationships/notesSlide" Target="/ppt/notesSlides/notesSlide6.xml" Id="R4d1c4aa8d6604d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96d379912c14646" /><Relationship Type="http://schemas.openxmlformats.org/officeDocument/2006/relationships/notesSlide" Target="/ppt/notesSlides/notesSlide7.xml" Id="Rdcc2cab5ee0148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faa01bd75a9475c" /><Relationship Type="http://schemas.openxmlformats.org/officeDocument/2006/relationships/chart" Target="/ppt/slides/charts/chart2.xml" Id="Rf19de7275f0e4232" /><Relationship Type="http://schemas.openxmlformats.org/officeDocument/2006/relationships/chart" Target="/ppt/slides/charts/chart3.xml" Id="R8c75888caf7f49f2" /><Relationship Type="http://schemas.openxmlformats.org/officeDocument/2006/relationships/notesSlide" Target="/ppt/notesSlides/notesSlide8.xml" Id="Re5461a717e9c43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df1e2bfe74a4b99" /><Relationship Type="http://schemas.openxmlformats.org/officeDocument/2006/relationships/chart" Target="/ppt/slides/charts/chart4.xml" Id="Rdbd21034dcd94b3f" /><Relationship Type="http://schemas.openxmlformats.org/officeDocument/2006/relationships/notesSlide" Target="/ppt/notesSlides/notesSlide9.xml" Id="R725dc9161fb64f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42190c293d94c82" /><Relationship Type="http://schemas.openxmlformats.org/officeDocument/2006/relationships/image" Target="/ppt/media/image2.png" Id="Re503b73028054876" /><Relationship Type="http://schemas.openxmlformats.org/officeDocument/2006/relationships/notesSlide" Target="/ppt/notesSlides/notesSlide10.xml" Id="Rfe629b18a44643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570c82fcea64733" /><Relationship Type="http://schemas.openxmlformats.org/officeDocument/2006/relationships/notesSlide" Target="/ppt/notesSlides/notesSlide11.xml" Id="R18f6c1850d0846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191c26d47ce4fc1" /><Relationship Type="http://schemas.openxmlformats.org/officeDocument/2006/relationships/notesSlide" Target="/ppt/notesSlides/notesSlide12.xml" Id="R8348040712d0402f"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00" b="1">
                <a:solidFill>
                  <a:srgbClr val="18202A"/>
                </a:solidFill>
                <a:latin typeface="Arial"/>
                <a:ea typeface="Arial"/>
                <a:cs typeface="Arial"/>
              </a:rPr>
              <a:t>Validation error</a:t>
            </a:r>
          </a:p>
        </c:rich>
      </c:tx>
      <c:overlay val="0"/>
      <c:txPr>
        <a:bodyPr xmlns:a="http://schemas.openxmlformats.org/drawingml/2006/main" anchorCtr="1"/>
        <a:lstStyle xmlns:a="http://schemas.openxmlformats.org/drawingml/2006/main"/>
        <a:p xmlns:a="http://schemas.openxmlformats.org/drawingml/2006/main">
          <a:pPr>
            <a:defRPr sz="1800" b="1">
              <a:solidFill>
                <a:srgbClr val="18202A"/>
              </a:solidFill>
              <a:latin typeface="Arial"/>
              <a:ea typeface="Arial"/>
              <a:cs typeface="Arial"/>
            </a:defRPr>
          </a:pPr>
        </a:p>
      </c:txPr>
    </c:title>
    <c:plotArea>
      <c:scatterChart>
        <c:scatterStyle val="line"/>
        <c:varyColors val="0"/>
        <c:ser>
          <c:idx val="0"/>
          <c:order val="0"/>
          <c:tx>
            <c:v>Main Tanh</c:v>
          </c:tx>
          <c:spPr>
            <a:ln xmlns:a="http://schemas.openxmlformats.org/drawingml/2006/main" w="23813">
              <a:solidFill>
                <a:srgbClr val="CB532C"/>
              </a:solidFill>
            </a:ln>
          </c:spPr>
          <c:marker>
            <c:symbol val="none"/>
          </c:marker>
          <c:xVal>
            <c:numLit>
              <c:formatCode>General</c:formatCode>
              <c:ptCount val="4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numLit>
          </c:xVal>
          <c:yVal>
            <c:numLit>
              <c:formatCode>General</c:formatCode>
              <c:ptCount val="41"/>
              <c:pt idx="0">
                <c:v>0.2533340008627097</c:v>
              </c:pt>
              <c:pt idx="1">
                <c:v>-2.5596479082543575</c:v>
              </c:pt>
              <c:pt idx="2">
                <c:v>-2.737153758944062</c:v>
              </c:pt>
              <c:pt idx="3">
                <c:v>-2.8686917360268613</c:v>
              </c:pt>
              <c:pt idx="4">
                <c:v>-2.9582077606448225</c:v>
              </c:pt>
              <c:pt idx="5">
                <c:v>-3.036112139845584</c:v>
              </c:pt>
              <c:pt idx="6">
                <c:v>-3.1009782972684032</c:v>
              </c:pt>
              <c:pt idx="7">
                <c:v>-3.167164668834245</c:v>
              </c:pt>
              <c:pt idx="8">
                <c:v>-3.2115334398956987</c:v>
              </c:pt>
              <c:pt idx="9">
                <c:v>-3.277224125092158</c:v>
              </c:pt>
              <c:pt idx="10">
                <c:v>-3.313249299015853</c:v>
              </c:pt>
              <c:pt idx="11">
                <c:v>-3.355588525290716</c:v>
              </c:pt>
              <c:pt idx="12">
                <c:v>-3.389901382909902</c:v>
              </c:pt>
              <c:pt idx="13">
                <c:v>-3.460239595267692</c:v>
              </c:pt>
              <c:pt idx="14">
                <c:v>-3.484990997786827</c:v>
              </c:pt>
              <c:pt idx="15">
                <c:v>-3.517894450767721</c:v>
              </c:pt>
              <c:pt idx="16">
                <c:v>-3.5624529281428097</c:v>
              </c:pt>
              <c:pt idx="17">
                <c:v>-3.588525124949182</c:v>
              </c:pt>
              <c:pt idx="18">
                <c:v>-3.622571725354636</c:v>
              </c:pt>
              <c:pt idx="19">
                <c:v>-3.666568734236867</c:v>
              </c:pt>
              <c:pt idx="20">
                <c:v>-3.675106800163195</c:v>
              </c:pt>
              <c:pt idx="21">
                <c:v>-3.729234857568784</c:v>
              </c:pt>
              <c:pt idx="22">
                <c:v>-3.7556906396033023</c:v>
              </c:pt>
              <c:pt idx="23">
                <c:v>-3.7955969307626085</c:v>
              </c:pt>
              <c:pt idx="24">
                <c:v>-3.8370177395193372</c:v>
              </c:pt>
              <c:pt idx="25">
                <c:v>-3.86522626881715</c:v>
              </c:pt>
              <c:pt idx="26">
                <c:v>-3.910112522543581</c:v>
              </c:pt>
              <c:pt idx="27">
                <c:v>-3.9519794988602097</c:v>
              </c:pt>
              <c:pt idx="28">
                <c:v>-3.9945250667547176</c:v>
              </c:pt>
              <c:pt idx="29">
                <c:v>-4.050023108329014</c:v>
              </c:pt>
              <c:pt idx="30">
                <c:v>-4.09189278734095</c:v>
              </c:pt>
              <c:pt idx="31">
                <c:v>-4.146796905552328</c:v>
              </c:pt>
              <c:pt idx="32">
                <c:v>-4.170305588154825</c:v>
              </c:pt>
              <c:pt idx="33">
                <c:v>-4.217542503036264</c:v>
              </c:pt>
              <c:pt idx="34">
                <c:v>-4.25540287153705</c:v>
              </c:pt>
              <c:pt idx="35">
                <c:v>-4.2919401347647375</c:v>
              </c:pt>
              <c:pt idx="36">
                <c:v>-4.340141213086078</c:v>
              </c:pt>
              <c:pt idx="37">
                <c:v>-4.3804689274368815</c:v>
              </c:pt>
              <c:pt idx="38">
                <c:v>-4.435661939393874</c:v>
              </c:pt>
              <c:pt idx="39">
                <c:v>-4.457759724004111</c:v>
              </c:pt>
              <c:pt idx="40">
                <c:v>-4.490834912892801</c:v>
              </c:pt>
            </c:numLit>
          </c:yVal>
        </c:ser>
        <c:ser>
          <c:idx val="1"/>
          <c:order val="1"/>
          <c:tx>
            <c:v>Tiny Sigmoid</c:v>
          </c:tx>
          <c:spPr>
            <a:ln xmlns:a="http://schemas.openxmlformats.org/drawingml/2006/main" w="23813">
              <a:solidFill>
                <a:srgbClr val="8B5AA4"/>
              </a:solidFill>
            </a:ln>
          </c:spPr>
          <c:marker>
            <c:symbol val="none"/>
          </c:marker>
          <c:xVal>
            <c:numLit>
              <c:formatCode>General</c:formatCode>
              <c:ptCount val="41"/>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numLit>
          </c:xVal>
          <c:yVal>
            <c:numLit>
              <c:formatCode>General</c:formatCode>
              <c:ptCount val="41"/>
              <c:pt idx="0">
                <c:v>-0.03616533065213815</c:v>
              </c:pt>
              <c:pt idx="1">
                <c:v>-0.6269497555881327</c:v>
              </c:pt>
              <c:pt idx="2">
                <c:v>-1.3233371462088104</c:v>
              </c:pt>
              <c:pt idx="3">
                <c:v>-1.6049788276414672</c:v>
              </c:pt>
              <c:pt idx="4">
                <c:v>-1.6910065167200135</c:v>
              </c:pt>
              <c:pt idx="5">
                <c:v>-1.7753311185056053</c:v>
              </c:pt>
              <c:pt idx="6">
                <c:v>-1.8577337649485728</c:v>
              </c:pt>
              <c:pt idx="7">
                <c:v>-1.9339484521219</c:v>
              </c:pt>
              <c:pt idx="8">
                <c:v>-2.003996356292758</c:v>
              </c:pt>
              <c:pt idx="9">
                <c:v>-2.0677602499617325</c:v>
              </c:pt>
              <c:pt idx="10">
                <c:v>-2.126128634891775</c:v>
              </c:pt>
              <c:pt idx="11">
                <c:v>-2.1801824573056674</c:v>
              </c:pt>
              <c:pt idx="12">
                <c:v>-2.230108389878284</c:v>
              </c:pt>
              <c:pt idx="13">
                <c:v>-2.276196673669487</c:v>
              </c:pt>
              <c:pt idx="14">
                <c:v>-2.3186398457344652</c:v>
              </c:pt>
              <c:pt idx="15">
                <c:v>-2.357563368980115</c:v>
              </c:pt>
              <c:pt idx="16">
                <c:v>-2.3932160313086532</c:v>
              </c:pt>
              <c:pt idx="17">
                <c:v>-2.425845995402378</c:v>
              </c:pt>
              <c:pt idx="18">
                <c:v>-2.4558678639365157</c:v>
              </c:pt>
              <c:pt idx="19">
                <c:v>-2.483283347332742</c:v>
              </c:pt>
              <c:pt idx="20">
                <c:v>-2.507307895174833</c:v>
              </c:pt>
              <c:pt idx="21">
                <c:v>-2.5308029968052805</c:v>
              </c:pt>
              <c:pt idx="22">
                <c:v>-2.5505701009664947</c:v>
              </c:pt>
              <c:pt idx="23">
                <c:v>-2.5698997617734</c:v>
              </c:pt>
              <c:pt idx="24">
                <c:v>-2.5870477109484127</c:v>
              </c:pt>
              <c:pt idx="25">
                <c:v>-2.602594392648064</c:v>
              </c:pt>
              <c:pt idx="26">
                <c:v>-2.6169016301140196</c:v>
              </c:pt>
              <c:pt idx="27">
                <c:v>-2.6307937070323133</c:v>
              </c:pt>
              <c:pt idx="28">
                <c:v>-2.643272436678362</c:v>
              </c:pt>
              <c:pt idx="29">
                <c:v>-2.6555754712682513</c:v>
              </c:pt>
              <c:pt idx="30">
                <c:v>-2.666297161521322</c:v>
              </c:pt>
              <c:pt idx="31">
                <c:v>-2.6772617120922053</c:v>
              </c:pt>
              <c:pt idx="32">
                <c:v>-2.6867133509491916</c:v>
              </c:pt>
              <c:pt idx="33">
                <c:v>-2.696614192017593</c:v>
              </c:pt>
              <c:pt idx="34">
                <c:v>-2.7056130283717077</c:v>
              </c:pt>
              <c:pt idx="35">
                <c:v>-2.714167613176463</c:v>
              </c:pt>
              <c:pt idx="36">
                <c:v>-2.7235023506204623</c:v>
              </c:pt>
              <c:pt idx="37">
                <c:v>-2.730689590795301</c:v>
              </c:pt>
              <c:pt idx="38">
                <c:v>-2.740157125603485</c:v>
              </c:pt>
              <c:pt idx="39">
                <c:v>-2.746863421936574</c:v>
              </c:pt>
              <c:pt idx="40">
                <c:v>-2.755564684015878</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5"/>
        </c:scaling>
        <c:delete val="0"/>
        <c:axPos val="l"/>
        <c:majorGridlines>
          <c:spPr>
            <a:ln xmlns:a="http://schemas.openxmlformats.org/drawingml/2006/main" w="9525">
              <a:solidFill>
                <a:srgbClr val="E4E8EC"/>
              </a:solidFill>
            </a:ln>
          </c:spPr>
        </c:majorGridlines>
        <c:title>
          <c:tx>
            <c:rich>
              <a:bodyPr xmlns:a="http://schemas.openxmlformats.org/drawingml/2006/main"/>
              <a:lstStyle xmlns:a="http://schemas.openxmlformats.org/drawingml/2006/main"/>
              <a:p xmlns:a="http://schemas.openxmlformats.org/drawingml/2006/main">
                <a:r>
                  <a:rPr sz="1500">
                    <a:solidFill>
                      <a:srgbClr val="18202A"/>
                    </a:solidFill>
                    <a:latin typeface="Arial"/>
                    <a:ea typeface="Arial"/>
                    <a:cs typeface="Arial"/>
                  </a:rPr>
                  <a:t>Log10 standardized MSE</a:t>
                </a:r>
              </a:p>
            </c:rich>
          </c:tx>
          <c:overlay val="0"/>
          <c:txPr>
            <a:bodyPr xmlns:a="http://schemas.openxmlformats.org/drawingml/2006/main" anchorCtr="1"/>
            <a:lstStyle xmlns:a="http://schemas.openxmlformats.org/drawingml/2006/main"/>
            <a:p xmlns:a="http://schemas.openxmlformats.org/drawingml/2006/main">
              <a:pPr>
                <a:defRPr sz="1500">
                  <a:solidFill>
                    <a:srgbClr val="18202A"/>
                  </a:solidFill>
                  <a:latin typeface="Arial"/>
                  <a:ea typeface="Arial"/>
                  <a:cs typeface="Arial"/>
                </a:defRPr>
              </a:pPr>
            </a:p>
          </c:txPr>
        </c:title>
        <c:numFmt formatCode="General"/>
        <c:majorTickMark val="none"/>
        <c:minorTickMark val="none"/>
        <c:spPr>
          <a:ln xmlns:a="http://schemas.openxmlformats.org/drawingml/2006/main" w="9525">
            <a:solidFill>
              <a:srgbClr val="A6AFB9"/>
            </a:solidFill>
          </a:ln>
        </c:spPr>
        <c:txPr>
          <a:bodyPr xmlns:a="http://schemas.openxmlformats.org/drawingml/2006/main" anchorCtr="1"/>
          <a:lstStyle xmlns:a="http://schemas.openxmlformats.org/drawingml/2006/main"/>
          <a:p xmlns:a="http://schemas.openxmlformats.org/drawingml/2006/main">
            <a:pPr>
              <a:defRPr sz="1350">
                <a:solidFill>
                  <a:srgbClr val="535E6C"/>
                </a:solidFill>
                <a:latin typeface="Arial"/>
                <a:ea typeface="Arial"/>
                <a:cs typeface="Arial"/>
              </a:defRPr>
            </a:pPr>
          </a:p>
        </c:txPr>
        <c:crossAx val="48650112"/>
        <c:majorUnit val="1"/>
      </c:valAx>
      <c:valAx>
        <c:axId val="48650112"/>
        <c:scaling>
          <c:orientation val="minMax"/>
          <c:max val="200"/>
          <c:min val="0"/>
        </c:scaling>
        <c:delete val="0"/>
        <c:axPos val="b"/>
        <c:majorGridlines>
          <c:spPr>
            <a:ln xmlns:a="http://schemas.openxmlformats.org/drawingml/2006/main" w="9525">
              <a:solidFill>
                <a:srgbClr val="E4E8EC"/>
              </a:solidFill>
            </a:ln>
          </c:spPr>
        </c:majorGridlines>
        <c:title>
          <c:tx>
            <c:rich>
              <a:bodyPr xmlns:a="http://schemas.openxmlformats.org/drawingml/2006/main"/>
              <a:lstStyle xmlns:a="http://schemas.openxmlformats.org/drawingml/2006/main"/>
              <a:p xmlns:a="http://schemas.openxmlformats.org/drawingml/2006/main">
                <a:r>
                  <a:rPr sz="1500">
                    <a:solidFill>
                      <a:srgbClr val="18202A"/>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500">
                  <a:solidFill>
                    <a:srgbClr val="18202A"/>
                  </a:solidFill>
                  <a:latin typeface="Arial"/>
                  <a:ea typeface="Arial"/>
                  <a:cs typeface="Arial"/>
                </a:defRPr>
              </a:pPr>
            </a:p>
          </c:txPr>
        </c:title>
        <c:numFmt formatCode="General"/>
        <c:majorTickMark val="none"/>
        <c:minorTickMark val="none"/>
        <c:tickLblPos val="low"/>
        <c:spPr>
          <a:ln xmlns:a="http://schemas.openxmlformats.org/drawingml/2006/main" w="9525">
            <a:solidFill>
              <a:srgbClr val="A6AFB9"/>
            </a:solidFill>
          </a:ln>
        </c:spPr>
        <c:txPr>
          <a:bodyPr xmlns:a="http://schemas.openxmlformats.org/drawingml/2006/main" anchorCtr="1"/>
          <a:lstStyle xmlns:a="http://schemas.openxmlformats.org/drawingml/2006/main"/>
          <a:p xmlns:a="http://schemas.openxmlformats.org/drawingml/2006/main">
            <a:pPr>
              <a:defRPr sz="1350">
                <a:solidFill>
                  <a:srgbClr val="535E6C"/>
                </a:solidFill>
                <a:latin typeface="Arial"/>
                <a:ea typeface="Arial"/>
                <a:cs typeface="Arial"/>
              </a:defRPr>
            </a:pPr>
          </a:p>
        </c:txPr>
        <c:crossAx val="48672768"/>
        <c:majorUnit val="4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8202A"/>
              </a:solidFill>
              <a:latin typeface="Arial"/>
              <a:ea typeface="Arial"/>
              <a:cs typeface="Aria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00" b="1">
                <a:solidFill>
                  <a:srgbClr val="18202A"/>
                </a:solidFill>
                <a:latin typeface="Arial"/>
                <a:ea typeface="Arial"/>
                <a:cs typeface="Arial"/>
              </a:rPr>
              <a:t>Held-out trajectory 74</a:t>
            </a:r>
          </a:p>
        </c:rich>
      </c:tx>
      <c:overlay val="0"/>
      <c:txPr>
        <a:bodyPr xmlns:a="http://schemas.openxmlformats.org/drawingml/2006/main" anchorCtr="1"/>
        <a:lstStyle xmlns:a="http://schemas.openxmlformats.org/drawingml/2006/main"/>
        <a:p xmlns:a="http://schemas.openxmlformats.org/drawingml/2006/main">
          <a:pPr>
            <a:defRPr sz="1800" b="1">
              <a:solidFill>
                <a:srgbClr val="18202A"/>
              </a:solidFill>
              <a:latin typeface="Arial"/>
              <a:ea typeface="Arial"/>
              <a:cs typeface="Arial"/>
            </a:defRPr>
          </a:pPr>
        </a:p>
      </c:txPr>
    </c:title>
    <c:plotArea>
      <c:scatterChart>
        <c:scatterStyle val="line"/>
        <c:varyColors val="0"/>
        <c:ser>
          <c:idx val="0"/>
          <c:order val="0"/>
          <c:tx>
            <c:v>RK4 reference</c:v>
          </c:tx>
          <c:spPr>
            <a:ln xmlns:a="http://schemas.openxmlformats.org/drawingml/2006/main" w="23813">
              <a:solidFill>
                <a:srgbClr val="245BC2"/>
              </a:solidFill>
            </a:ln>
          </c:spPr>
          <c:marker>
            <c:symbol val="none"/>
          </c:marker>
          <c:xVal>
            <c:numLit>
              <c:formatCode>General</c:formatCode>
              <c:ptCount val="101"/>
              <c:pt idx="0">
                <c:v>0</c:v>
              </c:pt>
              <c:pt idx="1">
                <c:v>0.1</c:v>
              </c:pt>
              <c:pt idx="2">
                <c:v>0.2</c:v>
              </c:pt>
              <c:pt idx="3">
                <c:v>0.3</c:v>
              </c:pt>
              <c:pt idx="4">
                <c:v>0.4</c:v>
              </c:pt>
              <c:pt idx="5">
                <c:v>0.5</c:v>
              </c:pt>
              <c:pt idx="6">
                <c:v>0.6</c:v>
              </c:pt>
              <c:pt idx="7">
                <c:v>0.7000000000000001</c:v>
              </c:pt>
              <c:pt idx="8">
                <c:v>0.8</c:v>
              </c:pt>
              <c:pt idx="9">
                <c:v>0.9</c:v>
              </c:pt>
              <c:pt idx="10">
                <c:v>1</c:v>
              </c:pt>
              <c:pt idx="11">
                <c:v>1.1</c:v>
              </c:pt>
              <c:pt idx="12">
                <c:v>1.2</c:v>
              </c:pt>
              <c:pt idx="13">
                <c:v>1.3</c:v>
              </c:pt>
              <c:pt idx="14">
                <c:v>1.4000000000000001</c:v>
              </c:pt>
              <c:pt idx="15">
                <c:v>1.5</c:v>
              </c:pt>
              <c:pt idx="16">
                <c:v>1.6</c:v>
              </c:pt>
              <c:pt idx="17">
                <c:v>1.7</c:v>
              </c:pt>
              <c:pt idx="18">
                <c:v>1.8</c:v>
              </c:pt>
              <c:pt idx="19">
                <c:v>1.9000000000000001</c:v>
              </c:pt>
              <c:pt idx="20">
                <c:v>2</c:v>
              </c:pt>
              <c:pt idx="21">
                <c:v>2.1</c:v>
              </c:pt>
              <c:pt idx="22">
                <c:v>2.2</c:v>
              </c:pt>
              <c:pt idx="23">
                <c:v>2.3000000000000003</c:v>
              </c:pt>
              <c:pt idx="24">
                <c:v>2.4</c:v>
              </c:pt>
              <c:pt idx="25">
                <c:v>2.5</c:v>
              </c:pt>
              <c:pt idx="26">
                <c:v>2.6</c:v>
              </c:pt>
              <c:pt idx="27">
                <c:v>2.7</c:v>
              </c:pt>
              <c:pt idx="28">
                <c:v>2.8000000000000003</c:v>
              </c:pt>
              <c:pt idx="29">
                <c:v>2.9</c:v>
              </c:pt>
              <c:pt idx="30">
                <c:v>3</c:v>
              </c:pt>
              <c:pt idx="31">
                <c:v>3.1</c:v>
              </c:pt>
              <c:pt idx="32">
                <c:v>3.2</c:v>
              </c:pt>
              <c:pt idx="33">
                <c:v>3.3000000000000003</c:v>
              </c:pt>
              <c:pt idx="34">
                <c:v>3.4</c:v>
              </c:pt>
              <c:pt idx="35">
                <c:v>3.5</c:v>
              </c:pt>
              <c:pt idx="36">
                <c:v>3.6</c:v>
              </c:pt>
              <c:pt idx="37">
                <c:v>3.7</c:v>
              </c:pt>
              <c:pt idx="38">
                <c:v>3.8000000000000003</c:v>
              </c:pt>
              <c:pt idx="39">
                <c:v>3.9</c:v>
              </c:pt>
              <c:pt idx="40">
                <c:v>4</c:v>
              </c:pt>
              <c:pt idx="41">
                <c:v>4.1</c:v>
              </c:pt>
              <c:pt idx="42">
                <c:v>4.2</c:v>
              </c:pt>
              <c:pt idx="43">
                <c:v>4.3</c:v>
              </c:pt>
              <c:pt idx="44">
                <c:v>4.4</c:v>
              </c:pt>
              <c:pt idx="45">
                <c:v>4.5</c:v>
              </c:pt>
              <c:pt idx="46">
                <c:v>4.6000000000000005</c:v>
              </c:pt>
              <c:pt idx="47">
                <c:v>4.7</c:v>
              </c:pt>
              <c:pt idx="48">
                <c:v>4.8</c:v>
              </c:pt>
              <c:pt idx="49">
                <c:v>4.9</c:v>
              </c:pt>
              <c:pt idx="50">
                <c:v>5</c:v>
              </c:pt>
              <c:pt idx="51">
                <c:v>5.1000000000000005</c:v>
              </c:pt>
              <c:pt idx="52">
                <c:v>5.2</c:v>
              </c:pt>
              <c:pt idx="53">
                <c:v>5.3</c:v>
              </c:pt>
              <c:pt idx="54">
                <c:v>5.4</c:v>
              </c:pt>
              <c:pt idx="55">
                <c:v>5.5</c:v>
              </c:pt>
              <c:pt idx="56">
                <c:v>5.6000000000000005</c:v>
              </c:pt>
              <c:pt idx="57">
                <c:v>5.7</c:v>
              </c:pt>
              <c:pt idx="58">
                <c:v>5.8</c:v>
              </c:pt>
              <c:pt idx="59">
                <c:v>5.9</c:v>
              </c:pt>
              <c:pt idx="60">
                <c:v>6</c:v>
              </c:pt>
              <c:pt idx="61">
                <c:v>6.1000000000000005</c:v>
              </c:pt>
              <c:pt idx="62">
                <c:v>6.2</c:v>
              </c:pt>
              <c:pt idx="63">
                <c:v>6.3</c:v>
              </c:pt>
              <c:pt idx="64">
                <c:v>6.4</c:v>
              </c:pt>
              <c:pt idx="65">
                <c:v>6.5</c:v>
              </c:pt>
              <c:pt idx="66">
                <c:v>6.6000000000000005</c:v>
              </c:pt>
              <c:pt idx="67">
                <c:v>6.7</c:v>
              </c:pt>
              <c:pt idx="68">
                <c:v>6.8</c:v>
              </c:pt>
              <c:pt idx="69">
                <c:v>6.9</c:v>
              </c:pt>
              <c:pt idx="70">
                <c:v>7</c:v>
              </c:pt>
              <c:pt idx="71">
                <c:v>7.1000000000000005</c:v>
              </c:pt>
              <c:pt idx="72">
                <c:v>7.2</c:v>
              </c:pt>
              <c:pt idx="73">
                <c:v>7.3</c:v>
              </c:pt>
              <c:pt idx="74">
                <c:v>7.4</c:v>
              </c:pt>
              <c:pt idx="75">
                <c:v>7.5</c:v>
              </c:pt>
              <c:pt idx="76">
                <c:v>7.6000000000000005</c:v>
              </c:pt>
              <c:pt idx="77">
                <c:v>7.7</c:v>
              </c:pt>
              <c:pt idx="78">
                <c:v>7.8</c:v>
              </c:pt>
              <c:pt idx="79">
                <c:v>7.9</c:v>
              </c:pt>
              <c:pt idx="80">
                <c:v>8</c:v>
              </c:pt>
              <c:pt idx="81">
                <c:v>8.1</c:v>
              </c:pt>
              <c:pt idx="82">
                <c:v>8.2</c:v>
              </c:pt>
              <c:pt idx="83">
                <c:v>8.3</c:v>
              </c:pt>
              <c:pt idx="84">
                <c:v>8.4</c:v>
              </c:pt>
              <c:pt idx="85">
                <c:v>8.5</c:v>
              </c:pt>
              <c:pt idx="86">
                <c:v>8.6</c:v>
              </c:pt>
              <c:pt idx="87">
                <c:v>8.700000000000001</c:v>
              </c:pt>
              <c:pt idx="88">
                <c:v>8.8</c:v>
              </c:pt>
              <c:pt idx="89">
                <c:v>8.9</c:v>
              </c:pt>
              <c:pt idx="90">
                <c:v>9</c:v>
              </c:pt>
              <c:pt idx="91">
                <c:v>9.1</c:v>
              </c:pt>
              <c:pt idx="92">
                <c:v>9.200000000000001</c:v>
              </c:pt>
              <c:pt idx="93">
                <c:v>9.3</c:v>
              </c:pt>
              <c:pt idx="94">
                <c:v>9.4</c:v>
              </c:pt>
              <c:pt idx="95">
                <c:v>9.5</c:v>
              </c:pt>
              <c:pt idx="96">
                <c:v>9.6</c:v>
              </c:pt>
              <c:pt idx="97">
                <c:v>9.700000000000001</c:v>
              </c:pt>
              <c:pt idx="98">
                <c:v>9.8</c:v>
              </c:pt>
              <c:pt idx="99">
                <c:v>9.9</c:v>
              </c:pt>
              <c:pt idx="100">
                <c:v>10</c:v>
              </c:pt>
            </c:numLit>
          </c:xVal>
          <c:yVal>
            <c:numLit>
              <c:formatCode>General</c:formatCode>
              <c:ptCount val="101"/>
              <c:pt idx="0">
                <c:v>1.4007262261434965</c:v>
              </c:pt>
              <c:pt idx="1">
                <c:v>1.209545695181269</c:v>
              </c:pt>
              <c:pt idx="2">
                <c:v>0.9296477218691152</c:v>
              </c:pt>
              <c:pt idx="3">
                <c:v>0.5753465709163106</c:v>
              </c:pt>
              <c:pt idx="4">
                <c:v>0.1724528910198669</c:v>
              </c:pt>
              <c:pt idx="5">
                <c:v>-0.24281515150925714</c:v>
              </c:pt>
              <c:pt idx="6">
                <c:v>-0.630979888589777</c:v>
              </c:pt>
              <c:pt idx="7">
                <c:v>-0.9586886028134849</c:v>
              </c:pt>
              <c:pt idx="8">
                <c:v>-1.2041704671960078</c:v>
              </c:pt>
              <c:pt idx="9">
                <c:v>-1.356658303126102</c:v>
              </c:pt>
              <c:pt idx="10">
                <c:v>-1.412506028203087</c:v>
              </c:pt>
              <c:pt idx="11">
                <c:v>-1.3715393352855145</c:v>
              </c:pt>
              <c:pt idx="12">
                <c:v>-1.2355250638774358</c:v>
              </c:pt>
              <c:pt idx="13">
                <c:v>-1.009193984374174</c:v>
              </c:pt>
              <c:pt idx="14">
                <c:v>-0.7033462286656489</c:v>
              </c:pt>
              <c:pt idx="15">
                <c:v>-0.3383928146347807</c:v>
              </c:pt>
              <c:pt idx="16">
                <c:v>0.054698485004412906</c:v>
              </c:pt>
              <c:pt idx="17">
                <c:v>0.4386512858973681</c:v>
              </c:pt>
              <c:pt idx="18">
                <c:v>0.7780809773448092</c:v>
              </c:pt>
              <c:pt idx="19">
                <c:v>1.046543516853524</c:v>
              </c:pt>
              <c:pt idx="20">
                <c:v>1.2285389837844818</c:v>
              </c:pt>
              <c:pt idx="21">
                <c:v>1.3171722937318002</c:v>
              </c:pt>
              <c:pt idx="22">
                <c:v>1.3106491110578848</c:v>
              </c:pt>
              <c:pt idx="23">
                <c:v>1.2100919148866998</c:v>
              </c:pt>
              <c:pt idx="24">
                <c:v>1.0196361997298449</c:v>
              </c:pt>
              <c:pt idx="25">
                <c:v>0.7486470293807181</c:v>
              </c:pt>
              <c:pt idx="26">
                <c:v>0.41481880007007793</c:v>
              </c:pt>
              <c:pt idx="27">
                <c:v>0.04566917895636411</c:v>
              </c:pt>
              <c:pt idx="28">
                <c:v>-0.32417648101736013</c:v>
              </c:pt>
              <c:pt idx="29">
                <c:v>-0.6598101760939658</c:v>
              </c:pt>
              <c:pt idx="30">
                <c:v>-0.9331182766245548</c:v>
              </c:pt>
              <c:pt idx="31">
                <c:v>-1.1260167462412054</c:v>
              </c:pt>
              <c:pt idx="32">
                <c:v>-1.2293574874226143</c:v>
              </c:pt>
              <c:pt idx="33">
                <c:v>-1.239976329845057</c:v>
              </c:pt>
              <c:pt idx="34">
                <c:v>-1.1584323938650694</c:v>
              </c:pt>
              <c:pt idx="35">
                <c:v>-0.9886870585950176</c:v>
              </c:pt>
              <c:pt idx="36">
                <c:v>-0.7397630423785317</c:v>
              </c:pt>
              <c:pt idx="37">
                <c:v>-0.4283423048459784</c:v>
              </c:pt>
              <c:pt idx="38">
                <c:v>-0.08014284668417329</c:v>
              </c:pt>
              <c:pt idx="39">
                <c:v>0.27226316068825757</c:v>
              </c:pt>
              <c:pt idx="40">
                <c:v>0.5953673995034932</c:v>
              </c:pt>
              <c:pt idx="41">
                <c:v>0.8612790480014929</c:v>
              </c:pt>
              <c:pt idx="42">
                <c:v>1.0512055501398283</c:v>
              </c:pt>
              <c:pt idx="43">
                <c:v>1.1550137841788322</c:v>
              </c:pt>
              <c:pt idx="44">
                <c:v>1.1688204143147984</c:v>
              </c:pt>
              <c:pt idx="45">
                <c:v>1.0929593812127347</c:v>
              </c:pt>
              <c:pt idx="46">
                <c:v>0.9316076675543006</c:v>
              </c:pt>
              <c:pt idx="47">
                <c:v>0.6941649591568634</c:v>
              </c:pt>
              <c:pt idx="48">
                <c:v>0.39740189576932144</c:v>
              </c:pt>
              <c:pt idx="49">
                <c:v>0.06640676043374318</c:v>
              </c:pt>
              <c:pt idx="50">
                <c:v>-0.26765985278462145</c:v>
              </c:pt>
              <c:pt idx="51">
                <c:v>-0.573007802349991</c:v>
              </c:pt>
              <c:pt idx="52">
                <c:v>-0.8230982134188137</c:v>
              </c:pt>
              <c:pt idx="53">
                <c:v>-0.9997965867605872</c:v>
              </c:pt>
              <c:pt idx="54">
                <c:v>-1.0931016839897318</c:v>
              </c:pt>
              <c:pt idx="55">
                <c:v>-1.0991425826275771</c:v>
              </c:pt>
              <c:pt idx="56">
                <c:v>-1.0185077074948474</c:v>
              </c:pt>
              <c:pt idx="57">
                <c:v>-0.8560390758399008</c:v>
              </c:pt>
              <c:pt idx="58">
                <c:v>-0.6221042293116656</c:v>
              </c:pt>
              <c:pt idx="59">
                <c:v>-0.3343142243037959</c:v>
              </c:pt>
              <c:pt idx="60">
                <c:v>-0.01784878794858668</c:v>
              </c:pt>
              <c:pt idx="61">
                <c:v>0.297180994242179</c:v>
              </c:pt>
              <c:pt idx="62">
                <c:v>0.5809278937897532</c:v>
              </c:pt>
              <c:pt idx="63">
                <c:v>0.8089394174244369</c:v>
              </c:pt>
              <c:pt idx="64">
                <c:v>0.9646713976994143</c:v>
              </c:pt>
              <c:pt idx="65">
                <c:v>1.039096374718404</c:v>
              </c:pt>
              <c:pt idx="66">
                <c:v>1.0290055521525767</c:v>
              </c:pt>
              <c:pt idx="67">
                <c:v>0.9357586990978835</c:v>
              </c:pt>
              <c:pt idx="68">
                <c:v>0.7653559292951799</c:v>
              </c:pt>
              <c:pt idx="69">
                <c:v>0.5296563078658965</c:v>
              </c:pt>
              <c:pt idx="70">
                <c:v>0.24760743030237561</c:v>
              </c:pt>
              <c:pt idx="71">
                <c:v>-0.05519918027939744</c:v>
              </c:pt>
              <c:pt idx="72">
                <c:v>-0.3496907939449752</c:v>
              </c:pt>
              <c:pt idx="73">
                <c:v>-0.6082778953363661</c:v>
              </c:pt>
              <c:pt idx="74">
                <c:v>-0.8091302624828645</c:v>
              </c:pt>
              <c:pt idx="75">
                <c:v>-0.9379039778826095</c:v>
              </c:pt>
              <c:pt idx="76">
                <c:v>-0.9871261851875833</c:v>
              </c:pt>
              <c:pt idx="77">
                <c:v>-0.954778697808102</c:v>
              </c:pt>
              <c:pt idx="78">
                <c:v>-0.8434983005016035</c:v>
              </c:pt>
              <c:pt idx="79">
                <c:v>-0.6609418106429207</c:v>
              </c:pt>
              <c:pt idx="80">
                <c:v>-0.4208918820478012</c:v>
              </c:pt>
              <c:pt idx="81">
                <c:v>-0.14386749571265856</c:v>
              </c:pt>
              <c:pt idx="82">
                <c:v>0.14418944262568953</c:v>
              </c:pt>
              <c:pt idx="83">
                <c:v>0.41555818136662925</c:v>
              </c:pt>
              <c:pt idx="84">
                <c:v>0.6453203214857974</c:v>
              </c:pt>
              <c:pt idx="85">
                <c:v>0.8146656261322777</c:v>
              </c:pt>
              <c:pt idx="86">
                <c:v>0.9118192145003975</c:v>
              </c:pt>
              <c:pt idx="87">
                <c:v>0.9312439917865273</c:v>
              </c:pt>
              <c:pt idx="88">
                <c:v>0.8725438429083765</c:v>
              </c:pt>
              <c:pt idx="89">
                <c:v>0.7401133351191138</c:v>
              </c:pt>
              <c:pt idx="90">
                <c:v>0.5437210595570512</c:v>
              </c:pt>
              <c:pt idx="91">
                <c:v>0.2993433683679384</c:v>
              </c:pt>
              <c:pt idx="92">
                <c:v>0.028995047389207048</c:v>
              </c:pt>
              <c:pt idx="93">
                <c:v>-0.24145269490094626</c:v>
              </c:pt>
              <c:pt idx="94">
                <c:v>-0.4861822453348598</c:v>
              </c:pt>
              <c:pt idx="95">
                <c:v>-0.6833815469448487</c:v>
              </c:pt>
              <c:pt idx="96">
                <c:v>-0.817517173641717</c:v>
              </c:pt>
              <c:pt idx="97">
                <c:v>-0.8795728466587627</c:v>
              </c:pt>
              <c:pt idx="98">
                <c:v>-0.8662032665049769</c:v>
              </c:pt>
              <c:pt idx="99">
                <c:v>-0.7790112682408967</c:v>
              </c:pt>
              <c:pt idx="100">
                <c:v>-0.6245915715340739</c:v>
              </c:pt>
            </c:numLit>
          </c:yVal>
        </c:ser>
        <c:ser>
          <c:idx val="1"/>
          <c:order val="1"/>
          <c:tx>
            <c:v>Neural prediction</c:v>
          </c:tx>
          <c:spPr>
            <a:ln xmlns:a="http://schemas.openxmlformats.org/drawingml/2006/main" w="23813">
              <a:solidFill>
                <a:srgbClr val="CB532C"/>
              </a:solidFill>
            </a:ln>
          </c:spPr>
          <c:marker>
            <c:symbol val="none"/>
          </c:marker>
          <c:xVal>
            <c:numLit>
              <c:formatCode>General</c:formatCode>
              <c:ptCount val="101"/>
              <c:pt idx="0">
                <c:v>0</c:v>
              </c:pt>
              <c:pt idx="1">
                <c:v>0.1</c:v>
              </c:pt>
              <c:pt idx="2">
                <c:v>0.2</c:v>
              </c:pt>
              <c:pt idx="3">
                <c:v>0.3</c:v>
              </c:pt>
              <c:pt idx="4">
                <c:v>0.4</c:v>
              </c:pt>
              <c:pt idx="5">
                <c:v>0.5</c:v>
              </c:pt>
              <c:pt idx="6">
                <c:v>0.6</c:v>
              </c:pt>
              <c:pt idx="7">
                <c:v>0.7000000000000001</c:v>
              </c:pt>
              <c:pt idx="8">
                <c:v>0.8</c:v>
              </c:pt>
              <c:pt idx="9">
                <c:v>0.9</c:v>
              </c:pt>
              <c:pt idx="10">
                <c:v>1</c:v>
              </c:pt>
              <c:pt idx="11">
                <c:v>1.1</c:v>
              </c:pt>
              <c:pt idx="12">
                <c:v>1.2</c:v>
              </c:pt>
              <c:pt idx="13">
                <c:v>1.3</c:v>
              </c:pt>
              <c:pt idx="14">
                <c:v>1.4000000000000001</c:v>
              </c:pt>
              <c:pt idx="15">
                <c:v>1.5</c:v>
              </c:pt>
              <c:pt idx="16">
                <c:v>1.6</c:v>
              </c:pt>
              <c:pt idx="17">
                <c:v>1.7</c:v>
              </c:pt>
              <c:pt idx="18">
                <c:v>1.8</c:v>
              </c:pt>
              <c:pt idx="19">
                <c:v>1.9000000000000001</c:v>
              </c:pt>
              <c:pt idx="20">
                <c:v>2</c:v>
              </c:pt>
              <c:pt idx="21">
                <c:v>2.1</c:v>
              </c:pt>
              <c:pt idx="22">
                <c:v>2.2</c:v>
              </c:pt>
              <c:pt idx="23">
                <c:v>2.3000000000000003</c:v>
              </c:pt>
              <c:pt idx="24">
                <c:v>2.4</c:v>
              </c:pt>
              <c:pt idx="25">
                <c:v>2.5</c:v>
              </c:pt>
              <c:pt idx="26">
                <c:v>2.6</c:v>
              </c:pt>
              <c:pt idx="27">
                <c:v>2.7</c:v>
              </c:pt>
              <c:pt idx="28">
                <c:v>2.8000000000000003</c:v>
              </c:pt>
              <c:pt idx="29">
                <c:v>2.9</c:v>
              </c:pt>
              <c:pt idx="30">
                <c:v>3</c:v>
              </c:pt>
              <c:pt idx="31">
                <c:v>3.1</c:v>
              </c:pt>
              <c:pt idx="32">
                <c:v>3.2</c:v>
              </c:pt>
              <c:pt idx="33">
                <c:v>3.3000000000000003</c:v>
              </c:pt>
              <c:pt idx="34">
                <c:v>3.4</c:v>
              </c:pt>
              <c:pt idx="35">
                <c:v>3.5</c:v>
              </c:pt>
              <c:pt idx="36">
                <c:v>3.6</c:v>
              </c:pt>
              <c:pt idx="37">
                <c:v>3.7</c:v>
              </c:pt>
              <c:pt idx="38">
                <c:v>3.8000000000000003</c:v>
              </c:pt>
              <c:pt idx="39">
                <c:v>3.9</c:v>
              </c:pt>
              <c:pt idx="40">
                <c:v>4</c:v>
              </c:pt>
              <c:pt idx="41">
                <c:v>4.1</c:v>
              </c:pt>
              <c:pt idx="42">
                <c:v>4.2</c:v>
              </c:pt>
              <c:pt idx="43">
                <c:v>4.3</c:v>
              </c:pt>
              <c:pt idx="44">
                <c:v>4.4</c:v>
              </c:pt>
              <c:pt idx="45">
                <c:v>4.5</c:v>
              </c:pt>
              <c:pt idx="46">
                <c:v>4.6000000000000005</c:v>
              </c:pt>
              <c:pt idx="47">
                <c:v>4.7</c:v>
              </c:pt>
              <c:pt idx="48">
                <c:v>4.8</c:v>
              </c:pt>
              <c:pt idx="49">
                <c:v>4.9</c:v>
              </c:pt>
              <c:pt idx="50">
                <c:v>5</c:v>
              </c:pt>
              <c:pt idx="51">
                <c:v>5.1000000000000005</c:v>
              </c:pt>
              <c:pt idx="52">
                <c:v>5.2</c:v>
              </c:pt>
              <c:pt idx="53">
                <c:v>5.3</c:v>
              </c:pt>
              <c:pt idx="54">
                <c:v>5.4</c:v>
              </c:pt>
              <c:pt idx="55">
                <c:v>5.5</c:v>
              </c:pt>
              <c:pt idx="56">
                <c:v>5.6000000000000005</c:v>
              </c:pt>
              <c:pt idx="57">
                <c:v>5.7</c:v>
              </c:pt>
              <c:pt idx="58">
                <c:v>5.8</c:v>
              </c:pt>
              <c:pt idx="59">
                <c:v>5.9</c:v>
              </c:pt>
              <c:pt idx="60">
                <c:v>6</c:v>
              </c:pt>
              <c:pt idx="61">
                <c:v>6.1000000000000005</c:v>
              </c:pt>
              <c:pt idx="62">
                <c:v>6.2</c:v>
              </c:pt>
              <c:pt idx="63">
                <c:v>6.3</c:v>
              </c:pt>
              <c:pt idx="64">
                <c:v>6.4</c:v>
              </c:pt>
              <c:pt idx="65">
                <c:v>6.5</c:v>
              </c:pt>
              <c:pt idx="66">
                <c:v>6.6000000000000005</c:v>
              </c:pt>
              <c:pt idx="67">
                <c:v>6.7</c:v>
              </c:pt>
              <c:pt idx="68">
                <c:v>6.8</c:v>
              </c:pt>
              <c:pt idx="69">
                <c:v>6.9</c:v>
              </c:pt>
              <c:pt idx="70">
                <c:v>7</c:v>
              </c:pt>
              <c:pt idx="71">
                <c:v>7.1000000000000005</c:v>
              </c:pt>
              <c:pt idx="72">
                <c:v>7.2</c:v>
              </c:pt>
              <c:pt idx="73">
                <c:v>7.3</c:v>
              </c:pt>
              <c:pt idx="74">
                <c:v>7.4</c:v>
              </c:pt>
              <c:pt idx="75">
                <c:v>7.5</c:v>
              </c:pt>
              <c:pt idx="76">
                <c:v>7.6000000000000005</c:v>
              </c:pt>
              <c:pt idx="77">
                <c:v>7.7</c:v>
              </c:pt>
              <c:pt idx="78">
                <c:v>7.8</c:v>
              </c:pt>
              <c:pt idx="79">
                <c:v>7.9</c:v>
              </c:pt>
              <c:pt idx="80">
                <c:v>8</c:v>
              </c:pt>
              <c:pt idx="81">
                <c:v>8.1</c:v>
              </c:pt>
              <c:pt idx="82">
                <c:v>8.2</c:v>
              </c:pt>
              <c:pt idx="83">
                <c:v>8.3</c:v>
              </c:pt>
              <c:pt idx="84">
                <c:v>8.4</c:v>
              </c:pt>
              <c:pt idx="85">
                <c:v>8.5</c:v>
              </c:pt>
              <c:pt idx="86">
                <c:v>8.6</c:v>
              </c:pt>
              <c:pt idx="87">
                <c:v>8.700000000000001</c:v>
              </c:pt>
              <c:pt idx="88">
                <c:v>8.8</c:v>
              </c:pt>
              <c:pt idx="89">
                <c:v>8.9</c:v>
              </c:pt>
              <c:pt idx="90">
                <c:v>9</c:v>
              </c:pt>
              <c:pt idx="91">
                <c:v>9.1</c:v>
              </c:pt>
              <c:pt idx="92">
                <c:v>9.200000000000001</c:v>
              </c:pt>
              <c:pt idx="93">
                <c:v>9.3</c:v>
              </c:pt>
              <c:pt idx="94">
                <c:v>9.4</c:v>
              </c:pt>
              <c:pt idx="95">
                <c:v>9.5</c:v>
              </c:pt>
              <c:pt idx="96">
                <c:v>9.6</c:v>
              </c:pt>
              <c:pt idx="97">
                <c:v>9.700000000000001</c:v>
              </c:pt>
              <c:pt idx="98">
                <c:v>9.8</c:v>
              </c:pt>
              <c:pt idx="99">
                <c:v>9.9</c:v>
              </c:pt>
              <c:pt idx="100">
                <c:v>10</c:v>
              </c:pt>
            </c:numLit>
          </c:xVal>
          <c:yVal>
            <c:numLit>
              <c:formatCode>General</c:formatCode>
              <c:ptCount val="101"/>
              <c:pt idx="0">
                <c:v>1.4007262261434965</c:v>
              </c:pt>
              <c:pt idx="1">
                <c:v>1.21539363453009</c:v>
              </c:pt>
              <c:pt idx="2">
                <c:v>0.9417937394372956</c:v>
              </c:pt>
              <c:pt idx="3">
                <c:v>0.5927056967904817</c:v>
              </c:pt>
              <c:pt idx="4">
                <c:v>0.19422288292970885</c:v>
              </c:pt>
              <c:pt idx="5">
                <c:v>-0.21675853623932795</c:v>
              </c:pt>
              <c:pt idx="6">
                <c:v>-0.6032497082189563</c:v>
              </c:pt>
              <c:pt idx="7">
                <c:v>-0.9348381971988375</c:v>
              </c:pt>
              <c:pt idx="8">
                <c:v>-1.1891606701627073</c:v>
              </c:pt>
              <c:pt idx="9">
                <c:v>-1.3520197398155196</c:v>
              </c:pt>
              <c:pt idx="10">
                <c:v>-1.417179447259125</c:v>
              </c:pt>
              <c:pt idx="11">
                <c:v>-1.384475577835291</c:v>
              </c:pt>
              <c:pt idx="12">
                <c:v>-1.2569423339151544</c:v>
              </c:pt>
              <c:pt idx="13">
                <c:v>-1.0394444790136685</c:v>
              </c:pt>
              <c:pt idx="14">
                <c:v>-0.740956799580969</c:v>
              </c:pt>
              <c:pt idx="15">
                <c:v>-0.38042013666690366</c:v>
              </c:pt>
              <c:pt idx="16">
                <c:v>0.010695011780541691</c:v>
              </c:pt>
              <c:pt idx="17">
                <c:v>0.39567952850856064</c:v>
              </c:pt>
              <c:pt idx="18">
                <c:v>0.7415029362265004</c:v>
              </c:pt>
              <c:pt idx="19">
                <c:v>1.0222163125580874</c:v>
              </c:pt>
              <c:pt idx="20">
                <c:v>1.219642267611406</c:v>
              </c:pt>
              <c:pt idx="21">
                <c:v>1.3237067892890675</c:v>
              </c:pt>
              <c:pt idx="22">
                <c:v>1.3315427768173418</c:v>
              </c:pt>
              <c:pt idx="23">
                <c:v>1.2449613561632844</c:v>
              </c:pt>
              <c:pt idx="24">
                <c:v>1.0683366637177496</c:v>
              </c:pt>
              <c:pt idx="25">
                <c:v>0.8092404386396468</c:v>
              </c:pt>
              <c:pt idx="26">
                <c:v>0.4827865654513172</c:v>
              </c:pt>
              <c:pt idx="27">
                <c:v>0.11573186274137374</c:v>
              </c:pt>
              <c:pt idx="28">
                <c:v>-0.25730501229957686</c:v>
              </c:pt>
              <c:pt idx="29">
                <c:v>-0.6026602756845695</c:v>
              </c:pt>
              <c:pt idx="30">
                <c:v>-0.892611996915435</c:v>
              </c:pt>
              <c:pt idx="31">
                <c:v>-1.1067085707128346</c:v>
              </c:pt>
              <c:pt idx="32">
                <c:v>-1.2323654408580138</c:v>
              </c:pt>
              <c:pt idx="33">
                <c:v>-1.264564907689056</c:v>
              </c:pt>
              <c:pt idx="34">
                <c:v>-1.2038479485204878</c:v>
              </c:pt>
              <c:pt idx="35">
                <c:v>-1.054065684933627</c:v>
              </c:pt>
              <c:pt idx="36">
                <c:v>-0.8222595869063599</c:v>
              </c:pt>
              <c:pt idx="37">
                <c:v>-0.5219315666566315</c:v>
              </c:pt>
              <c:pt idx="38">
                <c:v>-0.17704479285372943</c:v>
              </c:pt>
              <c:pt idx="39">
                <c:v>0.1800203864956556</c:v>
              </c:pt>
              <c:pt idx="40">
                <c:v>0.5162713331937154</c:v>
              </c:pt>
              <c:pt idx="41">
                <c:v>0.8036027812684335</c:v>
              </c:pt>
              <c:pt idx="42">
                <c:v>1.020578116697962</c:v>
              </c:pt>
              <c:pt idx="43">
                <c:v>1.1533055763904132</c:v>
              </c:pt>
              <c:pt idx="44">
                <c:v>1.1955159200676906</c:v>
              </c:pt>
              <c:pt idx="45">
                <c:v>1.1469456672664686</c:v>
              </c:pt>
              <c:pt idx="46">
                <c:v>1.0112063563826035</c:v>
              </c:pt>
              <c:pt idx="47">
                <c:v>0.7953970282699737</c:v>
              </c:pt>
              <c:pt idx="48">
                <c:v>0.5127238557434488</c:v>
              </c:pt>
              <c:pt idx="49">
                <c:v>0.18593106962628114</c:v>
              </c:pt>
              <c:pt idx="50">
                <c:v>-0.15428026488579444</c:v>
              </c:pt>
              <c:pt idx="51">
                <c:v>-0.47614272602309476</c:v>
              </c:pt>
              <c:pt idx="52">
                <c:v>-0.7521625006065272</c:v>
              </c:pt>
              <c:pt idx="53">
                <c:v>-0.9611067288655651</c:v>
              </c:pt>
              <c:pt idx="54">
                <c:v>-1.0890052253175595</c:v>
              </c:pt>
              <c:pt idx="55">
                <c:v>-1.1293265934789531</c:v>
              </c:pt>
              <c:pt idx="56">
                <c:v>-1.0815658488089013</c:v>
              </c:pt>
              <c:pt idx="57">
                <c:v>-0.9493547124382357</c:v>
              </c:pt>
              <c:pt idx="58">
                <c:v>-0.7402085159277088</c:v>
              </c:pt>
              <c:pt idx="59">
                <c:v>-0.467912500515442</c:v>
              </c:pt>
              <c:pt idx="60">
                <c:v>-0.15518437555746278</c:v>
              </c:pt>
              <c:pt idx="61">
                <c:v>0.16835836626982603</c:v>
              </c:pt>
              <c:pt idx="62">
                <c:v>0.47248062041449124</c:v>
              </c:pt>
              <c:pt idx="63">
                <c:v>0.7309976773062606</c:v>
              </c:pt>
              <c:pt idx="64">
                <c:v>0.9236659907648567</c:v>
              </c:pt>
              <c:pt idx="65">
                <c:v>1.0372902233069836</c:v>
              </c:pt>
              <c:pt idx="66">
                <c:v>1.065893298035528</c:v>
              </c:pt>
              <c:pt idx="67">
                <c:v>1.0093726620448973</c:v>
              </c:pt>
              <c:pt idx="68">
                <c:v>0.871899334450453</c:v>
              </c:pt>
              <c:pt idx="69">
                <c:v>0.661981471099711</c:v>
              </c:pt>
              <c:pt idx="70">
                <c:v>0.39470635470951687</c:v>
              </c:pt>
              <c:pt idx="71">
                <c:v>0.0934305518172771</c:v>
              </c:pt>
              <c:pt idx="72">
                <c:v>-0.21304933975607476</c:v>
              </c:pt>
              <c:pt idx="73">
                <c:v>-0.496230652159297</c:v>
              </c:pt>
              <c:pt idx="74">
                <c:v>-0.7317607208735446</c:v>
              </c:pt>
              <c:pt idx="75">
                <c:v>-0.9011543094626348</c:v>
              </c:pt>
              <c:pt idx="76">
                <c:v>-0.9928368283139367</c:v>
              </c:pt>
              <c:pt idx="77">
                <c:v>-1.0020849601287172</c:v>
              </c:pt>
              <c:pt idx="78">
                <c:v>-0.9296841676368052</c:v>
              </c:pt>
              <c:pt idx="79">
                <c:v>-0.780739181400881</c:v>
              </c:pt>
              <c:pt idx="80">
                <c:v>-0.5652359533456817</c:v>
              </c:pt>
              <c:pt idx="81">
                <c:v>-0.30009721413744517</c:v>
              </c:pt>
              <c:pt idx="82">
                <c:v>-0.00959183451290297</c:v>
              </c:pt>
              <c:pt idx="83">
                <c:v>0.2783955118172965</c:v>
              </c:pt>
              <c:pt idx="84">
                <c:v>0.537387531314937</c:v>
              </c:pt>
              <c:pt idx="85">
                <c:v>0.7452661537078571</c:v>
              </c:pt>
              <c:pt idx="86">
                <c:v>0.8858017346894969</c:v>
              </c:pt>
              <c:pt idx="87">
                <c:v>0.9495573716009018</c:v>
              </c:pt>
              <c:pt idx="88">
                <c:v>0.9335381827251396</c:v>
              </c:pt>
              <c:pt idx="89">
                <c:v>0.839902874841166</c:v>
              </c:pt>
              <c:pt idx="90">
                <c:v>0.675284958309366</c:v>
              </c:pt>
              <c:pt idx="91">
                <c:v>0.45177862405126706</c:v>
              </c:pt>
              <c:pt idx="92">
                <c:v>0.1884343885328886</c:v>
              </c:pt>
              <c:pt idx="93">
                <c:v>-0.08980647995857335</c:v>
              </c:pt>
              <c:pt idx="94">
                <c:v>-0.3563594380281302</c:v>
              </c:pt>
              <c:pt idx="95">
                <c:v>-0.5870935384552247</c:v>
              </c:pt>
              <c:pt idx="96">
                <c:v>-0.7625724895955754</c:v>
              </c:pt>
              <c:pt idx="97">
                <c:v>-0.8693933958114954</c:v>
              </c:pt>
              <c:pt idx="98">
                <c:v>-0.9007171129766838</c:v>
              </c:pt>
              <c:pt idx="99">
                <c:v>-0.85558372820047</c:v>
              </c:pt>
              <c:pt idx="100">
                <c:v>-0.737851008119301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7"/>
          <c:min val="-1.7"/>
        </c:scaling>
        <c:delete val="0"/>
        <c:axPos val="l"/>
        <c:majorGridlines>
          <c:spPr>
            <a:ln xmlns:a="http://schemas.openxmlformats.org/drawingml/2006/main" w="9525">
              <a:solidFill>
                <a:srgbClr val="E4E8EC"/>
              </a:solidFill>
            </a:ln>
          </c:spPr>
        </c:majorGridlines>
        <c:title>
          <c:tx>
            <c:rich>
              <a:bodyPr xmlns:a="http://schemas.openxmlformats.org/drawingml/2006/main"/>
              <a:lstStyle xmlns:a="http://schemas.openxmlformats.org/drawingml/2006/main"/>
              <a:p xmlns:a="http://schemas.openxmlformats.org/drawingml/2006/main">
                <a:r>
                  <a:rPr sz="1500">
                    <a:solidFill>
                      <a:srgbClr val="18202A"/>
                    </a:solidFill>
                    <a:latin typeface="Arial"/>
                    <a:ea typeface="Arial"/>
                    <a:cs typeface="Arial"/>
                  </a:rPr>
                  <a:t>Angle / rad</a:t>
                </a:r>
              </a:p>
            </c:rich>
          </c:tx>
          <c:overlay val="0"/>
          <c:txPr>
            <a:bodyPr xmlns:a="http://schemas.openxmlformats.org/drawingml/2006/main" anchorCtr="1"/>
            <a:lstStyle xmlns:a="http://schemas.openxmlformats.org/drawingml/2006/main"/>
            <a:p xmlns:a="http://schemas.openxmlformats.org/drawingml/2006/main">
              <a:pPr>
                <a:defRPr sz="1500">
                  <a:solidFill>
                    <a:srgbClr val="18202A"/>
                  </a:solidFill>
                  <a:latin typeface="Arial"/>
                  <a:ea typeface="Arial"/>
                  <a:cs typeface="Arial"/>
                </a:defRPr>
              </a:pPr>
            </a:p>
          </c:txPr>
        </c:title>
        <c:numFmt formatCode="General"/>
        <c:majorTickMark val="none"/>
        <c:minorTickMark val="none"/>
        <c:spPr>
          <a:ln xmlns:a="http://schemas.openxmlformats.org/drawingml/2006/main" w="9525">
            <a:solidFill>
              <a:srgbClr val="A6AFB9"/>
            </a:solidFill>
          </a:ln>
        </c:spPr>
        <c:txPr>
          <a:bodyPr xmlns:a="http://schemas.openxmlformats.org/drawingml/2006/main" anchorCtr="1"/>
          <a:lstStyle xmlns:a="http://schemas.openxmlformats.org/drawingml/2006/main"/>
          <a:p xmlns:a="http://schemas.openxmlformats.org/drawingml/2006/main">
            <a:pPr>
              <a:defRPr sz="1350">
                <a:solidFill>
                  <a:srgbClr val="535E6C"/>
                </a:solidFill>
                <a:latin typeface="Arial"/>
                <a:ea typeface="Arial"/>
                <a:cs typeface="Arial"/>
              </a:defRPr>
            </a:pPr>
          </a:p>
        </c:txPr>
        <c:crossAx val="48650112"/>
        <c:majorUnit val="1.7"/>
      </c:valAx>
      <c:valAx>
        <c:axId val="48650112"/>
        <c:scaling>
          <c:orientation val="minMax"/>
          <c:max val="10"/>
          <c:min val="0"/>
        </c:scaling>
        <c:delete val="0"/>
        <c:axPos val="b"/>
        <c:majorGridlines>
          <c:spPr>
            <a:ln xmlns:a="http://schemas.openxmlformats.org/drawingml/2006/main" w="9525">
              <a:solidFill>
                <a:srgbClr val="E4E8EC"/>
              </a:solidFill>
            </a:ln>
          </c:spPr>
        </c:majorGridlines>
        <c:title>
          <c:tx>
            <c:rich>
              <a:bodyPr xmlns:a="http://schemas.openxmlformats.org/drawingml/2006/main"/>
              <a:lstStyle xmlns:a="http://schemas.openxmlformats.org/drawingml/2006/main"/>
              <a:p xmlns:a="http://schemas.openxmlformats.org/drawingml/2006/main">
                <a:r>
                  <a:rPr sz="1500">
                    <a:solidFill>
                      <a:srgbClr val="18202A"/>
                    </a:solidFill>
                    <a:latin typeface="Arial"/>
                    <a:ea typeface="Arial"/>
                    <a:cs typeface="Arial"/>
                  </a:rPr>
                  <a:t>Time / s</a:t>
                </a:r>
              </a:p>
            </c:rich>
          </c:tx>
          <c:overlay val="0"/>
          <c:txPr>
            <a:bodyPr xmlns:a="http://schemas.openxmlformats.org/drawingml/2006/main" anchorCtr="1"/>
            <a:lstStyle xmlns:a="http://schemas.openxmlformats.org/drawingml/2006/main"/>
            <a:p xmlns:a="http://schemas.openxmlformats.org/drawingml/2006/main">
              <a:pPr>
                <a:defRPr sz="1500">
                  <a:solidFill>
                    <a:srgbClr val="18202A"/>
                  </a:solidFill>
                  <a:latin typeface="Arial"/>
                  <a:ea typeface="Arial"/>
                  <a:cs typeface="Arial"/>
                </a:defRPr>
              </a:pPr>
            </a:p>
          </c:txPr>
        </c:title>
        <c:numFmt formatCode="General"/>
        <c:majorTickMark val="none"/>
        <c:minorTickMark val="none"/>
        <c:tickLblPos val="low"/>
        <c:spPr>
          <a:ln xmlns:a="http://schemas.openxmlformats.org/drawingml/2006/main" w="9525">
            <a:solidFill>
              <a:srgbClr val="A6AFB9"/>
            </a:solidFill>
          </a:ln>
        </c:spPr>
        <c:txPr>
          <a:bodyPr xmlns:a="http://schemas.openxmlformats.org/drawingml/2006/main" anchorCtr="1"/>
          <a:lstStyle xmlns:a="http://schemas.openxmlformats.org/drawingml/2006/main"/>
          <a:p xmlns:a="http://schemas.openxmlformats.org/drawingml/2006/main">
            <a:pPr>
              <a:defRPr sz="1350">
                <a:solidFill>
                  <a:srgbClr val="535E6C"/>
                </a:solidFill>
                <a:latin typeface="Arial"/>
                <a:ea typeface="Arial"/>
                <a:cs typeface="Arial"/>
              </a:defRPr>
            </a:pPr>
          </a:p>
        </c:txPr>
        <c:crossAx val="48672768"/>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8202A"/>
              </a:solidFill>
              <a:latin typeface="Arial"/>
              <a:ea typeface="Arial"/>
              <a:cs typeface="Arial"/>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00" b="1">
                <a:solidFill>
                  <a:srgbClr val="18202A"/>
                </a:solidFill>
                <a:latin typeface="Arial"/>
                <a:ea typeface="Arial"/>
                <a:cs typeface="Arial"/>
              </a:rPr>
              <a:t>Outside training range</a:t>
            </a:r>
          </a:p>
        </c:rich>
      </c:tx>
      <c:overlay val="0"/>
      <c:txPr>
        <a:bodyPr xmlns:a="http://schemas.openxmlformats.org/drawingml/2006/main" anchorCtr="1"/>
        <a:lstStyle xmlns:a="http://schemas.openxmlformats.org/drawingml/2006/main"/>
        <a:p xmlns:a="http://schemas.openxmlformats.org/drawingml/2006/main">
          <a:pPr>
            <a:defRPr sz="1800" b="1">
              <a:solidFill>
                <a:srgbClr val="18202A"/>
              </a:solidFill>
              <a:latin typeface="Arial"/>
              <a:ea typeface="Arial"/>
              <a:cs typeface="Arial"/>
            </a:defRPr>
          </a:pPr>
        </a:p>
      </c:txPr>
    </c:title>
    <c:plotArea>
      <c:scatterChart>
        <c:scatterStyle val="line"/>
        <c:varyColors val="0"/>
        <c:ser>
          <c:idx val="0"/>
          <c:order val="0"/>
          <c:tx>
            <c:v>RK4 reference</c:v>
          </c:tx>
          <c:spPr>
            <a:ln xmlns:a="http://schemas.openxmlformats.org/drawingml/2006/main" w="23813">
              <a:solidFill>
                <a:srgbClr val="245BC2"/>
              </a:solidFill>
            </a:ln>
          </c:spPr>
          <c:marker>
            <c:symbol val="none"/>
          </c:marker>
          <c:xVal>
            <c:numLit>
              <c:formatCode>General</c:formatCode>
              <c:ptCount val="101"/>
              <c:pt idx="0">
                <c:v>0</c:v>
              </c:pt>
              <c:pt idx="1">
                <c:v>0.1</c:v>
              </c:pt>
              <c:pt idx="2">
                <c:v>0.2</c:v>
              </c:pt>
              <c:pt idx="3">
                <c:v>0.3</c:v>
              </c:pt>
              <c:pt idx="4">
                <c:v>0.4</c:v>
              </c:pt>
              <c:pt idx="5">
                <c:v>0.5</c:v>
              </c:pt>
              <c:pt idx="6">
                <c:v>0.6</c:v>
              </c:pt>
              <c:pt idx="7">
                <c:v>0.7000000000000001</c:v>
              </c:pt>
              <c:pt idx="8">
                <c:v>0.8</c:v>
              </c:pt>
              <c:pt idx="9">
                <c:v>0.9</c:v>
              </c:pt>
              <c:pt idx="10">
                <c:v>1</c:v>
              </c:pt>
              <c:pt idx="11">
                <c:v>1.1</c:v>
              </c:pt>
              <c:pt idx="12">
                <c:v>1.2</c:v>
              </c:pt>
              <c:pt idx="13">
                <c:v>1.3</c:v>
              </c:pt>
              <c:pt idx="14">
                <c:v>1.4000000000000001</c:v>
              </c:pt>
              <c:pt idx="15">
                <c:v>1.5</c:v>
              </c:pt>
              <c:pt idx="16">
                <c:v>1.6</c:v>
              </c:pt>
              <c:pt idx="17">
                <c:v>1.7</c:v>
              </c:pt>
              <c:pt idx="18">
                <c:v>1.8</c:v>
              </c:pt>
              <c:pt idx="19">
                <c:v>1.9000000000000001</c:v>
              </c:pt>
              <c:pt idx="20">
                <c:v>2</c:v>
              </c:pt>
              <c:pt idx="21">
                <c:v>2.1</c:v>
              </c:pt>
              <c:pt idx="22">
                <c:v>2.2</c:v>
              </c:pt>
              <c:pt idx="23">
                <c:v>2.3000000000000003</c:v>
              </c:pt>
              <c:pt idx="24">
                <c:v>2.4</c:v>
              </c:pt>
              <c:pt idx="25">
                <c:v>2.5</c:v>
              </c:pt>
              <c:pt idx="26">
                <c:v>2.6</c:v>
              </c:pt>
              <c:pt idx="27">
                <c:v>2.7</c:v>
              </c:pt>
              <c:pt idx="28">
                <c:v>2.8000000000000003</c:v>
              </c:pt>
              <c:pt idx="29">
                <c:v>2.9</c:v>
              </c:pt>
              <c:pt idx="30">
                <c:v>3</c:v>
              </c:pt>
              <c:pt idx="31">
                <c:v>3.1</c:v>
              </c:pt>
              <c:pt idx="32">
                <c:v>3.2</c:v>
              </c:pt>
              <c:pt idx="33">
                <c:v>3.3000000000000003</c:v>
              </c:pt>
              <c:pt idx="34">
                <c:v>3.4</c:v>
              </c:pt>
              <c:pt idx="35">
                <c:v>3.5</c:v>
              </c:pt>
              <c:pt idx="36">
                <c:v>3.6</c:v>
              </c:pt>
              <c:pt idx="37">
                <c:v>3.7</c:v>
              </c:pt>
              <c:pt idx="38">
                <c:v>3.8000000000000003</c:v>
              </c:pt>
              <c:pt idx="39">
                <c:v>3.9</c:v>
              </c:pt>
              <c:pt idx="40">
                <c:v>4</c:v>
              </c:pt>
              <c:pt idx="41">
                <c:v>4.1</c:v>
              </c:pt>
              <c:pt idx="42">
                <c:v>4.2</c:v>
              </c:pt>
              <c:pt idx="43">
                <c:v>4.3</c:v>
              </c:pt>
              <c:pt idx="44">
                <c:v>4.4</c:v>
              </c:pt>
              <c:pt idx="45">
                <c:v>4.5</c:v>
              </c:pt>
              <c:pt idx="46">
                <c:v>4.6000000000000005</c:v>
              </c:pt>
              <c:pt idx="47">
                <c:v>4.7</c:v>
              </c:pt>
              <c:pt idx="48">
                <c:v>4.8</c:v>
              </c:pt>
              <c:pt idx="49">
                <c:v>4.9</c:v>
              </c:pt>
              <c:pt idx="50">
                <c:v>5</c:v>
              </c:pt>
              <c:pt idx="51">
                <c:v>5.1000000000000005</c:v>
              </c:pt>
              <c:pt idx="52">
                <c:v>5.2</c:v>
              </c:pt>
              <c:pt idx="53">
                <c:v>5.3</c:v>
              </c:pt>
              <c:pt idx="54">
                <c:v>5.4</c:v>
              </c:pt>
              <c:pt idx="55">
                <c:v>5.5</c:v>
              </c:pt>
              <c:pt idx="56">
                <c:v>5.6000000000000005</c:v>
              </c:pt>
              <c:pt idx="57">
                <c:v>5.7</c:v>
              </c:pt>
              <c:pt idx="58">
                <c:v>5.8</c:v>
              </c:pt>
              <c:pt idx="59">
                <c:v>5.9</c:v>
              </c:pt>
              <c:pt idx="60">
                <c:v>6</c:v>
              </c:pt>
              <c:pt idx="61">
                <c:v>6.1000000000000005</c:v>
              </c:pt>
              <c:pt idx="62">
                <c:v>6.2</c:v>
              </c:pt>
              <c:pt idx="63">
                <c:v>6.3</c:v>
              </c:pt>
              <c:pt idx="64">
                <c:v>6.4</c:v>
              </c:pt>
              <c:pt idx="65">
                <c:v>6.5</c:v>
              </c:pt>
              <c:pt idx="66">
                <c:v>6.6000000000000005</c:v>
              </c:pt>
              <c:pt idx="67">
                <c:v>6.7</c:v>
              </c:pt>
              <c:pt idx="68">
                <c:v>6.8</c:v>
              </c:pt>
              <c:pt idx="69">
                <c:v>6.9</c:v>
              </c:pt>
              <c:pt idx="70">
                <c:v>7</c:v>
              </c:pt>
              <c:pt idx="71">
                <c:v>7.1000000000000005</c:v>
              </c:pt>
              <c:pt idx="72">
                <c:v>7.2</c:v>
              </c:pt>
              <c:pt idx="73">
                <c:v>7.3</c:v>
              </c:pt>
              <c:pt idx="74">
                <c:v>7.4</c:v>
              </c:pt>
              <c:pt idx="75">
                <c:v>7.5</c:v>
              </c:pt>
              <c:pt idx="76">
                <c:v>7.6000000000000005</c:v>
              </c:pt>
              <c:pt idx="77">
                <c:v>7.7</c:v>
              </c:pt>
              <c:pt idx="78">
                <c:v>7.8</c:v>
              </c:pt>
              <c:pt idx="79">
                <c:v>7.9</c:v>
              </c:pt>
              <c:pt idx="80">
                <c:v>8</c:v>
              </c:pt>
              <c:pt idx="81">
                <c:v>8.1</c:v>
              </c:pt>
              <c:pt idx="82">
                <c:v>8.2</c:v>
              </c:pt>
              <c:pt idx="83">
                <c:v>8.3</c:v>
              </c:pt>
              <c:pt idx="84">
                <c:v>8.4</c:v>
              </c:pt>
              <c:pt idx="85">
                <c:v>8.5</c:v>
              </c:pt>
              <c:pt idx="86">
                <c:v>8.6</c:v>
              </c:pt>
              <c:pt idx="87">
                <c:v>8.700000000000001</c:v>
              </c:pt>
              <c:pt idx="88">
                <c:v>8.8</c:v>
              </c:pt>
              <c:pt idx="89">
                <c:v>8.9</c:v>
              </c:pt>
              <c:pt idx="90">
                <c:v>9</c:v>
              </c:pt>
              <c:pt idx="91">
                <c:v>9.1</c:v>
              </c:pt>
              <c:pt idx="92">
                <c:v>9.200000000000001</c:v>
              </c:pt>
              <c:pt idx="93">
                <c:v>9.3</c:v>
              </c:pt>
              <c:pt idx="94">
                <c:v>9.4</c:v>
              </c:pt>
              <c:pt idx="95">
                <c:v>9.5</c:v>
              </c:pt>
              <c:pt idx="96">
                <c:v>9.6</c:v>
              </c:pt>
              <c:pt idx="97">
                <c:v>9.700000000000001</c:v>
              </c:pt>
              <c:pt idx="98">
                <c:v>9.8</c:v>
              </c:pt>
              <c:pt idx="99">
                <c:v>9.9</c:v>
              </c:pt>
              <c:pt idx="100">
                <c:v>10</c:v>
              </c:pt>
            </c:numLit>
          </c:xVal>
          <c:yVal>
            <c:numLit>
              <c:formatCode>General</c:formatCode>
              <c:ptCount val="101"/>
              <c:pt idx="0">
                <c:v>2.5</c:v>
              </c:pt>
              <c:pt idx="1">
                <c:v>2.4705514067378704</c:v>
              </c:pt>
              <c:pt idx="2">
                <c:v>2.3803315616456637</c:v>
              </c:pt>
              <c:pt idx="3">
                <c:v>2.223362943194581</c:v>
              </c:pt>
              <c:pt idx="4">
                <c:v>1.99026580552361</c:v>
              </c:pt>
              <c:pt idx="5">
                <c:v>1.670615120040211</c:v>
              </c:pt>
              <c:pt idx="6">
                <c:v>1.258029294699422</c:v>
              </c:pt>
              <c:pt idx="7">
                <c:v>0.7585111328000537</c:v>
              </c:pt>
              <c:pt idx="8">
                <c:v>0.19877478706523682</c:v>
              </c:pt>
              <c:pt idx="9">
                <c:v>-0.3740033461235894</c:v>
              </c:pt>
              <c:pt idx="10">
                <c:v>-0.9065853081202428</c:v>
              </c:pt>
              <c:pt idx="11">
                <c:v>-1.3589353168489349</c:v>
              </c:pt>
              <c:pt idx="12">
                <c:v>-1.7128105397312432</c:v>
              </c:pt>
              <c:pt idx="13">
                <c:v>-1.9671743162986932</c:v>
              </c:pt>
              <c:pt idx="14">
                <c:v>-2.129010524623024</c:v>
              </c:pt>
              <c:pt idx="15">
                <c:v>-2.206186679914169</c:v>
              </c:pt>
              <c:pt idx="16">
                <c:v>-2.203664893755287</c:v>
              </c:pt>
              <c:pt idx="17">
                <c:v>-2.1220955188409967</c:v>
              </c:pt>
              <c:pt idx="18">
                <c:v>-1.9579413301253736</c:v>
              </c:pt>
              <c:pt idx="19">
                <c:v>-1.7050880808366864</c:v>
              </c:pt>
              <c:pt idx="20">
                <c:v>-1.3586425813049194</c:v>
              </c:pt>
              <c:pt idx="21">
                <c:v>-0.9216069847126757</c:v>
              </c:pt>
              <c:pt idx="22">
                <c:v>-0.41298894411394904</c:v>
              </c:pt>
              <c:pt idx="23">
                <c:v>0.12856074611184465</c:v>
              </c:pt>
              <c:pt idx="24">
                <c:v>0.6525992633411312</c:v>
              </c:pt>
              <c:pt idx="25">
                <c:v>1.1137188537540024</c:v>
              </c:pt>
              <c:pt idx="26">
                <c:v>1.4842325125336042</c:v>
              </c:pt>
              <c:pt idx="27">
                <c:v>1.7547191051795035</c:v>
              </c:pt>
              <c:pt idx="28">
                <c:v>1.9268042842227928</c:v>
              </c:pt>
              <c:pt idx="29">
                <c:v>2.0055520383468886</c:v>
              </c:pt>
              <c:pt idx="30">
                <c:v>1.9946946881049044</c:v>
              </c:pt>
              <c:pt idx="31">
                <c:v>1.894702846217032</c:v>
              </c:pt>
              <c:pt idx="32">
                <c:v>1.7031005194892561</c:v>
              </c:pt>
              <c:pt idx="33">
                <c:v>1.4170095212633</c:v>
              </c:pt>
              <c:pt idx="34">
                <c:v>1.0383192575655125</c:v>
              </c:pt>
              <c:pt idx="35">
                <c:v>0.5808699228476872</c:v>
              </c:pt>
              <c:pt idx="36">
                <c:v>0.07579860578943996</c:v>
              </c:pt>
              <c:pt idx="37">
                <c:v>-0.43142146477788146</c:v>
              </c:pt>
              <c:pt idx="38">
                <c:v>-0.8938696862208293</c:v>
              </c:pt>
              <c:pt idx="39">
                <c:v>-1.277144704316907</c:v>
              </c:pt>
              <c:pt idx="40">
                <c:v>-1.5642711837694718</c:v>
              </c:pt>
              <c:pt idx="41">
                <c:v>-1.751400823190549</c:v>
              </c:pt>
              <c:pt idx="42">
                <c:v>-1.8406639775158502</c:v>
              </c:pt>
              <c:pt idx="43">
                <c:v>-1.8347761336977397</c:v>
              </c:pt>
              <c:pt idx="44">
                <c:v>-1.7345451828669156</c:v>
              </c:pt>
              <c:pt idx="45">
                <c:v>-1.5390609224456506</c:v>
              </c:pt>
              <c:pt idx="46">
                <c:v>-1.2484725149458298</c:v>
              </c:pt>
              <c:pt idx="47">
                <c:v>-0.8692990265117153</c:v>
              </c:pt>
              <c:pt idx="48">
                <c:v>-0.4207881963741764</c:v>
              </c:pt>
              <c:pt idx="49">
                <c:v>0.062120542843101395</c:v>
              </c:pt>
              <c:pt idx="50">
                <c:v>0.534326502335646</c:v>
              </c:pt>
              <c:pt idx="51">
                <c:v>0.9532877654433521</c:v>
              </c:pt>
              <c:pt idx="52">
                <c:v>1.2898151168431393</c:v>
              </c:pt>
              <c:pt idx="53">
                <c:v>1.530077204228388</c:v>
              </c:pt>
              <c:pt idx="54">
                <c:v>1.6707528317232667</c:v>
              </c:pt>
              <c:pt idx="55">
                <c:v>1.7129007669402725</c:v>
              </c:pt>
              <c:pt idx="56">
                <c:v>1.657898128530805</c:v>
              </c:pt>
              <c:pt idx="57">
                <c:v>1.506226952525586</c:v>
              </c:pt>
              <c:pt idx="58">
                <c:v>1.2590390168603833</c:v>
              </c:pt>
              <c:pt idx="59">
                <c:v>0.9223021144897686</c:v>
              </c:pt>
              <c:pt idx="60">
                <c:v>0.5124057908899494</c:v>
              </c:pt>
              <c:pt idx="61">
                <c:v>0.05980842763579733</c:v>
              </c:pt>
              <c:pt idx="62">
                <c:v>-0.39397268438981675</c:v>
              </c:pt>
              <c:pt idx="63">
                <c:v>-0.8066316676087871</c:v>
              </c:pt>
              <c:pt idx="64">
                <c:v>-1.1459375159100236</c:v>
              </c:pt>
              <c:pt idx="65">
                <c:v>-1.393874895912022</c:v>
              </c:pt>
              <c:pt idx="66">
                <c:v>-1.543719259592824</c:v>
              </c:pt>
              <c:pt idx="67">
                <c:v>-1.5946084211430385</c:v>
              </c:pt>
              <c:pt idx="68">
                <c:v>-1.5473966214429735</c:v>
              </c:pt>
              <c:pt idx="69">
                <c:v>-1.4031712901425282</c:v>
              </c:pt>
              <c:pt idx="70">
                <c:v>-1.1645703509604348</c:v>
              </c:pt>
              <c:pt idx="71">
                <c:v>-0.8395629580943781</c:v>
              </c:pt>
              <c:pt idx="72">
                <c:v>-0.4463079172143192</c:v>
              </c:pt>
              <c:pt idx="73">
                <c:v>-0.015734941578372352</c:v>
              </c:pt>
              <c:pt idx="74">
                <c:v>0.4120528718890734</c:v>
              </c:pt>
              <c:pt idx="75">
                <c:v>0.7973171764001867</c:v>
              </c:pt>
              <c:pt idx="76">
                <c:v>1.1100132665582936</c:v>
              </c:pt>
              <c:pt idx="77">
                <c:v>1.3330104260880713</c:v>
              </c:pt>
              <c:pt idx="78">
                <c:v>1.4593543599048393</c:v>
              </c:pt>
              <c:pt idx="79">
                <c:v>1.4875794855707973</c:v>
              </c:pt>
              <c:pt idx="80">
                <c:v>1.418327678065079</c:v>
              </c:pt>
              <c:pt idx="81">
                <c:v>1.2535236341367035</c:v>
              </c:pt>
              <c:pt idx="82">
                <c:v>0.9982035329468111</c:v>
              </c:pt>
              <c:pt idx="83">
                <c:v>0.6643402338795599</c:v>
              </c:pt>
              <c:pt idx="84">
                <c:v>0.27465836530983195</c:v>
              </c:pt>
              <c:pt idx="85">
                <c:v>-0.13706027848398952</c:v>
              </c:pt>
              <c:pt idx="86">
                <c:v>-0.5316315034570547</c:v>
              </c:pt>
              <c:pt idx="87">
                <c:v>-0.8736970281358974</c:v>
              </c:pt>
              <c:pt idx="88">
                <c:v>-1.1384859238373</c:v>
              </c:pt>
              <c:pt idx="89">
                <c:v>-1.3126725869424876</c:v>
              </c:pt>
              <c:pt idx="90">
                <c:v>-1.391077635251927</c:v>
              </c:pt>
              <c:pt idx="91">
                <c:v>-1.3728184091786177</c:v>
              </c:pt>
              <c:pt idx="92">
                <c:v>-1.2592323101090848</c:v>
              </c:pt>
              <c:pt idx="93">
                <c:v>-1.0543003170490253</c:v>
              </c:pt>
              <c:pt idx="94">
                <c:v>-0.7673031364975664</c:v>
              </c:pt>
              <c:pt idx="95">
                <c:v>-0.4163723577840731</c:v>
              </c:pt>
              <c:pt idx="96">
                <c:v>-0.030193906200927344</c:v>
              </c:pt>
              <c:pt idx="97">
                <c:v>0.3550279578077682</c:v>
              </c:pt>
              <c:pt idx="98">
                <c:v>0.7031218477669957</c:v>
              </c:pt>
              <c:pt idx="99">
                <c:v>0.9855505066345271</c:v>
              </c:pt>
              <c:pt idx="100">
                <c:v>1.1845649825804019</c:v>
              </c:pt>
            </c:numLit>
          </c:yVal>
        </c:ser>
        <c:ser>
          <c:idx val="1"/>
          <c:order val="1"/>
          <c:tx>
            <c:v>Neural prediction</c:v>
          </c:tx>
          <c:spPr>
            <a:ln xmlns:a="http://schemas.openxmlformats.org/drawingml/2006/main" w="23813">
              <a:solidFill>
                <a:srgbClr val="CB532C"/>
              </a:solidFill>
            </a:ln>
          </c:spPr>
          <c:marker>
            <c:symbol val="none"/>
          </c:marker>
          <c:xVal>
            <c:numLit>
              <c:formatCode>General</c:formatCode>
              <c:ptCount val="101"/>
              <c:pt idx="0">
                <c:v>0</c:v>
              </c:pt>
              <c:pt idx="1">
                <c:v>0.1</c:v>
              </c:pt>
              <c:pt idx="2">
                <c:v>0.2</c:v>
              </c:pt>
              <c:pt idx="3">
                <c:v>0.3</c:v>
              </c:pt>
              <c:pt idx="4">
                <c:v>0.4</c:v>
              </c:pt>
              <c:pt idx="5">
                <c:v>0.5</c:v>
              </c:pt>
              <c:pt idx="6">
                <c:v>0.6</c:v>
              </c:pt>
              <c:pt idx="7">
                <c:v>0.7000000000000001</c:v>
              </c:pt>
              <c:pt idx="8">
                <c:v>0.8</c:v>
              </c:pt>
              <c:pt idx="9">
                <c:v>0.9</c:v>
              </c:pt>
              <c:pt idx="10">
                <c:v>1</c:v>
              </c:pt>
              <c:pt idx="11">
                <c:v>1.1</c:v>
              </c:pt>
              <c:pt idx="12">
                <c:v>1.2</c:v>
              </c:pt>
              <c:pt idx="13">
                <c:v>1.3</c:v>
              </c:pt>
              <c:pt idx="14">
                <c:v>1.4000000000000001</c:v>
              </c:pt>
              <c:pt idx="15">
                <c:v>1.5</c:v>
              </c:pt>
              <c:pt idx="16">
                <c:v>1.6</c:v>
              </c:pt>
              <c:pt idx="17">
                <c:v>1.7</c:v>
              </c:pt>
              <c:pt idx="18">
                <c:v>1.8</c:v>
              </c:pt>
              <c:pt idx="19">
                <c:v>1.9000000000000001</c:v>
              </c:pt>
              <c:pt idx="20">
                <c:v>2</c:v>
              </c:pt>
              <c:pt idx="21">
                <c:v>2.1</c:v>
              </c:pt>
              <c:pt idx="22">
                <c:v>2.2</c:v>
              </c:pt>
              <c:pt idx="23">
                <c:v>2.3000000000000003</c:v>
              </c:pt>
              <c:pt idx="24">
                <c:v>2.4</c:v>
              </c:pt>
              <c:pt idx="25">
                <c:v>2.5</c:v>
              </c:pt>
              <c:pt idx="26">
                <c:v>2.6</c:v>
              </c:pt>
              <c:pt idx="27">
                <c:v>2.7</c:v>
              </c:pt>
              <c:pt idx="28">
                <c:v>2.8000000000000003</c:v>
              </c:pt>
              <c:pt idx="29">
                <c:v>2.9</c:v>
              </c:pt>
              <c:pt idx="30">
                <c:v>3</c:v>
              </c:pt>
              <c:pt idx="31">
                <c:v>3.1</c:v>
              </c:pt>
              <c:pt idx="32">
                <c:v>3.2</c:v>
              </c:pt>
              <c:pt idx="33">
                <c:v>3.3000000000000003</c:v>
              </c:pt>
              <c:pt idx="34">
                <c:v>3.4</c:v>
              </c:pt>
              <c:pt idx="35">
                <c:v>3.5</c:v>
              </c:pt>
              <c:pt idx="36">
                <c:v>3.6</c:v>
              </c:pt>
              <c:pt idx="37">
                <c:v>3.7</c:v>
              </c:pt>
              <c:pt idx="38">
                <c:v>3.8000000000000003</c:v>
              </c:pt>
              <c:pt idx="39">
                <c:v>3.9</c:v>
              </c:pt>
              <c:pt idx="40">
                <c:v>4</c:v>
              </c:pt>
              <c:pt idx="41">
                <c:v>4.1</c:v>
              </c:pt>
              <c:pt idx="42">
                <c:v>4.2</c:v>
              </c:pt>
              <c:pt idx="43">
                <c:v>4.3</c:v>
              </c:pt>
              <c:pt idx="44">
                <c:v>4.4</c:v>
              </c:pt>
              <c:pt idx="45">
                <c:v>4.5</c:v>
              </c:pt>
              <c:pt idx="46">
                <c:v>4.6000000000000005</c:v>
              </c:pt>
              <c:pt idx="47">
                <c:v>4.7</c:v>
              </c:pt>
              <c:pt idx="48">
                <c:v>4.8</c:v>
              </c:pt>
              <c:pt idx="49">
                <c:v>4.9</c:v>
              </c:pt>
              <c:pt idx="50">
                <c:v>5</c:v>
              </c:pt>
              <c:pt idx="51">
                <c:v>5.1000000000000005</c:v>
              </c:pt>
              <c:pt idx="52">
                <c:v>5.2</c:v>
              </c:pt>
              <c:pt idx="53">
                <c:v>5.3</c:v>
              </c:pt>
              <c:pt idx="54">
                <c:v>5.4</c:v>
              </c:pt>
              <c:pt idx="55">
                <c:v>5.5</c:v>
              </c:pt>
              <c:pt idx="56">
                <c:v>5.6000000000000005</c:v>
              </c:pt>
              <c:pt idx="57">
                <c:v>5.7</c:v>
              </c:pt>
              <c:pt idx="58">
                <c:v>5.8</c:v>
              </c:pt>
              <c:pt idx="59">
                <c:v>5.9</c:v>
              </c:pt>
              <c:pt idx="60">
                <c:v>6</c:v>
              </c:pt>
              <c:pt idx="61">
                <c:v>6.1000000000000005</c:v>
              </c:pt>
              <c:pt idx="62">
                <c:v>6.2</c:v>
              </c:pt>
              <c:pt idx="63">
                <c:v>6.3</c:v>
              </c:pt>
              <c:pt idx="64">
                <c:v>6.4</c:v>
              </c:pt>
              <c:pt idx="65">
                <c:v>6.5</c:v>
              </c:pt>
              <c:pt idx="66">
                <c:v>6.6000000000000005</c:v>
              </c:pt>
              <c:pt idx="67">
                <c:v>6.7</c:v>
              </c:pt>
              <c:pt idx="68">
                <c:v>6.8</c:v>
              </c:pt>
              <c:pt idx="69">
                <c:v>6.9</c:v>
              </c:pt>
              <c:pt idx="70">
                <c:v>7</c:v>
              </c:pt>
              <c:pt idx="71">
                <c:v>7.1000000000000005</c:v>
              </c:pt>
              <c:pt idx="72">
                <c:v>7.2</c:v>
              </c:pt>
              <c:pt idx="73">
                <c:v>7.3</c:v>
              </c:pt>
              <c:pt idx="74">
                <c:v>7.4</c:v>
              </c:pt>
              <c:pt idx="75">
                <c:v>7.5</c:v>
              </c:pt>
              <c:pt idx="76">
                <c:v>7.6000000000000005</c:v>
              </c:pt>
              <c:pt idx="77">
                <c:v>7.7</c:v>
              </c:pt>
              <c:pt idx="78">
                <c:v>7.8</c:v>
              </c:pt>
              <c:pt idx="79">
                <c:v>7.9</c:v>
              </c:pt>
              <c:pt idx="80">
                <c:v>8</c:v>
              </c:pt>
              <c:pt idx="81">
                <c:v>8.1</c:v>
              </c:pt>
              <c:pt idx="82">
                <c:v>8.2</c:v>
              </c:pt>
              <c:pt idx="83">
                <c:v>8.3</c:v>
              </c:pt>
              <c:pt idx="84">
                <c:v>8.4</c:v>
              </c:pt>
              <c:pt idx="85">
                <c:v>8.5</c:v>
              </c:pt>
              <c:pt idx="86">
                <c:v>8.6</c:v>
              </c:pt>
              <c:pt idx="87">
                <c:v>8.700000000000001</c:v>
              </c:pt>
              <c:pt idx="88">
                <c:v>8.8</c:v>
              </c:pt>
              <c:pt idx="89">
                <c:v>8.9</c:v>
              </c:pt>
              <c:pt idx="90">
                <c:v>9</c:v>
              </c:pt>
              <c:pt idx="91">
                <c:v>9.1</c:v>
              </c:pt>
              <c:pt idx="92">
                <c:v>9.200000000000001</c:v>
              </c:pt>
              <c:pt idx="93">
                <c:v>9.3</c:v>
              </c:pt>
              <c:pt idx="94">
                <c:v>9.4</c:v>
              </c:pt>
              <c:pt idx="95">
                <c:v>9.5</c:v>
              </c:pt>
              <c:pt idx="96">
                <c:v>9.6</c:v>
              </c:pt>
              <c:pt idx="97">
                <c:v>9.700000000000001</c:v>
              </c:pt>
              <c:pt idx="98">
                <c:v>9.8</c:v>
              </c:pt>
              <c:pt idx="99">
                <c:v>9.9</c:v>
              </c:pt>
              <c:pt idx="100">
                <c:v>10</c:v>
              </c:pt>
            </c:numLit>
          </c:xVal>
          <c:yVal>
            <c:numLit>
              <c:formatCode>General</c:formatCode>
              <c:ptCount val="101"/>
              <c:pt idx="0">
                <c:v>2.5</c:v>
              </c:pt>
              <c:pt idx="1">
                <c:v>2.4522199275177963</c:v>
              </c:pt>
              <c:pt idx="2">
                <c:v>2.3084365743969837</c:v>
              </c:pt>
              <c:pt idx="3">
                <c:v>2.0698259323215424</c:v>
              </c:pt>
              <c:pt idx="4">
                <c:v>1.7342345639405714</c:v>
              </c:pt>
              <c:pt idx="5">
                <c:v>1.2991729803653043</c:v>
              </c:pt>
              <c:pt idx="6">
                <c:v>0.7745055871892278</c:v>
              </c:pt>
              <c:pt idx="7">
                <c:v>0.19498131951022427</c:v>
              </c:pt>
              <c:pt idx="8">
                <c:v>-0.3913153580167588</c:v>
              </c:pt>
              <c:pt idx="9">
                <c:v>-0.9409301062565792</c:v>
              </c:pt>
              <c:pt idx="10">
                <c:v>-1.4212733732594005</c:v>
              </c:pt>
              <c:pt idx="11">
                <c:v>-1.813326151021913</c:v>
              </c:pt>
              <c:pt idx="12">
                <c:v>-2.1055860241171267</c:v>
              </c:pt>
              <c:pt idx="13">
                <c:v>-2.291966152044112</c:v>
              </c:pt>
              <c:pt idx="14">
                <c:v>-2.3728511345183714</c:v>
              </c:pt>
              <c:pt idx="15">
                <c:v>-2.351892602520404</c:v>
              </c:pt>
              <c:pt idx="16">
                <c:v>-2.232873475781412</c:v>
              </c:pt>
              <c:pt idx="17">
                <c:v>-2.01772148348764</c:v>
              </c:pt>
              <c:pt idx="18">
                <c:v>-1.7053777867452717</c:v>
              </c:pt>
              <c:pt idx="19">
                <c:v>-1.2941107519533224</c:v>
              </c:pt>
              <c:pt idx="20">
                <c:v>-0.7926661050951609</c:v>
              </c:pt>
              <c:pt idx="21">
                <c:v>-0.2333716313907997</c:v>
              </c:pt>
              <c:pt idx="22">
                <c:v>0.3364648268207139</c:v>
              </c:pt>
              <c:pt idx="23">
                <c:v>0.8729443472142049</c:v>
              </c:pt>
              <c:pt idx="24">
                <c:v>1.342666232765098</c:v>
              </c:pt>
              <c:pt idx="25">
                <c:v>1.7251573240580584</c:v>
              </c:pt>
              <c:pt idx="26">
                <c:v>2.007973910232006</c:v>
              </c:pt>
              <c:pt idx="27">
                <c:v>2.1846980953187485</c:v>
              </c:pt>
              <c:pt idx="28">
                <c:v>2.255481150513869</c:v>
              </c:pt>
              <c:pt idx="29">
                <c:v>2.223806916649939</c:v>
              </c:pt>
              <c:pt idx="30">
                <c:v>2.093313404850382</c:v>
              </c:pt>
              <c:pt idx="31">
                <c:v>1.8657782296349996</c:v>
              </c:pt>
              <c:pt idx="32">
                <c:v>1.5404476438145613</c:v>
              </c:pt>
              <c:pt idx="33">
                <c:v>1.1180266107507935</c:v>
              </c:pt>
              <c:pt idx="34">
                <c:v>0.6133879049660804</c:v>
              </c:pt>
              <c:pt idx="35">
                <c:v>0.06435574915061266</c:v>
              </c:pt>
              <c:pt idx="36">
                <c:v>-0.48192995419157286</c:v>
              </c:pt>
              <c:pt idx="37">
                <c:v>-0.9844236157897632</c:v>
              </c:pt>
              <c:pt idx="38">
                <c:v>-1.4134916621222555</c:v>
              </c:pt>
              <c:pt idx="39">
                <c:v>-1.7511268073018438</c:v>
              </c:pt>
              <c:pt idx="40">
                <c:v>-1.9863103429781446</c:v>
              </c:pt>
              <c:pt idx="41">
                <c:v>-2.114887195266695</c:v>
              </c:pt>
              <c:pt idx="42">
                <c:v>-2.1384193781597025</c:v>
              </c:pt>
              <c:pt idx="43">
                <c:v>-2.060561182429887</c:v>
              </c:pt>
              <c:pt idx="44">
                <c:v>-1.884273714099858</c:v>
              </c:pt>
              <c:pt idx="45">
                <c:v>-1.6103568758215827</c:v>
              </c:pt>
              <c:pt idx="46">
                <c:v>-1.2390119086299398</c:v>
              </c:pt>
              <c:pt idx="47">
                <c:v>-0.7787947203818114</c:v>
              </c:pt>
              <c:pt idx="48">
                <c:v>-0.25906116749826796</c:v>
              </c:pt>
              <c:pt idx="49">
                <c:v>0.2749581434102528</c:v>
              </c:pt>
              <c:pt idx="50">
                <c:v>0.7796220408762977</c:v>
              </c:pt>
              <c:pt idx="51">
                <c:v>1.2210639809005415</c:v>
              </c:pt>
              <c:pt idx="52">
                <c:v>1.5771094015103577</c:v>
              </c:pt>
              <c:pt idx="53">
                <c:v>1.8340401306357026</c:v>
              </c:pt>
              <c:pt idx="54">
                <c:v>1.9851799834588901</c:v>
              </c:pt>
              <c:pt idx="55">
                <c:v>2.0304668970142012</c:v>
              </c:pt>
              <c:pt idx="56">
                <c:v>1.9730999986097637</c:v>
              </c:pt>
              <c:pt idx="57">
                <c:v>1.8163776090269907</c:v>
              </c:pt>
              <c:pt idx="58">
                <c:v>1.561963452623942</c:v>
              </c:pt>
              <c:pt idx="59">
                <c:v>1.2110328524735297</c:v>
              </c:pt>
              <c:pt idx="60">
                <c:v>0.7721318929569906</c:v>
              </c:pt>
              <c:pt idx="61">
                <c:v>0.2730312718298347</c:v>
              </c:pt>
              <c:pt idx="62">
                <c:v>-0.24244438258444234</c:v>
              </c:pt>
              <c:pt idx="63">
                <c:v>-0.7309863993512801</c:v>
              </c:pt>
              <c:pt idx="64">
                <c:v>-1.158516824850677</c:v>
              </c:pt>
              <c:pt idx="65">
                <c:v>-1.5021150190575585</c:v>
              </c:pt>
              <c:pt idx="66">
                <c:v>-1.7474971958338599</c:v>
              </c:pt>
              <c:pt idx="67">
                <c:v>-1.88776089281269</c:v>
              </c:pt>
              <c:pt idx="68">
                <c:v>-1.9226359178119459</c:v>
              </c:pt>
              <c:pt idx="69">
                <c:v>-1.855138388096012</c:v>
              </c:pt>
              <c:pt idx="70">
                <c:v>-1.6884410183656007</c:v>
              </c:pt>
              <c:pt idx="71">
                <c:v>-1.4244569507614513</c:v>
              </c:pt>
              <c:pt idx="72">
                <c:v>-1.0661307330551526</c:v>
              </c:pt>
              <c:pt idx="73">
                <c:v>-0.6265077015082008</c:v>
              </c:pt>
              <c:pt idx="74">
                <c:v>-0.13794919080381737</c:v>
              </c:pt>
              <c:pt idx="75">
                <c:v>0.3555367213569947</c:v>
              </c:pt>
              <c:pt idx="76">
                <c:v>0.8133458007789377</c:v>
              </c:pt>
              <c:pt idx="77">
                <c:v>1.204530731550252</c:v>
              </c:pt>
              <c:pt idx="78">
                <c:v>1.5083307876309826</c:v>
              </c:pt>
              <c:pt idx="79">
                <c:v>1.7121070290775913</c:v>
              </c:pt>
              <c:pt idx="80">
                <c:v>1.8108918591472125</c:v>
              </c:pt>
              <c:pt idx="81">
                <c:v>1.8055731554813277</c:v>
              </c:pt>
              <c:pt idx="82">
                <c:v>1.6993732336136822</c:v>
              </c:pt>
              <c:pt idx="83">
                <c:v>1.4952807849040386</c:v>
              </c:pt>
              <c:pt idx="84">
                <c:v>1.1959991437103143</c:v>
              </c:pt>
              <c:pt idx="85">
                <c:v>0.8091191077759856</c:v>
              </c:pt>
              <c:pt idx="86">
                <c:v>0.35732942083920965</c:v>
              </c:pt>
              <c:pt idx="87">
                <c:v>-0.12004338841388873</c:v>
              </c:pt>
              <c:pt idx="88">
                <c:v>-0.5804981018653014</c:v>
              </c:pt>
              <c:pt idx="89">
                <c:v>-0.9887741537849482</c:v>
              </c:pt>
              <c:pt idx="90">
                <c:v>-1.3195305569509292</c:v>
              </c:pt>
              <c:pt idx="91">
                <c:v>-1.5563290732994324</c:v>
              </c:pt>
              <c:pt idx="92">
                <c:v>-1.6906772141645012</c:v>
              </c:pt>
              <c:pt idx="93">
                <c:v>-1.7211069785755362</c:v>
              </c:pt>
              <c:pt idx="94">
                <c:v>-1.6500598924963523</c:v>
              </c:pt>
              <c:pt idx="95">
                <c:v>-1.4808206094277108</c:v>
              </c:pt>
              <c:pt idx="96">
                <c:v>-1.2165864927322265</c:v>
              </c:pt>
              <c:pt idx="97">
                <c:v>-0.8639536887257034</c:v>
              </c:pt>
              <c:pt idx="98">
                <c:v>-0.44176177183781756</c:v>
              </c:pt>
              <c:pt idx="99">
                <c:v>0.014513885198864263</c:v>
              </c:pt>
              <c:pt idx="100">
                <c:v>0.4631449494456137</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2.8"/>
        </c:scaling>
        <c:delete val="0"/>
        <c:axPos val="l"/>
        <c:majorGridlines>
          <c:spPr>
            <a:ln xmlns:a="http://schemas.openxmlformats.org/drawingml/2006/main" w="9525">
              <a:solidFill>
                <a:srgbClr val="E4E8EC"/>
              </a:solidFill>
            </a:ln>
          </c:spPr>
        </c:majorGridlines>
        <c:title>
          <c:tx>
            <c:rich>
              <a:bodyPr xmlns:a="http://schemas.openxmlformats.org/drawingml/2006/main"/>
              <a:lstStyle xmlns:a="http://schemas.openxmlformats.org/drawingml/2006/main"/>
              <a:p xmlns:a="http://schemas.openxmlformats.org/drawingml/2006/main">
                <a:r>
                  <a:rPr sz="1500">
                    <a:solidFill>
                      <a:srgbClr val="18202A"/>
                    </a:solidFill>
                    <a:latin typeface="Arial"/>
                    <a:ea typeface="Arial"/>
                    <a:cs typeface="Arial"/>
                  </a:rPr>
                  <a:t>Angle / rad</a:t>
                </a:r>
              </a:p>
            </c:rich>
          </c:tx>
          <c:overlay val="0"/>
          <c:txPr>
            <a:bodyPr xmlns:a="http://schemas.openxmlformats.org/drawingml/2006/main" anchorCtr="1"/>
            <a:lstStyle xmlns:a="http://schemas.openxmlformats.org/drawingml/2006/main"/>
            <a:p xmlns:a="http://schemas.openxmlformats.org/drawingml/2006/main">
              <a:pPr>
                <a:defRPr sz="1500">
                  <a:solidFill>
                    <a:srgbClr val="18202A"/>
                  </a:solidFill>
                  <a:latin typeface="Arial"/>
                  <a:ea typeface="Arial"/>
                  <a:cs typeface="Arial"/>
                </a:defRPr>
              </a:pPr>
            </a:p>
          </c:txPr>
        </c:title>
        <c:numFmt formatCode="General"/>
        <c:majorTickMark val="none"/>
        <c:minorTickMark val="none"/>
        <c:spPr>
          <a:ln xmlns:a="http://schemas.openxmlformats.org/drawingml/2006/main" w="9525">
            <a:solidFill>
              <a:srgbClr val="A6AFB9"/>
            </a:solidFill>
          </a:ln>
        </c:spPr>
        <c:txPr>
          <a:bodyPr xmlns:a="http://schemas.openxmlformats.org/drawingml/2006/main" anchorCtr="1"/>
          <a:lstStyle xmlns:a="http://schemas.openxmlformats.org/drawingml/2006/main"/>
          <a:p xmlns:a="http://schemas.openxmlformats.org/drawingml/2006/main">
            <a:pPr>
              <a:defRPr sz="1350">
                <a:solidFill>
                  <a:srgbClr val="535E6C"/>
                </a:solidFill>
                <a:latin typeface="Arial"/>
                <a:ea typeface="Arial"/>
                <a:cs typeface="Arial"/>
              </a:defRPr>
            </a:pPr>
          </a:p>
        </c:txPr>
        <c:crossAx val="48650112"/>
        <c:majorUnit val="2.8"/>
      </c:valAx>
      <c:valAx>
        <c:axId val="48650112"/>
        <c:scaling>
          <c:orientation val="minMax"/>
          <c:max val="10"/>
          <c:min val="0"/>
        </c:scaling>
        <c:delete val="0"/>
        <c:axPos val="b"/>
        <c:majorGridlines>
          <c:spPr>
            <a:ln xmlns:a="http://schemas.openxmlformats.org/drawingml/2006/main" w="9525">
              <a:solidFill>
                <a:srgbClr val="E4E8EC"/>
              </a:solidFill>
            </a:ln>
          </c:spPr>
        </c:majorGridlines>
        <c:title>
          <c:tx>
            <c:rich>
              <a:bodyPr xmlns:a="http://schemas.openxmlformats.org/drawingml/2006/main"/>
              <a:lstStyle xmlns:a="http://schemas.openxmlformats.org/drawingml/2006/main"/>
              <a:p xmlns:a="http://schemas.openxmlformats.org/drawingml/2006/main">
                <a:r>
                  <a:rPr sz="1500">
                    <a:solidFill>
                      <a:srgbClr val="18202A"/>
                    </a:solidFill>
                    <a:latin typeface="Arial"/>
                    <a:ea typeface="Arial"/>
                    <a:cs typeface="Arial"/>
                  </a:rPr>
                  <a:t>Time / s</a:t>
                </a:r>
              </a:p>
            </c:rich>
          </c:tx>
          <c:overlay val="0"/>
          <c:txPr>
            <a:bodyPr xmlns:a="http://schemas.openxmlformats.org/drawingml/2006/main" anchorCtr="1"/>
            <a:lstStyle xmlns:a="http://schemas.openxmlformats.org/drawingml/2006/main"/>
            <a:p xmlns:a="http://schemas.openxmlformats.org/drawingml/2006/main">
              <a:pPr>
                <a:defRPr sz="1500">
                  <a:solidFill>
                    <a:srgbClr val="18202A"/>
                  </a:solidFill>
                  <a:latin typeface="Arial"/>
                  <a:ea typeface="Arial"/>
                  <a:cs typeface="Arial"/>
                </a:defRPr>
              </a:pPr>
            </a:p>
          </c:txPr>
        </c:title>
        <c:numFmt formatCode="General"/>
        <c:majorTickMark val="none"/>
        <c:minorTickMark val="none"/>
        <c:tickLblPos val="low"/>
        <c:spPr>
          <a:ln xmlns:a="http://schemas.openxmlformats.org/drawingml/2006/main" w="9525">
            <a:solidFill>
              <a:srgbClr val="A6AFB9"/>
            </a:solidFill>
          </a:ln>
        </c:spPr>
        <c:txPr>
          <a:bodyPr xmlns:a="http://schemas.openxmlformats.org/drawingml/2006/main" anchorCtr="1"/>
          <a:lstStyle xmlns:a="http://schemas.openxmlformats.org/drawingml/2006/main"/>
          <a:p xmlns:a="http://schemas.openxmlformats.org/drawingml/2006/main">
            <a:pPr>
              <a:defRPr sz="1350">
                <a:solidFill>
                  <a:srgbClr val="535E6C"/>
                </a:solidFill>
                <a:latin typeface="Arial"/>
                <a:ea typeface="Arial"/>
                <a:cs typeface="Arial"/>
              </a:defRPr>
            </a:pPr>
          </a:p>
        </c:txPr>
        <c:crossAx val="48672768"/>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8202A"/>
              </a:solidFill>
              <a:latin typeface="Arial"/>
              <a:ea typeface="Arial"/>
              <a:cs typeface="Arial"/>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Median seconds</c:v>
          </c:tx>
          <c:spPr>
            <a:solidFill xmlns:a="http://schemas.openxmlformats.org/drawingml/2006/main">
              <a:srgbClr val="28775A"/>
            </a:solidFill>
          </c:spPr>
          <c:invertIfNegative val="0"/>
          <c:dPt>
            <c:idx val="0"/>
            <c:invertIfNegative val="0"/>
            <c:spPr>
              <a:solidFill xmlns:a="http://schemas.openxmlformats.org/drawingml/2006/main">
                <a:srgbClr val="28775A"/>
              </a:solidFill>
            </c:spPr>
          </c:dPt>
          <c:dPt>
            <c:idx val="1"/>
            <c:invertIfNegative val="0"/>
            <c:spPr>
              <a:solidFill xmlns:a="http://schemas.openxmlformats.org/drawingml/2006/main">
                <a:srgbClr val="CB532C"/>
              </a:solidFill>
            </c:spPr>
          </c:dPt>
          <c:cat>
            <c:strLit>
              <c:ptCount val="2"/>
              <c:pt idx="0">
                <c:v>Rust ndarray</c:v>
              </c:pt>
              <c:pt idx="1">
                <c:v>Python NumPy</c:v>
              </c:pt>
            </c:strLit>
          </c:cat>
          <c:val>
            <c:numLit>
              <c:formatCode>0.0</c:formatCode>
              <c:ptCount val="2"/>
              <c:pt idx="0">
                <c:v>1.0556732</c:v>
              </c:pt>
              <c:pt idx="1">
                <c:v>2.469241200014949</c:v>
              </c:pt>
            </c:numLit>
          </c:val>
        </c:ser>
        <c:dLbls>
          <c:numFmt formatCode="0.000" sourceLinked="0"/>
          <c:txPr>
            <a:bodyPr xmlns:a="http://schemas.openxmlformats.org/drawingml/2006/main" anchorCtr="1"/>
            <a:lstStyle xmlns:a="http://schemas.openxmlformats.org/drawingml/2006/main"/>
            <a:p xmlns:a="http://schemas.openxmlformats.org/drawingml/2006/main">
              <a:pPr>
                <a:defRPr sz="1725">
                  <a:solidFill>
                    <a:srgbClr val="18202A"/>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18202A"/>
                    </a:solidFill>
                    <a:latin typeface="Arial"/>
                    <a:ea typeface="Arial"/>
                    <a:cs typeface="Arial"/>
                  </a:rPr>
                  <a:t>Implementation</a:t>
                </a:r>
              </a:p>
            </c:rich>
          </c:tx>
          <c:overlay val="0"/>
          <c:txPr>
            <a:bodyPr xmlns:a="http://schemas.openxmlformats.org/drawingml/2006/main" anchorCtr="1"/>
            <a:lstStyle xmlns:a="http://schemas.openxmlformats.org/drawingml/2006/main"/>
            <a:p xmlns:a="http://schemas.openxmlformats.org/drawingml/2006/main">
              <a:pPr>
                <a:defRPr sz="1500">
                  <a:solidFill>
                    <a:srgbClr val="18202A"/>
                  </a:solidFill>
                  <a:latin typeface="Arial"/>
                  <a:ea typeface="Arial"/>
                  <a:cs typeface="Arial"/>
                </a:defRPr>
              </a:pPr>
            </a:p>
          </c:txPr>
        </c:title>
        <c:numFmt formatCode="General"/>
        <c:majorTickMark val="none"/>
        <c:minorTickMark val="none"/>
        <c:spPr>
          <a:ln xmlns:a="http://schemas.openxmlformats.org/drawingml/2006/main" w="9525">
            <a:solidFill>
              <a:srgbClr val="A6AFB9"/>
            </a:solidFill>
          </a:ln>
        </c:spPr>
        <c:txPr>
          <a:bodyPr xmlns:a="http://schemas.openxmlformats.org/drawingml/2006/main" anchorCtr="1"/>
          <a:lstStyle xmlns:a="http://schemas.openxmlformats.org/drawingml/2006/main"/>
          <a:p xmlns:a="http://schemas.openxmlformats.org/drawingml/2006/main">
            <a:pPr>
              <a:defRPr sz="1350">
                <a:solidFill>
                  <a:srgbClr val="535E6C"/>
                </a:solidFill>
                <a:latin typeface="Arial"/>
                <a:ea typeface="Arial"/>
                <a:cs typeface="Arial"/>
              </a:defRPr>
            </a:pPr>
          </a:p>
        </c:txPr>
        <c:crossAx val="48672768"/>
      </c:catAx>
      <c:valAx>
        <c:axId val="48672768"/>
        <c:scaling>
          <c:orientation val="minMax"/>
          <c:max val="3"/>
          <c:min val="0"/>
        </c:scaling>
        <c:delete val="0"/>
        <c:axPos val="l"/>
        <c:majorGridlines>
          <c:spPr>
            <a:ln xmlns:a="http://schemas.openxmlformats.org/drawingml/2006/main" w="9525">
              <a:solidFill>
                <a:srgbClr val="E4E8EC"/>
              </a:solidFill>
            </a:ln>
          </c:spPr>
        </c:majorGridlines>
        <c:title>
          <c:tx>
            <c:rich>
              <a:bodyPr xmlns:a="http://schemas.openxmlformats.org/drawingml/2006/main"/>
              <a:lstStyle xmlns:a="http://schemas.openxmlformats.org/drawingml/2006/main"/>
              <a:p xmlns:a="http://schemas.openxmlformats.org/drawingml/2006/main">
                <a:r>
                  <a:rPr sz="1500">
                    <a:solidFill>
                      <a:srgbClr val="18202A"/>
                    </a:solidFill>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sz="1500">
                  <a:solidFill>
                    <a:srgbClr val="18202A"/>
                  </a:solidFill>
                  <a:latin typeface="Arial"/>
                  <a:ea typeface="Arial"/>
                  <a:cs typeface="Arial"/>
                </a:defRPr>
              </a:pPr>
            </a:p>
          </c:txPr>
        </c:title>
        <c:numFmt formatCode="0.0"/>
        <c:majorTickMark val="none"/>
        <c:minorTickMark val="none"/>
        <c:spPr>
          <a:ln xmlns:a="http://schemas.openxmlformats.org/drawingml/2006/main" w="9525">
            <a:solidFill>
              <a:srgbClr val="A6AFB9"/>
            </a:solidFill>
          </a:ln>
        </c:spPr>
        <c:txPr>
          <a:bodyPr xmlns:a="http://schemas.openxmlformats.org/drawingml/2006/main" anchorCtr="1"/>
          <a:lstStyle xmlns:a="http://schemas.openxmlformats.org/drawingml/2006/main"/>
          <a:p xmlns:a="http://schemas.openxmlformats.org/drawingml/2006/main">
            <a:pPr>
              <a:defRPr sz="1350">
                <a:solidFill>
                  <a:srgbClr val="535E6C"/>
                </a:solidFill>
                <a:latin typeface="Arial"/>
                <a:ea typeface="Arial"/>
                <a:cs typeface="Arial"/>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CA3A63-3A98-418D-917E-E6A52E915855}"/>
              </a:ext>
            </a:extLst>
          </p:cNvPr>
          <p:cNvSpPr>
            <a:spLocks xmlns:a="http://schemas.openxmlformats.org/drawingml/2006/main" noGrp="1"/>
          </p:cNvSpPr>
          <p:nvPr/>
        </p:nvSpPr>
        <p:spPr>
          <a:xfrm xmlns:a="http://schemas.openxmlformats.org/drawingml/2006/main">
            <a:off x="609600" y="476250"/>
            <a:ext cx="109728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500" b="1">
                <a:solidFill>
                  <a:srgbClr val="18202A"/>
                </a:solidFill>
                <a:latin typeface="Arial"/>
                <a:ea typeface="Arial"/>
                <a:cs typeface="Arial"/>
              </a:defRPr>
            </a:defPPr>
            <a:lvl1pPr>
              <a:defRPr sz="4500" b="1">
                <a:solidFill>
                  <a:srgbClr val="18202A"/>
                </a:solidFill>
                <a:latin typeface="Arial"/>
                <a:ea typeface="Arial"/>
                <a:cs typeface="Arial"/>
              </a:defRPr>
            </a:lvl1pPr>
            <a:lvl2pPr>
              <a:defRPr sz="4500" b="1">
                <a:solidFill>
                  <a:srgbClr val="18202A"/>
                </a:solidFill>
                <a:latin typeface="Arial"/>
                <a:ea typeface="Arial"/>
                <a:cs typeface="Arial"/>
              </a:defRPr>
            </a:lvl2pPr>
            <a:lvl3pPr>
              <a:defRPr sz="4500" b="1">
                <a:solidFill>
                  <a:srgbClr val="18202A"/>
                </a:solidFill>
                <a:latin typeface="Arial"/>
                <a:ea typeface="Arial"/>
                <a:cs typeface="Arial"/>
              </a:defRPr>
            </a:lvl3pPr>
            <a:lvl4pPr>
              <a:defRPr sz="4500" b="1">
                <a:solidFill>
                  <a:srgbClr val="18202A"/>
                </a:solidFill>
                <a:latin typeface="Arial"/>
                <a:ea typeface="Arial"/>
                <a:cs typeface="Arial"/>
              </a:defRPr>
            </a:lvl4pPr>
            <a:lvl5pPr>
              <a:defRPr sz="4500" b="1">
                <a:solidFill>
                  <a:srgbClr val="18202A"/>
                </a:solidFill>
                <a:latin typeface="Arial"/>
                <a:ea typeface="Arial"/>
                <a:cs typeface="Arial"/>
              </a:defRPr>
            </a:lvl5pPr>
            <a:lvl6pPr>
              <a:defRPr sz="4500" b="1">
                <a:solidFill>
                  <a:srgbClr val="18202A"/>
                </a:solidFill>
                <a:latin typeface="Arial"/>
                <a:ea typeface="Arial"/>
                <a:cs typeface="Arial"/>
              </a:defRPr>
            </a:lvl6pPr>
            <a:lvl7pPr>
              <a:defRPr sz="4500" b="1">
                <a:solidFill>
                  <a:srgbClr val="18202A"/>
                </a:solidFill>
                <a:latin typeface="Arial"/>
                <a:ea typeface="Arial"/>
                <a:cs typeface="Arial"/>
              </a:defRPr>
            </a:lvl7pPr>
            <a:lvl8pPr>
              <a:defRPr sz="4500" b="1">
                <a:solidFill>
                  <a:srgbClr val="18202A"/>
                </a:solidFill>
                <a:latin typeface="Arial"/>
                <a:ea typeface="Arial"/>
                <a:cs typeface="Arial"/>
              </a:defRPr>
            </a:lvl8pPr>
            <a:lvl9pPr>
              <a:defRPr sz="4500" b="1">
                <a:solidFill>
                  <a:srgbClr val="18202A"/>
                </a:solidFill>
                <a:latin typeface="Arial"/>
                <a:ea typeface="Arial"/>
                <a:cs typeface="Arial"/>
              </a:defRPr>
            </a:lvl9pPr>
          </a:lstStyle>
          <a:p xmlns:a="http://schemas.openxmlformats.org/drawingml/2006/main">
            <a:pPr>
              <a:defRPr sz="4500" b="1">
                <a:solidFill>
                  <a:srgbClr val="18202A"/>
                </a:solidFill>
                <a:latin typeface="Arial"/>
                <a:ea typeface="Arial"/>
                <a:cs typeface="Arial"/>
              </a:defRPr>
            </a:pPr>
            <a:r>
              <a:rPr sz="4500" b="1">
                <a:solidFill>
                  <a:srgbClr val="18202A"/>
                </a:solidFill>
                <a:latin typeface="Arial"/>
                <a:ea typeface="Arial"/>
                <a:cs typeface="Arial"/>
              </a:rPr>
              <a:t>Neural Network from Scratch</a:t>
            </a:r>
          </a:p>
          <a:p xmlns:a="http://schemas.openxmlformats.org/drawingml/2006/main">
            <a:pPr>
              <a:defRPr sz="4500" b="1">
                <a:solidFill>
                  <a:srgbClr val="18202A"/>
                </a:solidFill>
                <a:latin typeface="Arial"/>
                <a:ea typeface="Arial"/>
                <a:cs typeface="Arial"/>
              </a:defRPr>
            </a:pPr>
            <a:r>
              <a:rPr sz="4500" b="1">
                <a:solidFill>
                  <a:srgbClr val="18202A"/>
                </a:solidFill>
                <a:latin typeface="Arial"/>
                <a:ea typeface="Arial"/>
                <a:cs typeface="Arial"/>
              </a:rPr>
              <a:t>for ODE Solving</a:t>
            </a:r>
          </a:p>
        </p:txBody>
      </p:sp>
      <p:sp>
        <p:nvSpPr>
          <p:cNvPr id="2" name="">
            <a:extLst xmlns:a="http://schemas.openxmlformats.org/drawingml/2006/main">
              <a:ext uri="{FF2B5EF4-FFF2-40B4-BE49-F238E27FC236}">
                <a16:creationId xmlns:a16="http://schemas.microsoft.com/office/drawing/2014/main" id="{63CD3E54-F9BD-43E3-B2DE-73A50F93C4F2}"/>
              </a:ext>
            </a:extLst>
          </p:cNvPr>
          <p:cNvSpPr>
            <a:spLocks xmlns:a="http://schemas.openxmlformats.org/drawingml/2006/main" noGrp="1"/>
          </p:cNvSpPr>
          <p:nvPr/>
        </p:nvSpPr>
        <p:spPr>
          <a:xfrm xmlns:a="http://schemas.openxmlformats.org/drawingml/2006/main">
            <a:off x="647700" y="2143125"/>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535E6C"/>
                </a:solidFill>
                <a:latin typeface="Arial"/>
                <a:ea typeface="Arial"/>
                <a:cs typeface="Arial"/>
              </a:defRPr>
            </a:defPPr>
            <a:lvl1pPr>
              <a:defRPr sz="2100" b="0">
                <a:solidFill>
                  <a:srgbClr val="535E6C"/>
                </a:solidFill>
                <a:latin typeface="Arial"/>
                <a:ea typeface="Arial"/>
                <a:cs typeface="Arial"/>
              </a:defRPr>
            </a:lvl1pPr>
            <a:lvl2pPr>
              <a:defRPr sz="2100" b="0">
                <a:solidFill>
                  <a:srgbClr val="535E6C"/>
                </a:solidFill>
                <a:latin typeface="Arial"/>
                <a:ea typeface="Arial"/>
                <a:cs typeface="Arial"/>
              </a:defRPr>
            </a:lvl2pPr>
            <a:lvl3pPr>
              <a:defRPr sz="2100" b="0">
                <a:solidFill>
                  <a:srgbClr val="535E6C"/>
                </a:solidFill>
                <a:latin typeface="Arial"/>
                <a:ea typeface="Arial"/>
                <a:cs typeface="Arial"/>
              </a:defRPr>
            </a:lvl3pPr>
            <a:lvl4pPr>
              <a:defRPr sz="2100" b="0">
                <a:solidFill>
                  <a:srgbClr val="535E6C"/>
                </a:solidFill>
                <a:latin typeface="Arial"/>
                <a:ea typeface="Arial"/>
                <a:cs typeface="Arial"/>
              </a:defRPr>
            </a:lvl4pPr>
            <a:lvl5pPr>
              <a:defRPr sz="2100" b="0">
                <a:solidFill>
                  <a:srgbClr val="535E6C"/>
                </a:solidFill>
                <a:latin typeface="Arial"/>
                <a:ea typeface="Arial"/>
                <a:cs typeface="Arial"/>
              </a:defRPr>
            </a:lvl5pPr>
            <a:lvl6pPr>
              <a:defRPr sz="2100" b="0">
                <a:solidFill>
                  <a:srgbClr val="535E6C"/>
                </a:solidFill>
                <a:latin typeface="Arial"/>
                <a:ea typeface="Arial"/>
                <a:cs typeface="Arial"/>
              </a:defRPr>
            </a:lvl6pPr>
            <a:lvl7pPr>
              <a:defRPr sz="2100" b="0">
                <a:solidFill>
                  <a:srgbClr val="535E6C"/>
                </a:solidFill>
                <a:latin typeface="Arial"/>
                <a:ea typeface="Arial"/>
                <a:cs typeface="Arial"/>
              </a:defRPr>
            </a:lvl7pPr>
            <a:lvl8pPr>
              <a:defRPr sz="2100" b="0">
                <a:solidFill>
                  <a:srgbClr val="535E6C"/>
                </a:solidFill>
                <a:latin typeface="Arial"/>
                <a:ea typeface="Arial"/>
                <a:cs typeface="Arial"/>
              </a:defRPr>
            </a:lvl8pPr>
            <a:lvl9pPr>
              <a:defRPr sz="2100" b="0">
                <a:solidFill>
                  <a:srgbClr val="535E6C"/>
                </a:solidFill>
                <a:latin typeface="Arial"/>
                <a:ea typeface="Arial"/>
                <a:cs typeface="Arial"/>
              </a:defRPr>
            </a:lvl9pPr>
          </a:lstStyle>
          <a:p xmlns:a="http://schemas.openxmlformats.org/drawingml/2006/main">
            <a:pPr>
              <a:defRPr sz="2100" b="0">
                <a:solidFill>
                  <a:srgbClr val="535E6C"/>
                </a:solidFill>
                <a:latin typeface="Arial"/>
                <a:ea typeface="Arial"/>
                <a:cs typeface="Arial"/>
              </a:defRPr>
            </a:pPr>
            <a:r>
              <a:rPr sz="2100" b="0">
                <a:solidFill>
                  <a:srgbClr val="535E6C"/>
                </a:solidFill>
                <a:latin typeface="Arial"/>
                <a:ea typeface="Arial"/>
                <a:cs typeface="Arial"/>
              </a:rPr>
              <a:t>Team 11</a:t>
            </a:r>
          </a:p>
          <a:p xmlns:a="http://schemas.openxmlformats.org/drawingml/2006/main">
            <a:pPr>
              <a:defRPr sz="2100" b="0">
                <a:solidFill>
                  <a:srgbClr val="535E6C"/>
                </a:solidFill>
                <a:latin typeface="Arial"/>
                <a:ea typeface="Arial"/>
                <a:cs typeface="Arial"/>
              </a:defRPr>
            </a:pPr>
            <a:r>
              <a:rPr sz="2100" b="0">
                <a:solidFill>
                  <a:srgbClr val="535E6C"/>
                </a:solidFill>
                <a:latin typeface="Arial"/>
                <a:ea typeface="Arial"/>
                <a:cs typeface="Arial"/>
              </a:rPr>
              <a:t>Course 35-380</a:t>
            </a:r>
          </a:p>
        </p:txBody>
      </p:sp>
      <p:sp>
        <p:nvSpPr>
          <p:cNvPr id="3" name="">
            <a:extLst xmlns:a="http://schemas.openxmlformats.org/drawingml/2006/main">
              <a:ext uri="{FF2B5EF4-FFF2-40B4-BE49-F238E27FC236}">
                <a16:creationId xmlns:a16="http://schemas.microsoft.com/office/drawing/2014/main" id="{F312E1A6-A7F4-41DD-B076-979F1AC03868}"/>
              </a:ext>
            </a:extLst>
          </p:cNvPr>
          <p:cNvSpPr>
            <a:spLocks xmlns:a="http://schemas.openxmlformats.org/drawingml/2006/main" noGrp="1"/>
          </p:cNvSpPr>
          <p:nvPr/>
        </p:nvSpPr>
        <p:spPr>
          <a:xfrm xmlns:a="http://schemas.openxmlformats.org/drawingml/2006/main">
            <a:off x="647700" y="33813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400" b="1">
                <a:solidFill>
                  <a:srgbClr val="245BC2"/>
                </a:solidFill>
                <a:latin typeface="Arial"/>
                <a:ea typeface="Arial"/>
                <a:cs typeface="Arial"/>
              </a:defRPr>
            </a:defPPr>
            <a:lvl1pPr>
              <a:defRPr sz="5400" b="1">
                <a:solidFill>
                  <a:srgbClr val="245BC2"/>
                </a:solidFill>
                <a:latin typeface="Arial"/>
                <a:ea typeface="Arial"/>
                <a:cs typeface="Arial"/>
              </a:defRPr>
            </a:lvl1pPr>
            <a:lvl2pPr>
              <a:defRPr sz="5400" b="1">
                <a:solidFill>
                  <a:srgbClr val="245BC2"/>
                </a:solidFill>
                <a:latin typeface="Arial"/>
                <a:ea typeface="Arial"/>
                <a:cs typeface="Arial"/>
              </a:defRPr>
            </a:lvl2pPr>
            <a:lvl3pPr>
              <a:defRPr sz="5400" b="1">
                <a:solidFill>
                  <a:srgbClr val="245BC2"/>
                </a:solidFill>
                <a:latin typeface="Arial"/>
                <a:ea typeface="Arial"/>
                <a:cs typeface="Arial"/>
              </a:defRPr>
            </a:lvl3pPr>
            <a:lvl4pPr>
              <a:defRPr sz="5400" b="1">
                <a:solidFill>
                  <a:srgbClr val="245BC2"/>
                </a:solidFill>
                <a:latin typeface="Arial"/>
                <a:ea typeface="Arial"/>
                <a:cs typeface="Arial"/>
              </a:defRPr>
            </a:lvl4pPr>
            <a:lvl5pPr>
              <a:defRPr sz="5400" b="1">
                <a:solidFill>
                  <a:srgbClr val="245BC2"/>
                </a:solidFill>
                <a:latin typeface="Arial"/>
                <a:ea typeface="Arial"/>
                <a:cs typeface="Arial"/>
              </a:defRPr>
            </a:lvl5pPr>
            <a:lvl6pPr>
              <a:defRPr sz="5400" b="1">
                <a:solidFill>
                  <a:srgbClr val="245BC2"/>
                </a:solidFill>
                <a:latin typeface="Arial"/>
                <a:ea typeface="Arial"/>
                <a:cs typeface="Arial"/>
              </a:defRPr>
            </a:lvl6pPr>
            <a:lvl7pPr>
              <a:defRPr sz="5400" b="1">
                <a:solidFill>
                  <a:srgbClr val="245BC2"/>
                </a:solidFill>
                <a:latin typeface="Arial"/>
                <a:ea typeface="Arial"/>
                <a:cs typeface="Arial"/>
              </a:defRPr>
            </a:lvl7pPr>
            <a:lvl8pPr>
              <a:defRPr sz="5400" b="1">
                <a:solidFill>
                  <a:srgbClr val="245BC2"/>
                </a:solidFill>
                <a:latin typeface="Arial"/>
                <a:ea typeface="Arial"/>
                <a:cs typeface="Arial"/>
              </a:defRPr>
            </a:lvl8pPr>
            <a:lvl9pPr>
              <a:defRPr sz="5400" b="1">
                <a:solidFill>
                  <a:srgbClr val="245BC2"/>
                </a:solidFill>
                <a:latin typeface="Arial"/>
                <a:ea typeface="Arial"/>
                <a:cs typeface="Arial"/>
              </a:defRPr>
            </a:lvl9pPr>
          </a:lstStyle>
          <a:p xmlns:a="http://schemas.openxmlformats.org/drawingml/2006/main">
            <a:pPr>
              <a:defRPr sz="5400" b="1">
                <a:solidFill>
                  <a:srgbClr val="245BC2"/>
                </a:solidFill>
                <a:latin typeface="Arial"/>
                <a:ea typeface="Arial"/>
                <a:cs typeface="Arial"/>
              </a:defRPr>
            </a:pPr>
            <a:r>
              <a:rPr sz="5400" b="1">
                <a:solidFill>
                  <a:srgbClr val="245BC2"/>
                </a:solidFill>
                <a:latin typeface="Arial"/>
                <a:ea typeface="Arial"/>
                <a:cs typeface="Arial"/>
              </a:rPr>
              <a:t>99.10%</a:t>
            </a:r>
          </a:p>
        </p:txBody>
      </p:sp>
      <p:sp>
        <p:nvSpPr>
          <p:cNvPr id="4" name="">
            <a:extLst xmlns:a="http://schemas.openxmlformats.org/drawingml/2006/main">
              <a:ext uri="{FF2B5EF4-FFF2-40B4-BE49-F238E27FC236}">
                <a16:creationId xmlns:a16="http://schemas.microsoft.com/office/drawing/2014/main" id="{31BB1F02-D55E-47D5-BAAD-79C646D0591F}"/>
              </a:ext>
            </a:extLst>
          </p:cNvPr>
          <p:cNvSpPr>
            <a:spLocks xmlns:a="http://schemas.openxmlformats.org/drawingml/2006/main" noGrp="1"/>
          </p:cNvSpPr>
          <p:nvPr/>
        </p:nvSpPr>
        <p:spPr>
          <a:xfrm xmlns:a="http://schemas.openxmlformats.org/drawingml/2006/main">
            <a:off x="666750" y="4362450"/>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8202A"/>
                </a:solidFill>
                <a:latin typeface="Arial"/>
                <a:ea typeface="Arial"/>
                <a:cs typeface="Arial"/>
              </a:defRPr>
            </a:defPPr>
            <a:lvl1pPr>
              <a:defRPr sz="2025" b="0">
                <a:solidFill>
                  <a:srgbClr val="18202A"/>
                </a:solidFill>
                <a:latin typeface="Arial"/>
                <a:ea typeface="Arial"/>
                <a:cs typeface="Arial"/>
              </a:defRPr>
            </a:lvl1pPr>
            <a:lvl2pPr>
              <a:defRPr sz="2025" b="0">
                <a:solidFill>
                  <a:srgbClr val="18202A"/>
                </a:solidFill>
                <a:latin typeface="Arial"/>
                <a:ea typeface="Arial"/>
                <a:cs typeface="Arial"/>
              </a:defRPr>
            </a:lvl2pPr>
            <a:lvl3pPr>
              <a:defRPr sz="2025" b="0">
                <a:solidFill>
                  <a:srgbClr val="18202A"/>
                </a:solidFill>
                <a:latin typeface="Arial"/>
                <a:ea typeface="Arial"/>
                <a:cs typeface="Arial"/>
              </a:defRPr>
            </a:lvl3pPr>
            <a:lvl4pPr>
              <a:defRPr sz="2025" b="0">
                <a:solidFill>
                  <a:srgbClr val="18202A"/>
                </a:solidFill>
                <a:latin typeface="Arial"/>
                <a:ea typeface="Arial"/>
                <a:cs typeface="Arial"/>
              </a:defRPr>
            </a:lvl4pPr>
            <a:lvl5pPr>
              <a:defRPr sz="2025" b="0">
                <a:solidFill>
                  <a:srgbClr val="18202A"/>
                </a:solidFill>
                <a:latin typeface="Arial"/>
                <a:ea typeface="Arial"/>
                <a:cs typeface="Arial"/>
              </a:defRPr>
            </a:lvl5pPr>
            <a:lvl6pPr>
              <a:defRPr sz="2025" b="0">
                <a:solidFill>
                  <a:srgbClr val="18202A"/>
                </a:solidFill>
                <a:latin typeface="Arial"/>
                <a:ea typeface="Arial"/>
                <a:cs typeface="Arial"/>
              </a:defRPr>
            </a:lvl6pPr>
            <a:lvl7pPr>
              <a:defRPr sz="2025" b="0">
                <a:solidFill>
                  <a:srgbClr val="18202A"/>
                </a:solidFill>
                <a:latin typeface="Arial"/>
                <a:ea typeface="Arial"/>
                <a:cs typeface="Arial"/>
              </a:defRPr>
            </a:lvl7pPr>
            <a:lvl8pPr>
              <a:defRPr sz="2025" b="0">
                <a:solidFill>
                  <a:srgbClr val="18202A"/>
                </a:solidFill>
                <a:latin typeface="Arial"/>
                <a:ea typeface="Arial"/>
                <a:cs typeface="Arial"/>
              </a:defRPr>
            </a:lvl8pPr>
            <a:lvl9pPr>
              <a:defRPr sz="2025" b="0">
                <a:solidFill>
                  <a:srgbClr val="18202A"/>
                </a:solidFill>
                <a:latin typeface="Arial"/>
                <a:ea typeface="Arial"/>
                <a:cs typeface="Arial"/>
              </a:defRPr>
            </a:lvl9pPr>
          </a:lstStyle>
          <a:p xmlns:a="http://schemas.openxmlformats.org/drawingml/2006/main">
            <a:pPr>
              <a:defRPr sz="2025" b="0">
                <a:solidFill>
                  <a:srgbClr val="18202A"/>
                </a:solidFill>
                <a:latin typeface="Arial"/>
                <a:ea typeface="Arial"/>
                <a:cs typeface="Arial"/>
              </a:defRPr>
            </a:pPr>
            <a:r>
              <a:rPr sz="2025" b="0">
                <a:solidFill>
                  <a:srgbClr val="18202A"/>
                </a:solidFill>
                <a:latin typeface="Arial"/>
                <a:ea typeface="Arial"/>
                <a:cs typeface="Arial"/>
              </a:rPr>
              <a:t>lower one-step standardized RMSE</a:t>
            </a:r>
          </a:p>
          <a:p xmlns:a="http://schemas.openxmlformats.org/drawingml/2006/main">
            <a:pPr>
              <a:defRPr sz="2025" b="0">
                <a:solidFill>
                  <a:srgbClr val="18202A"/>
                </a:solidFill>
                <a:latin typeface="Arial"/>
                <a:ea typeface="Arial"/>
                <a:cs typeface="Arial"/>
              </a:defRPr>
            </a:pPr>
            <a:r>
              <a:rPr sz="2025" b="0">
                <a:solidFill>
                  <a:srgbClr val="18202A"/>
                </a:solidFill>
                <a:latin typeface="Arial"/>
                <a:ea typeface="Arial"/>
                <a:cs typeface="Arial"/>
              </a:rPr>
              <a:t>than predicting no motion</a:t>
            </a:r>
          </a:p>
        </p:txBody>
      </p:sp>
      <p:pic>
        <p:nvPicPr>
          <p:cNvPr id="5" name="">
            <a:extLst xmlns:a="http://schemas.openxmlformats.org/drawingml/2006/main">
              <a:ext uri="{FF2B5EF4-FFF2-40B4-BE49-F238E27FC236}">
                <a16:creationId xmlns:a16="http://schemas.microsoft.com/office/drawing/2014/main" id="{D8313FA8-1701-493E-8A7F-5539A5068CE3}"/>
              </a:ext>
            </a:extLst>
          </p:cNvPr>
          <p:cNvPicPr>
            <a:picLocks xmlns:a="http://schemas.openxmlformats.org/drawingml/2006/main" noChangeAspect="1"/>
          </p:cNvPicPr>
          <p:nvPr/>
        </p:nvPicPr>
        <p:blipFill>
          <a:blip xmlns:r="http://schemas.openxmlformats.org/officeDocument/2006/relationships" xmlns:a="http://schemas.openxmlformats.org/drawingml/2006/main" r:embed="Rf513bbcbd78d4780"/>
          <a:stretch xmlns:a="http://schemas.openxmlformats.org/drawingml/2006/main"/>
        </p:blipFill>
        <p:spPr>
          <a:xfrm xmlns:a="http://schemas.openxmlformats.org/drawingml/2006/main">
            <a:off x="5334000" y="2095500"/>
            <a:ext cx="6248400"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3BB58DA-83F2-4776-9BCB-44EA7C55FB28}"/>
              </a:ext>
            </a:extLst>
          </p:cNvPr>
          <p:cNvSpPr>
            <a:spLocks xmlns:a="http://schemas.openxmlformats.org/drawingml/2006/main" noGrp="1"/>
          </p:cNvSpPr>
          <p:nvPr/>
        </p:nvSpPr>
        <p:spPr>
          <a:xfrm xmlns:a="http://schemas.openxmlformats.org/drawingml/2006/main">
            <a:off x="647700" y="60579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535E6C"/>
                </a:solidFill>
                <a:latin typeface="Arial"/>
                <a:ea typeface="Arial"/>
                <a:cs typeface="Arial"/>
              </a:defRPr>
            </a:defPPr>
            <a:lvl1pPr>
              <a:defRPr sz="1875" b="0">
                <a:solidFill>
                  <a:srgbClr val="535E6C"/>
                </a:solidFill>
                <a:latin typeface="Arial"/>
                <a:ea typeface="Arial"/>
                <a:cs typeface="Arial"/>
              </a:defRPr>
            </a:lvl1pPr>
            <a:lvl2pPr>
              <a:defRPr sz="1875" b="0">
                <a:solidFill>
                  <a:srgbClr val="535E6C"/>
                </a:solidFill>
                <a:latin typeface="Arial"/>
                <a:ea typeface="Arial"/>
                <a:cs typeface="Arial"/>
              </a:defRPr>
            </a:lvl2pPr>
            <a:lvl3pPr>
              <a:defRPr sz="1875" b="0">
                <a:solidFill>
                  <a:srgbClr val="535E6C"/>
                </a:solidFill>
                <a:latin typeface="Arial"/>
                <a:ea typeface="Arial"/>
                <a:cs typeface="Arial"/>
              </a:defRPr>
            </a:lvl3pPr>
            <a:lvl4pPr>
              <a:defRPr sz="1875" b="0">
                <a:solidFill>
                  <a:srgbClr val="535E6C"/>
                </a:solidFill>
                <a:latin typeface="Arial"/>
                <a:ea typeface="Arial"/>
                <a:cs typeface="Arial"/>
              </a:defRPr>
            </a:lvl4pPr>
            <a:lvl5pPr>
              <a:defRPr sz="1875" b="0">
                <a:solidFill>
                  <a:srgbClr val="535E6C"/>
                </a:solidFill>
                <a:latin typeface="Arial"/>
                <a:ea typeface="Arial"/>
                <a:cs typeface="Arial"/>
              </a:defRPr>
            </a:lvl5pPr>
            <a:lvl6pPr>
              <a:defRPr sz="1875" b="0">
                <a:solidFill>
                  <a:srgbClr val="535E6C"/>
                </a:solidFill>
                <a:latin typeface="Arial"/>
                <a:ea typeface="Arial"/>
                <a:cs typeface="Arial"/>
              </a:defRPr>
            </a:lvl6pPr>
            <a:lvl7pPr>
              <a:defRPr sz="1875" b="0">
                <a:solidFill>
                  <a:srgbClr val="535E6C"/>
                </a:solidFill>
                <a:latin typeface="Arial"/>
                <a:ea typeface="Arial"/>
                <a:cs typeface="Arial"/>
              </a:defRPr>
            </a:lvl7pPr>
            <a:lvl8pPr>
              <a:defRPr sz="1875" b="0">
                <a:solidFill>
                  <a:srgbClr val="535E6C"/>
                </a:solidFill>
                <a:latin typeface="Arial"/>
                <a:ea typeface="Arial"/>
                <a:cs typeface="Arial"/>
              </a:defRPr>
            </a:lvl8pPr>
            <a:lvl9pPr>
              <a:defRPr sz="1875" b="0">
                <a:solidFill>
                  <a:srgbClr val="535E6C"/>
                </a:solidFill>
                <a:latin typeface="Arial"/>
                <a:ea typeface="Arial"/>
                <a:cs typeface="Arial"/>
              </a:defRPr>
            </a:lvl9pPr>
          </a:lstStyle>
          <a:p xmlns:a="http://schemas.openxmlformats.org/drawingml/2006/main">
            <a:pPr>
              <a:defRPr sz="1875" b="0">
                <a:solidFill>
                  <a:srgbClr val="535E6C"/>
                </a:solidFill>
                <a:latin typeface="Arial"/>
                <a:ea typeface="Arial"/>
                <a:cs typeface="Arial"/>
              </a:defRPr>
            </a:pPr>
            <a:r>
              <a:rPr sz="1875" b="0">
                <a:solidFill>
                  <a:srgbClr val="535E6C"/>
                </a:solidFill>
                <a:latin typeface="Arial"/>
                <a:ea typeface="Arial"/>
                <a:cs typeface="Arial"/>
              </a:rPr>
              <a:t>Manual gradients and an offline pendulum comparison.</a:t>
            </a:r>
          </a:p>
        </p:txBody>
      </p:sp>
    </p:spTree>
    <p:extLst>
      <p:ext uri="{BB962C8B-B14F-4D97-AF65-F5344CB8AC3E}">
        <p14:creationId xmlns:p14="http://schemas.microsoft.com/office/powerpoint/2010/main" val="13628060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3B05E8-BAF6-4425-B50E-4C5078FA6BA9}"/>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02A"/>
                </a:solidFill>
                <a:latin typeface="Arial"/>
                <a:ea typeface="Arial"/>
                <a:cs typeface="Arial"/>
              </a:defRPr>
            </a:defPPr>
            <a:lvl1pPr>
              <a:defRPr sz="3300" b="1">
                <a:solidFill>
                  <a:srgbClr val="18202A"/>
                </a:solidFill>
                <a:latin typeface="Arial"/>
                <a:ea typeface="Arial"/>
                <a:cs typeface="Arial"/>
              </a:defRPr>
            </a:lvl1pPr>
            <a:lvl2pPr>
              <a:defRPr sz="3300" b="1">
                <a:solidFill>
                  <a:srgbClr val="18202A"/>
                </a:solidFill>
                <a:latin typeface="Arial"/>
                <a:ea typeface="Arial"/>
                <a:cs typeface="Arial"/>
              </a:defRPr>
            </a:lvl2pPr>
            <a:lvl3pPr>
              <a:defRPr sz="3300" b="1">
                <a:solidFill>
                  <a:srgbClr val="18202A"/>
                </a:solidFill>
                <a:latin typeface="Arial"/>
                <a:ea typeface="Arial"/>
                <a:cs typeface="Arial"/>
              </a:defRPr>
            </a:lvl3pPr>
            <a:lvl4pPr>
              <a:defRPr sz="3300" b="1">
                <a:solidFill>
                  <a:srgbClr val="18202A"/>
                </a:solidFill>
                <a:latin typeface="Arial"/>
                <a:ea typeface="Arial"/>
                <a:cs typeface="Arial"/>
              </a:defRPr>
            </a:lvl4pPr>
            <a:lvl5pPr>
              <a:defRPr sz="3300" b="1">
                <a:solidFill>
                  <a:srgbClr val="18202A"/>
                </a:solidFill>
                <a:latin typeface="Arial"/>
                <a:ea typeface="Arial"/>
                <a:cs typeface="Arial"/>
              </a:defRPr>
            </a:lvl5pPr>
            <a:lvl6pPr>
              <a:defRPr sz="3300" b="1">
                <a:solidFill>
                  <a:srgbClr val="18202A"/>
                </a:solidFill>
                <a:latin typeface="Arial"/>
                <a:ea typeface="Arial"/>
                <a:cs typeface="Arial"/>
              </a:defRPr>
            </a:lvl6pPr>
            <a:lvl7pPr>
              <a:defRPr sz="3300" b="1">
                <a:solidFill>
                  <a:srgbClr val="18202A"/>
                </a:solidFill>
                <a:latin typeface="Arial"/>
                <a:ea typeface="Arial"/>
                <a:cs typeface="Arial"/>
              </a:defRPr>
            </a:lvl7pPr>
            <a:lvl8pPr>
              <a:defRPr sz="3300" b="1">
                <a:solidFill>
                  <a:srgbClr val="18202A"/>
                </a:solidFill>
                <a:latin typeface="Arial"/>
                <a:ea typeface="Arial"/>
                <a:cs typeface="Arial"/>
              </a:defRPr>
            </a:lvl8pPr>
            <a:lvl9pPr>
              <a:defRPr sz="3300" b="1">
                <a:solidFill>
                  <a:srgbClr val="18202A"/>
                </a:solidFill>
                <a:latin typeface="Arial"/>
                <a:ea typeface="Arial"/>
                <a:cs typeface="Arial"/>
              </a:defRPr>
            </a:lvl9pPr>
          </a:lstStyle>
          <a:p xmlns:a="http://schemas.openxmlformats.org/drawingml/2006/main">
            <a:pPr>
              <a:defRPr sz="3300" b="1">
                <a:solidFill>
                  <a:srgbClr val="18202A"/>
                </a:solidFill>
                <a:latin typeface="Arial"/>
                <a:ea typeface="Arial"/>
                <a:cs typeface="Arial"/>
              </a:defRPr>
            </a:pPr>
            <a:r>
              <a:rPr sz="3300" b="1">
                <a:solidFill>
                  <a:srgbClr val="18202A"/>
                </a:solidFill>
                <a:latin typeface="Arial"/>
                <a:ea typeface="Arial"/>
                <a:cs typeface="Arial"/>
              </a:rPr>
              <a:t>Physical System</a:t>
            </a:r>
          </a:p>
        </p:txBody>
      </p:sp>
      <p:sp>
        <p:nvSpPr>
          <p:cNvPr id="2" name="">
            <a:extLst xmlns:a="http://schemas.openxmlformats.org/drawingml/2006/main">
              <a:ext uri="{FF2B5EF4-FFF2-40B4-BE49-F238E27FC236}">
                <a16:creationId xmlns:a16="http://schemas.microsoft.com/office/drawing/2014/main" id="{133DC4C5-3723-4693-AD73-0E1B9224BFC8}"/>
              </a:ext>
            </a:extLst>
          </p:cNvPr>
          <p:cNvSpPr>
            <a:spLocks xmlns:a="http://schemas.openxmlformats.org/drawingml/2006/main" noGrp="1"/>
          </p:cNvSpPr>
          <p:nvPr/>
        </p:nvSpPr>
        <p:spPr>
          <a:xfrm xmlns:a="http://schemas.openxmlformats.org/drawingml/2006/main">
            <a:off x="647700" y="13811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8202A"/>
                </a:solidFill>
                <a:latin typeface="Arial"/>
                <a:ea typeface="Arial"/>
                <a:cs typeface="Arial"/>
              </a:defRPr>
            </a:defPPr>
            <a:lvl1pPr>
              <a:defRPr sz="2175" b="0">
                <a:solidFill>
                  <a:srgbClr val="18202A"/>
                </a:solidFill>
                <a:latin typeface="Arial"/>
                <a:ea typeface="Arial"/>
                <a:cs typeface="Arial"/>
              </a:defRPr>
            </a:lvl1pPr>
            <a:lvl2pPr>
              <a:defRPr sz="2175" b="0">
                <a:solidFill>
                  <a:srgbClr val="18202A"/>
                </a:solidFill>
                <a:latin typeface="Arial"/>
                <a:ea typeface="Arial"/>
                <a:cs typeface="Arial"/>
              </a:defRPr>
            </a:lvl2pPr>
            <a:lvl3pPr>
              <a:defRPr sz="2175" b="0">
                <a:solidFill>
                  <a:srgbClr val="18202A"/>
                </a:solidFill>
                <a:latin typeface="Arial"/>
                <a:ea typeface="Arial"/>
                <a:cs typeface="Arial"/>
              </a:defRPr>
            </a:lvl3pPr>
            <a:lvl4pPr>
              <a:defRPr sz="2175" b="0">
                <a:solidFill>
                  <a:srgbClr val="18202A"/>
                </a:solidFill>
                <a:latin typeface="Arial"/>
                <a:ea typeface="Arial"/>
                <a:cs typeface="Arial"/>
              </a:defRPr>
            </a:lvl4pPr>
            <a:lvl5pPr>
              <a:defRPr sz="2175" b="0">
                <a:solidFill>
                  <a:srgbClr val="18202A"/>
                </a:solidFill>
                <a:latin typeface="Arial"/>
                <a:ea typeface="Arial"/>
                <a:cs typeface="Arial"/>
              </a:defRPr>
            </a:lvl5pPr>
            <a:lvl6pPr>
              <a:defRPr sz="2175" b="0">
                <a:solidFill>
                  <a:srgbClr val="18202A"/>
                </a:solidFill>
                <a:latin typeface="Arial"/>
                <a:ea typeface="Arial"/>
                <a:cs typeface="Arial"/>
              </a:defRPr>
            </a:lvl6pPr>
            <a:lvl7pPr>
              <a:defRPr sz="2175" b="0">
                <a:solidFill>
                  <a:srgbClr val="18202A"/>
                </a:solidFill>
                <a:latin typeface="Arial"/>
                <a:ea typeface="Arial"/>
                <a:cs typeface="Arial"/>
              </a:defRPr>
            </a:lvl7pPr>
            <a:lvl8pPr>
              <a:defRPr sz="2175" b="0">
                <a:solidFill>
                  <a:srgbClr val="18202A"/>
                </a:solidFill>
                <a:latin typeface="Arial"/>
                <a:ea typeface="Arial"/>
                <a:cs typeface="Arial"/>
              </a:defRPr>
            </a:lvl8pPr>
            <a:lvl9pPr>
              <a:defRPr sz="2175" b="0">
                <a:solidFill>
                  <a:srgbClr val="18202A"/>
                </a:solidFill>
                <a:latin typeface="Arial"/>
                <a:ea typeface="Arial"/>
                <a:cs typeface="Arial"/>
              </a:defRPr>
            </a:lvl9pPr>
          </a:lstStyle>
          <a:p xmlns:a="http://schemas.openxmlformats.org/drawingml/2006/main">
            <a:pPr>
              <a:defRPr sz="2175" b="0">
                <a:solidFill>
                  <a:srgbClr val="18202A"/>
                </a:solidFill>
                <a:latin typeface="Arial"/>
                <a:ea typeface="Arial"/>
                <a:cs typeface="Arial"/>
              </a:defRPr>
            </a:pPr>
            <a:r>
              <a:rPr sz="2175" b="0">
                <a:solidFill>
                  <a:srgbClr val="18202A"/>
                </a:solidFill>
                <a:latin typeface="Arial"/>
                <a:ea typeface="Arial"/>
                <a:cs typeface="Arial"/>
              </a:rPr>
              <a:t>State: angle and angular velocity</a:t>
            </a:r>
          </a:p>
        </p:txBody>
      </p:sp>
      <p:sp>
        <p:nvSpPr>
          <p:cNvPr id="3" name="">
            <a:extLst xmlns:a="http://schemas.openxmlformats.org/drawingml/2006/main">
              <a:ext uri="{FF2B5EF4-FFF2-40B4-BE49-F238E27FC236}">
                <a16:creationId xmlns:a16="http://schemas.microsoft.com/office/drawing/2014/main" id="{2214A614-F888-414B-9A6F-11E0D62AC615}"/>
              </a:ext>
            </a:extLst>
          </p:cNvPr>
          <p:cNvSpPr>
            <a:spLocks xmlns:a="http://schemas.openxmlformats.org/drawingml/2006/main" noGrp="1"/>
          </p:cNvSpPr>
          <p:nvPr/>
        </p:nvSpPr>
        <p:spPr>
          <a:xfrm xmlns:a="http://schemas.openxmlformats.org/drawingml/2006/main">
            <a:off x="666750" y="21145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700" b="0">
                <a:solidFill>
                  <a:srgbClr val="18202A"/>
                </a:solidFill>
                <a:latin typeface="Cambria Math"/>
                <a:ea typeface="Cambria Math"/>
                <a:cs typeface="Cambria Math"/>
              </a:defRPr>
            </a:defPPr>
            <a:lvl1pPr>
              <a:defRPr sz="2700" b="0">
                <a:solidFill>
                  <a:srgbClr val="18202A"/>
                </a:solidFill>
                <a:latin typeface="Cambria Math"/>
                <a:ea typeface="Cambria Math"/>
                <a:cs typeface="Cambria Math"/>
              </a:defRPr>
            </a:lvl1pPr>
            <a:lvl2pPr>
              <a:defRPr sz="2700" b="0">
                <a:solidFill>
                  <a:srgbClr val="18202A"/>
                </a:solidFill>
                <a:latin typeface="Cambria Math"/>
                <a:ea typeface="Cambria Math"/>
                <a:cs typeface="Cambria Math"/>
              </a:defRPr>
            </a:lvl2pPr>
            <a:lvl3pPr>
              <a:defRPr sz="2700" b="0">
                <a:solidFill>
                  <a:srgbClr val="18202A"/>
                </a:solidFill>
                <a:latin typeface="Cambria Math"/>
                <a:ea typeface="Cambria Math"/>
                <a:cs typeface="Cambria Math"/>
              </a:defRPr>
            </a:lvl3pPr>
            <a:lvl4pPr>
              <a:defRPr sz="2700" b="0">
                <a:solidFill>
                  <a:srgbClr val="18202A"/>
                </a:solidFill>
                <a:latin typeface="Cambria Math"/>
                <a:ea typeface="Cambria Math"/>
                <a:cs typeface="Cambria Math"/>
              </a:defRPr>
            </a:lvl4pPr>
            <a:lvl5pPr>
              <a:defRPr sz="2700" b="0">
                <a:solidFill>
                  <a:srgbClr val="18202A"/>
                </a:solidFill>
                <a:latin typeface="Cambria Math"/>
                <a:ea typeface="Cambria Math"/>
                <a:cs typeface="Cambria Math"/>
              </a:defRPr>
            </a:lvl5pPr>
            <a:lvl6pPr>
              <a:defRPr sz="2700" b="0">
                <a:solidFill>
                  <a:srgbClr val="18202A"/>
                </a:solidFill>
                <a:latin typeface="Cambria Math"/>
                <a:ea typeface="Cambria Math"/>
                <a:cs typeface="Cambria Math"/>
              </a:defRPr>
            </a:lvl6pPr>
            <a:lvl7pPr>
              <a:defRPr sz="2700" b="0">
                <a:solidFill>
                  <a:srgbClr val="18202A"/>
                </a:solidFill>
                <a:latin typeface="Cambria Math"/>
                <a:ea typeface="Cambria Math"/>
                <a:cs typeface="Cambria Math"/>
              </a:defRPr>
            </a:lvl7pPr>
            <a:lvl8pPr>
              <a:defRPr sz="2700" b="0">
                <a:solidFill>
                  <a:srgbClr val="18202A"/>
                </a:solidFill>
                <a:latin typeface="Cambria Math"/>
                <a:ea typeface="Cambria Math"/>
                <a:cs typeface="Cambria Math"/>
              </a:defRPr>
            </a:lvl8pPr>
            <a:lvl9pPr>
              <a:defRPr sz="2700" b="0">
                <a:solidFill>
                  <a:srgbClr val="18202A"/>
                </a:solidFill>
                <a:latin typeface="Cambria Math"/>
                <a:ea typeface="Cambria Math"/>
                <a:cs typeface="Cambria Math"/>
              </a:defRPr>
            </a:lvl9pPr>
          </a:lstStyle>
          <a:p xmlns:a="http://schemas.openxmlformats.org/drawingml/2006/main">
            <a:pPr>
              <a:defRPr sz="2700" b="0">
                <a:solidFill>
                  <a:srgbClr val="18202A"/>
                </a:solidFill>
                <a:latin typeface="Cambria Math"/>
                <a:ea typeface="Cambria Math"/>
                <a:cs typeface="Cambria Math"/>
              </a:defRPr>
            </a:pPr>
            <a:r>
              <a:rPr sz="2700" b="0">
                <a:solidFill>
                  <a:srgbClr val="18202A"/>
                </a:solidFill>
                <a:latin typeface="Cambria Math"/>
                <a:ea typeface="Cambria Math"/>
                <a:cs typeface="Cambria Math"/>
              </a:rPr>
              <a:t>theta′ = omega</a:t>
            </a:r>
          </a:p>
        </p:txBody>
      </p:sp>
      <p:sp>
        <p:nvSpPr>
          <p:cNvPr id="4" name="">
            <a:extLst xmlns:a="http://schemas.openxmlformats.org/drawingml/2006/main">
              <a:ext uri="{FF2B5EF4-FFF2-40B4-BE49-F238E27FC236}">
                <a16:creationId xmlns:a16="http://schemas.microsoft.com/office/drawing/2014/main" id="{0E6CBC0C-4653-4480-A326-DE89E324BCB2}"/>
              </a:ext>
            </a:extLst>
          </p:cNvPr>
          <p:cNvSpPr>
            <a:spLocks xmlns:a="http://schemas.openxmlformats.org/drawingml/2006/main" noGrp="1"/>
          </p:cNvSpPr>
          <p:nvPr/>
        </p:nvSpPr>
        <p:spPr>
          <a:xfrm xmlns:a="http://schemas.openxmlformats.org/drawingml/2006/main">
            <a:off x="666750" y="27622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0">
                <a:solidFill>
                  <a:srgbClr val="18202A"/>
                </a:solidFill>
                <a:latin typeface="Cambria Math"/>
                <a:ea typeface="Cambria Math"/>
                <a:cs typeface="Cambria Math"/>
              </a:defRPr>
            </a:defPPr>
            <a:lvl1pPr>
              <a:defRPr sz="2550" b="0">
                <a:solidFill>
                  <a:srgbClr val="18202A"/>
                </a:solidFill>
                <a:latin typeface="Cambria Math"/>
                <a:ea typeface="Cambria Math"/>
                <a:cs typeface="Cambria Math"/>
              </a:defRPr>
            </a:lvl1pPr>
            <a:lvl2pPr>
              <a:defRPr sz="2550" b="0">
                <a:solidFill>
                  <a:srgbClr val="18202A"/>
                </a:solidFill>
                <a:latin typeface="Cambria Math"/>
                <a:ea typeface="Cambria Math"/>
                <a:cs typeface="Cambria Math"/>
              </a:defRPr>
            </a:lvl2pPr>
            <a:lvl3pPr>
              <a:defRPr sz="2550" b="0">
                <a:solidFill>
                  <a:srgbClr val="18202A"/>
                </a:solidFill>
                <a:latin typeface="Cambria Math"/>
                <a:ea typeface="Cambria Math"/>
                <a:cs typeface="Cambria Math"/>
              </a:defRPr>
            </a:lvl3pPr>
            <a:lvl4pPr>
              <a:defRPr sz="2550" b="0">
                <a:solidFill>
                  <a:srgbClr val="18202A"/>
                </a:solidFill>
                <a:latin typeface="Cambria Math"/>
                <a:ea typeface="Cambria Math"/>
                <a:cs typeface="Cambria Math"/>
              </a:defRPr>
            </a:lvl4pPr>
            <a:lvl5pPr>
              <a:defRPr sz="2550" b="0">
                <a:solidFill>
                  <a:srgbClr val="18202A"/>
                </a:solidFill>
                <a:latin typeface="Cambria Math"/>
                <a:ea typeface="Cambria Math"/>
                <a:cs typeface="Cambria Math"/>
              </a:defRPr>
            </a:lvl5pPr>
            <a:lvl6pPr>
              <a:defRPr sz="2550" b="0">
                <a:solidFill>
                  <a:srgbClr val="18202A"/>
                </a:solidFill>
                <a:latin typeface="Cambria Math"/>
                <a:ea typeface="Cambria Math"/>
                <a:cs typeface="Cambria Math"/>
              </a:defRPr>
            </a:lvl6pPr>
            <a:lvl7pPr>
              <a:defRPr sz="2550" b="0">
                <a:solidFill>
                  <a:srgbClr val="18202A"/>
                </a:solidFill>
                <a:latin typeface="Cambria Math"/>
                <a:ea typeface="Cambria Math"/>
                <a:cs typeface="Cambria Math"/>
              </a:defRPr>
            </a:lvl7pPr>
            <a:lvl8pPr>
              <a:defRPr sz="2550" b="0">
                <a:solidFill>
                  <a:srgbClr val="18202A"/>
                </a:solidFill>
                <a:latin typeface="Cambria Math"/>
                <a:ea typeface="Cambria Math"/>
                <a:cs typeface="Cambria Math"/>
              </a:defRPr>
            </a:lvl8pPr>
            <a:lvl9pPr>
              <a:defRPr sz="2550" b="0">
                <a:solidFill>
                  <a:srgbClr val="18202A"/>
                </a:solidFill>
                <a:latin typeface="Cambria Math"/>
                <a:ea typeface="Cambria Math"/>
                <a:cs typeface="Cambria Math"/>
              </a:defRPr>
            </a:lvl9pPr>
          </a:lstStyle>
          <a:p xmlns:a="http://schemas.openxmlformats.org/drawingml/2006/main">
            <a:pPr>
              <a:defRPr sz="2550" b="0">
                <a:solidFill>
                  <a:srgbClr val="18202A"/>
                </a:solidFill>
                <a:latin typeface="Cambria Math"/>
                <a:ea typeface="Cambria Math"/>
                <a:cs typeface="Cambria Math"/>
              </a:defRPr>
            </a:pPr>
            <a:r>
              <a:rPr sz="2550" b="0">
                <a:solidFill>
                  <a:srgbClr val="18202A"/>
                </a:solidFill>
                <a:latin typeface="Cambria Math"/>
                <a:ea typeface="Cambria Math"/>
                <a:cs typeface="Cambria Math"/>
              </a:rPr>
              <a:t>omega′ = -(g / L) sin(theta) - beta omega</a:t>
            </a:r>
          </a:p>
        </p:txBody>
      </p:sp>
      <p:graphicFrame>
        <p:nvGraphicFramePr>
          <p:cNvPr id="5" name="">
            <a:extLst xmlns:a="http://schemas.openxmlformats.org/drawingml/2006/main">
              <a:ext uri="{FF2B5EF4-FFF2-40B4-BE49-F238E27FC236}">
                <a16:creationId xmlns:a16="http://schemas.microsoft.com/office/drawing/2014/main" id="{52361737-C0B4-4B3E-B2B5-8B2A52CB3F90}"/>
              </a:ext>
            </a:extLst>
          </p:cNvPr>
          <p:cNvGraphicFramePr/>
          <p:nvPr/>
        </p:nvGraphicFramePr>
        <p:xfrm>
          <a:off xmlns:a="http://schemas.openxmlformats.org/drawingml/2006/main" x="647700" y="3762375"/>
          <a:ext xmlns:a="http://schemas.openxmlformats.org/drawingml/2006/main" cx="10858500" cy="1143000"/>
        </p:xfrm>
        <a:graphic xmlns:a="http://schemas.openxmlformats.org/drawingml/2006/main">
          <a:graphicData uri="http://schemas.openxmlformats.org/drawingml/2006/table">
            <a:tbl>
              <a:tblPr/>
              <a:tblGrid>
                <a:gridCol w="1905000"/>
                <a:gridCol w="1619250"/>
                <a:gridCol w="2000250"/>
                <a:gridCol w="2667000"/>
                <a:gridCol w="2667000"/>
              </a:tblGrid>
              <a:tr h="571500">
                <a:tc>
                  <a:txBody>
                    <a:bodyPr/>
                    <a:lstStyle/>
                    <a:p>
                      <a:r>
                        <a:rPr sz="1725" b="1">
                          <a:solidFill>
                            <a:srgbClr val="18202A"/>
                          </a:solidFill>
                          <a:latin typeface="Arial"/>
                          <a:ea typeface="Arial"/>
                          <a:cs typeface="Arial"/>
                        </a:rPr>
                        <a:t>g</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L</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beta</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Prediction dt</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RK4 substep</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r>
              <a:tr h="571500">
                <a:tc>
                  <a:txBody>
                    <a:bodyPr/>
                    <a:lstStyle/>
                    <a:p>
                      <a:r>
                        <a:rPr sz="1725" b="0">
                          <a:solidFill>
                            <a:srgbClr val="18202A"/>
                          </a:solidFill>
                          <a:latin typeface="Arial"/>
                          <a:ea typeface="Arial"/>
                          <a:cs typeface="Arial"/>
                        </a:rPr>
                        <a:t>9.81 m/s2</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1.0 m</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0.1 /s</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0.02 s</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0.002 s</a:t>
                      </a:r>
                    </a:p>
                  </a:txBody>
                  <a:tcPr marL="91440" marR="91440" marT="45720" marB="45720">
                    <a:lnR w="9525">
                      <a:solidFill>
                        <a:srgbClr val="D9D9D9"/>
                      </a:solidFill>
                      <a:prstDash val="solid"/>
                    </a:lnR>
                    <a:lnB w="9525">
                      <a:solidFill>
                        <a:srgbClr val="D9D9D9"/>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A8ECDB0-A346-4522-AB9E-16620057F84C}"/>
              </a:ext>
            </a:extLst>
          </p:cNvPr>
          <p:cNvSpPr>
            <a:spLocks xmlns:a="http://schemas.openxmlformats.org/drawingml/2006/main" noGrp="1"/>
          </p:cNvSpPr>
          <p:nvPr/>
        </p:nvSpPr>
        <p:spPr>
          <a:xfrm xmlns:a="http://schemas.openxmlformats.org/drawingml/2006/main">
            <a:off x="666750" y="53340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8202A"/>
                </a:solidFill>
                <a:latin typeface="Arial"/>
                <a:ea typeface="Arial"/>
                <a:cs typeface="Arial"/>
              </a:defRPr>
            </a:defPPr>
            <a:lvl1pPr>
              <a:defRPr sz="2025" b="0">
                <a:solidFill>
                  <a:srgbClr val="18202A"/>
                </a:solidFill>
                <a:latin typeface="Arial"/>
                <a:ea typeface="Arial"/>
                <a:cs typeface="Arial"/>
              </a:defRPr>
            </a:lvl1pPr>
            <a:lvl2pPr>
              <a:defRPr sz="2025" b="0">
                <a:solidFill>
                  <a:srgbClr val="18202A"/>
                </a:solidFill>
                <a:latin typeface="Arial"/>
                <a:ea typeface="Arial"/>
                <a:cs typeface="Arial"/>
              </a:defRPr>
            </a:lvl2pPr>
            <a:lvl3pPr>
              <a:defRPr sz="2025" b="0">
                <a:solidFill>
                  <a:srgbClr val="18202A"/>
                </a:solidFill>
                <a:latin typeface="Arial"/>
                <a:ea typeface="Arial"/>
                <a:cs typeface="Arial"/>
              </a:defRPr>
            </a:lvl3pPr>
            <a:lvl4pPr>
              <a:defRPr sz="2025" b="0">
                <a:solidFill>
                  <a:srgbClr val="18202A"/>
                </a:solidFill>
                <a:latin typeface="Arial"/>
                <a:ea typeface="Arial"/>
                <a:cs typeface="Arial"/>
              </a:defRPr>
            </a:lvl4pPr>
            <a:lvl5pPr>
              <a:defRPr sz="2025" b="0">
                <a:solidFill>
                  <a:srgbClr val="18202A"/>
                </a:solidFill>
                <a:latin typeface="Arial"/>
                <a:ea typeface="Arial"/>
                <a:cs typeface="Arial"/>
              </a:defRPr>
            </a:lvl5pPr>
            <a:lvl6pPr>
              <a:defRPr sz="2025" b="0">
                <a:solidFill>
                  <a:srgbClr val="18202A"/>
                </a:solidFill>
                <a:latin typeface="Arial"/>
                <a:ea typeface="Arial"/>
                <a:cs typeface="Arial"/>
              </a:defRPr>
            </a:lvl6pPr>
            <a:lvl7pPr>
              <a:defRPr sz="2025" b="0">
                <a:solidFill>
                  <a:srgbClr val="18202A"/>
                </a:solidFill>
                <a:latin typeface="Arial"/>
                <a:ea typeface="Arial"/>
                <a:cs typeface="Arial"/>
              </a:defRPr>
            </a:lvl7pPr>
            <a:lvl8pPr>
              <a:defRPr sz="2025" b="0">
                <a:solidFill>
                  <a:srgbClr val="18202A"/>
                </a:solidFill>
                <a:latin typeface="Arial"/>
                <a:ea typeface="Arial"/>
                <a:cs typeface="Arial"/>
              </a:defRPr>
            </a:lvl8pPr>
            <a:lvl9pPr>
              <a:defRPr sz="2025" b="0">
                <a:solidFill>
                  <a:srgbClr val="18202A"/>
                </a:solidFill>
                <a:latin typeface="Arial"/>
                <a:ea typeface="Arial"/>
                <a:cs typeface="Arial"/>
              </a:defRPr>
            </a:lvl9pPr>
          </a:lstStyle>
          <a:p xmlns:a="http://schemas.openxmlformats.org/drawingml/2006/main">
            <a:pPr>
              <a:defRPr sz="2025" b="0">
                <a:solidFill>
                  <a:srgbClr val="18202A"/>
                </a:solidFill>
                <a:latin typeface="Arial"/>
                <a:ea typeface="Arial"/>
                <a:cs typeface="Arial"/>
              </a:defRPr>
            </a:pPr>
            <a:r>
              <a:rPr sz="2025" b="0">
                <a:solidFill>
                  <a:srgbClr val="18202A"/>
                </a:solidFill>
                <a:latin typeface="Arial"/>
                <a:ea typeface="Arial"/>
                <a:cs typeface="Arial"/>
              </a:rPr>
              <a:t>Reference labels use ten RK4 substeps per prediction interval.</a:t>
            </a:r>
          </a:p>
        </p:txBody>
      </p:sp>
      <p:sp>
        <p:nvSpPr>
          <p:cNvPr id="7" name="">
            <a:extLst xmlns:a="http://schemas.openxmlformats.org/drawingml/2006/main">
              <a:ext uri="{FF2B5EF4-FFF2-40B4-BE49-F238E27FC236}">
                <a16:creationId xmlns:a16="http://schemas.microsoft.com/office/drawing/2014/main" id="{A36A6A78-4832-4F27-AFB0-D0FCEB8055C2}"/>
              </a:ext>
            </a:extLst>
          </p:cNvPr>
          <p:cNvSpPr>
            <a:spLocks xmlns:a="http://schemas.openxmlformats.org/drawingml/2006/main" noGrp="1"/>
          </p:cNvSpPr>
          <p:nvPr/>
        </p:nvSpPr>
        <p:spPr>
          <a:xfrm xmlns:a="http://schemas.openxmlformats.org/drawingml/2006/main">
            <a:off x="666750" y="6048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535E6C"/>
                </a:solidFill>
                <a:latin typeface="Arial"/>
                <a:ea typeface="Arial"/>
                <a:cs typeface="Arial"/>
              </a:defRPr>
            </a:defPPr>
            <a:lvl1pPr>
              <a:defRPr sz="1650" b="0">
                <a:solidFill>
                  <a:srgbClr val="535E6C"/>
                </a:solidFill>
                <a:latin typeface="Arial"/>
                <a:ea typeface="Arial"/>
                <a:cs typeface="Arial"/>
              </a:defRPr>
            </a:lvl1pPr>
            <a:lvl2pPr>
              <a:defRPr sz="1650" b="0">
                <a:solidFill>
                  <a:srgbClr val="535E6C"/>
                </a:solidFill>
                <a:latin typeface="Arial"/>
                <a:ea typeface="Arial"/>
                <a:cs typeface="Arial"/>
              </a:defRPr>
            </a:lvl2pPr>
            <a:lvl3pPr>
              <a:defRPr sz="1650" b="0">
                <a:solidFill>
                  <a:srgbClr val="535E6C"/>
                </a:solidFill>
                <a:latin typeface="Arial"/>
                <a:ea typeface="Arial"/>
                <a:cs typeface="Arial"/>
              </a:defRPr>
            </a:lvl3pPr>
            <a:lvl4pPr>
              <a:defRPr sz="1650" b="0">
                <a:solidFill>
                  <a:srgbClr val="535E6C"/>
                </a:solidFill>
                <a:latin typeface="Arial"/>
                <a:ea typeface="Arial"/>
                <a:cs typeface="Arial"/>
              </a:defRPr>
            </a:lvl4pPr>
            <a:lvl5pPr>
              <a:defRPr sz="1650" b="0">
                <a:solidFill>
                  <a:srgbClr val="535E6C"/>
                </a:solidFill>
                <a:latin typeface="Arial"/>
                <a:ea typeface="Arial"/>
                <a:cs typeface="Arial"/>
              </a:defRPr>
            </a:lvl5pPr>
            <a:lvl6pPr>
              <a:defRPr sz="1650" b="0">
                <a:solidFill>
                  <a:srgbClr val="535E6C"/>
                </a:solidFill>
                <a:latin typeface="Arial"/>
                <a:ea typeface="Arial"/>
                <a:cs typeface="Arial"/>
              </a:defRPr>
            </a:lvl6pPr>
            <a:lvl7pPr>
              <a:defRPr sz="1650" b="0">
                <a:solidFill>
                  <a:srgbClr val="535E6C"/>
                </a:solidFill>
                <a:latin typeface="Arial"/>
                <a:ea typeface="Arial"/>
                <a:cs typeface="Arial"/>
              </a:defRPr>
            </a:lvl7pPr>
            <a:lvl8pPr>
              <a:defRPr sz="1650" b="0">
                <a:solidFill>
                  <a:srgbClr val="535E6C"/>
                </a:solidFill>
                <a:latin typeface="Arial"/>
                <a:ea typeface="Arial"/>
                <a:cs typeface="Arial"/>
              </a:defRPr>
            </a:lvl8pPr>
            <a:lvl9pPr>
              <a:defRPr sz="1650" b="0">
                <a:solidFill>
                  <a:srgbClr val="535E6C"/>
                </a:solidFill>
                <a:latin typeface="Arial"/>
                <a:ea typeface="Arial"/>
                <a:cs typeface="Arial"/>
              </a:defRPr>
            </a:lvl9pPr>
          </a:lstStyle>
          <a:p xmlns:a="http://schemas.openxmlformats.org/drawingml/2006/main">
            <a:pPr>
              <a:defRPr sz="1650" b="0">
                <a:solidFill>
                  <a:srgbClr val="535E6C"/>
                </a:solidFill>
                <a:latin typeface="Arial"/>
                <a:ea typeface="Arial"/>
                <a:cs typeface="Arial"/>
              </a:defRPr>
            </a:pPr>
            <a:r>
              <a:rPr sz="1650" b="0">
                <a:solidFill>
                  <a:srgbClr val="535E6C"/>
                </a:solidFill>
                <a:latin typeface="Arial"/>
                <a:ea typeface="Arial"/>
                <a:cs typeface="Arial"/>
              </a:rPr>
              <a:t>Tests: equilibrium, fourth-order convergence, small-angle limit and damped energy.</a:t>
            </a:r>
          </a:p>
        </p:txBody>
      </p:sp>
    </p:spTree>
    <p:extLst>
      <p:ext uri="{BB962C8B-B14F-4D97-AF65-F5344CB8AC3E}">
        <p14:creationId xmlns:p14="http://schemas.microsoft.com/office/powerpoint/2010/main" val="753605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F45D11-1B29-407A-BDD1-350CF0D1573B}"/>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02A"/>
                </a:solidFill>
                <a:latin typeface="Arial"/>
                <a:ea typeface="Arial"/>
                <a:cs typeface="Arial"/>
              </a:defRPr>
            </a:defPPr>
            <a:lvl1pPr>
              <a:defRPr sz="3300" b="1">
                <a:solidFill>
                  <a:srgbClr val="18202A"/>
                </a:solidFill>
                <a:latin typeface="Arial"/>
                <a:ea typeface="Arial"/>
                <a:cs typeface="Arial"/>
              </a:defRPr>
            </a:lvl1pPr>
            <a:lvl2pPr>
              <a:defRPr sz="3300" b="1">
                <a:solidFill>
                  <a:srgbClr val="18202A"/>
                </a:solidFill>
                <a:latin typeface="Arial"/>
                <a:ea typeface="Arial"/>
                <a:cs typeface="Arial"/>
              </a:defRPr>
            </a:lvl2pPr>
            <a:lvl3pPr>
              <a:defRPr sz="3300" b="1">
                <a:solidFill>
                  <a:srgbClr val="18202A"/>
                </a:solidFill>
                <a:latin typeface="Arial"/>
                <a:ea typeface="Arial"/>
                <a:cs typeface="Arial"/>
              </a:defRPr>
            </a:lvl3pPr>
            <a:lvl4pPr>
              <a:defRPr sz="3300" b="1">
                <a:solidFill>
                  <a:srgbClr val="18202A"/>
                </a:solidFill>
                <a:latin typeface="Arial"/>
                <a:ea typeface="Arial"/>
                <a:cs typeface="Arial"/>
              </a:defRPr>
            </a:lvl4pPr>
            <a:lvl5pPr>
              <a:defRPr sz="3300" b="1">
                <a:solidFill>
                  <a:srgbClr val="18202A"/>
                </a:solidFill>
                <a:latin typeface="Arial"/>
                <a:ea typeface="Arial"/>
                <a:cs typeface="Arial"/>
              </a:defRPr>
            </a:lvl5pPr>
            <a:lvl6pPr>
              <a:defRPr sz="3300" b="1">
                <a:solidFill>
                  <a:srgbClr val="18202A"/>
                </a:solidFill>
                <a:latin typeface="Arial"/>
                <a:ea typeface="Arial"/>
                <a:cs typeface="Arial"/>
              </a:defRPr>
            </a:lvl6pPr>
            <a:lvl7pPr>
              <a:defRPr sz="3300" b="1">
                <a:solidFill>
                  <a:srgbClr val="18202A"/>
                </a:solidFill>
                <a:latin typeface="Arial"/>
                <a:ea typeface="Arial"/>
                <a:cs typeface="Arial"/>
              </a:defRPr>
            </a:lvl7pPr>
            <a:lvl8pPr>
              <a:defRPr sz="3300" b="1">
                <a:solidFill>
                  <a:srgbClr val="18202A"/>
                </a:solidFill>
                <a:latin typeface="Arial"/>
                <a:ea typeface="Arial"/>
                <a:cs typeface="Arial"/>
              </a:defRPr>
            </a:lvl8pPr>
            <a:lvl9pPr>
              <a:defRPr sz="3300" b="1">
                <a:solidFill>
                  <a:srgbClr val="18202A"/>
                </a:solidFill>
                <a:latin typeface="Arial"/>
                <a:ea typeface="Arial"/>
                <a:cs typeface="Arial"/>
              </a:defRPr>
            </a:lvl9pPr>
          </a:lstStyle>
          <a:p xmlns:a="http://schemas.openxmlformats.org/drawingml/2006/main">
            <a:pPr>
              <a:defRPr sz="3300" b="1">
                <a:solidFill>
                  <a:srgbClr val="18202A"/>
                </a:solidFill>
                <a:latin typeface="Arial"/>
                <a:ea typeface="Arial"/>
                <a:cs typeface="Arial"/>
              </a:defRPr>
            </a:pPr>
            <a:r>
              <a:rPr sz="3300" b="1">
                <a:solidFill>
                  <a:srgbClr val="18202A"/>
                </a:solidFill>
                <a:latin typeface="Arial"/>
                <a:ea typeface="Arial"/>
                <a:cs typeface="Arial"/>
              </a:rPr>
              <a:t>Dataset Design</a:t>
            </a:r>
          </a:p>
        </p:txBody>
      </p:sp>
      <p:sp>
        <p:nvSpPr>
          <p:cNvPr id="2" name="">
            <a:extLst xmlns:a="http://schemas.openxmlformats.org/drawingml/2006/main">
              <a:ext uri="{FF2B5EF4-FFF2-40B4-BE49-F238E27FC236}">
                <a16:creationId xmlns:a16="http://schemas.microsoft.com/office/drawing/2014/main" id="{0DDFD808-1625-46C8-AFE4-C015DF3C0DC3}"/>
              </a:ext>
            </a:extLst>
          </p:cNvPr>
          <p:cNvSpPr>
            <a:spLocks xmlns:a="http://schemas.openxmlformats.org/drawingml/2006/main" noGrp="1"/>
          </p:cNvSpPr>
          <p:nvPr/>
        </p:nvSpPr>
        <p:spPr>
          <a:xfrm xmlns:a="http://schemas.openxmlformats.org/drawingml/2006/main">
            <a:off x="647700" y="13811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18202A"/>
                </a:solidFill>
                <a:latin typeface="Arial"/>
                <a:ea typeface="Arial"/>
                <a:cs typeface="Arial"/>
              </a:defRPr>
            </a:defPPr>
            <a:lvl1pPr>
              <a:defRPr sz="2250" b="0">
                <a:solidFill>
                  <a:srgbClr val="18202A"/>
                </a:solidFill>
                <a:latin typeface="Arial"/>
                <a:ea typeface="Arial"/>
                <a:cs typeface="Arial"/>
              </a:defRPr>
            </a:lvl1pPr>
            <a:lvl2pPr>
              <a:defRPr sz="2250" b="0">
                <a:solidFill>
                  <a:srgbClr val="18202A"/>
                </a:solidFill>
                <a:latin typeface="Arial"/>
                <a:ea typeface="Arial"/>
                <a:cs typeface="Arial"/>
              </a:defRPr>
            </a:lvl2pPr>
            <a:lvl3pPr>
              <a:defRPr sz="2250" b="0">
                <a:solidFill>
                  <a:srgbClr val="18202A"/>
                </a:solidFill>
                <a:latin typeface="Arial"/>
                <a:ea typeface="Arial"/>
                <a:cs typeface="Arial"/>
              </a:defRPr>
            </a:lvl3pPr>
            <a:lvl4pPr>
              <a:defRPr sz="2250" b="0">
                <a:solidFill>
                  <a:srgbClr val="18202A"/>
                </a:solidFill>
                <a:latin typeface="Arial"/>
                <a:ea typeface="Arial"/>
                <a:cs typeface="Arial"/>
              </a:defRPr>
            </a:lvl4pPr>
            <a:lvl5pPr>
              <a:defRPr sz="2250" b="0">
                <a:solidFill>
                  <a:srgbClr val="18202A"/>
                </a:solidFill>
                <a:latin typeface="Arial"/>
                <a:ea typeface="Arial"/>
                <a:cs typeface="Arial"/>
              </a:defRPr>
            </a:lvl5pPr>
            <a:lvl6pPr>
              <a:defRPr sz="2250" b="0">
                <a:solidFill>
                  <a:srgbClr val="18202A"/>
                </a:solidFill>
                <a:latin typeface="Arial"/>
                <a:ea typeface="Arial"/>
                <a:cs typeface="Arial"/>
              </a:defRPr>
            </a:lvl6pPr>
            <a:lvl7pPr>
              <a:defRPr sz="2250" b="0">
                <a:solidFill>
                  <a:srgbClr val="18202A"/>
                </a:solidFill>
                <a:latin typeface="Arial"/>
                <a:ea typeface="Arial"/>
                <a:cs typeface="Arial"/>
              </a:defRPr>
            </a:lvl7pPr>
            <a:lvl8pPr>
              <a:defRPr sz="2250" b="0">
                <a:solidFill>
                  <a:srgbClr val="18202A"/>
                </a:solidFill>
                <a:latin typeface="Arial"/>
                <a:ea typeface="Arial"/>
                <a:cs typeface="Arial"/>
              </a:defRPr>
            </a:lvl8pPr>
            <a:lvl9pPr>
              <a:defRPr sz="2250" b="0">
                <a:solidFill>
                  <a:srgbClr val="18202A"/>
                </a:solidFill>
                <a:latin typeface="Arial"/>
                <a:ea typeface="Arial"/>
                <a:cs typeface="Arial"/>
              </a:defRPr>
            </a:lvl9pPr>
          </a:lstStyle>
          <a:p xmlns:a="http://schemas.openxmlformats.org/drawingml/2006/main">
            <a:pPr>
              <a:defRPr sz="2250" b="0">
                <a:solidFill>
                  <a:srgbClr val="18202A"/>
                </a:solidFill>
                <a:latin typeface="Arial"/>
                <a:ea typeface="Arial"/>
                <a:cs typeface="Arial"/>
              </a:defRPr>
            </a:pPr>
            <a:r>
              <a:rPr sz="2250" b="0">
                <a:solidFill>
                  <a:srgbClr val="18202A"/>
                </a:solidFill>
                <a:latin typeface="Arial"/>
                <a:ea typeface="Arial"/>
                <a:cs typeface="Arial"/>
              </a:rPr>
              <a:t>80 initial conditions produce 40,000 transitions.</a:t>
            </a:r>
          </a:p>
        </p:txBody>
      </p:sp>
      <p:graphicFrame>
        <p:nvGraphicFramePr>
          <p:cNvPr id="3" name="">
            <a:extLst xmlns:a="http://schemas.openxmlformats.org/drawingml/2006/main">
              <a:ext uri="{FF2B5EF4-FFF2-40B4-BE49-F238E27FC236}">
                <a16:creationId xmlns:a16="http://schemas.microsoft.com/office/drawing/2014/main" id="{B794118C-5F42-41EA-94FD-4C03339DF22F}"/>
              </a:ext>
            </a:extLst>
          </p:cNvPr>
          <p:cNvGraphicFramePr/>
          <p:nvPr/>
        </p:nvGraphicFramePr>
        <p:xfrm>
          <a:off xmlns:a="http://schemas.openxmlformats.org/drawingml/2006/main" x="647700" y="2238375"/>
          <a:ext xmlns:a="http://schemas.openxmlformats.org/drawingml/2006/main" cx="10858500" cy="2381250"/>
        </p:xfrm>
        <a:graphic xmlns:a="http://schemas.openxmlformats.org/drawingml/2006/main">
          <a:graphicData uri="http://schemas.openxmlformats.org/drawingml/2006/table">
            <a:tbl>
              <a:tblPr/>
              <a:tblGrid>
                <a:gridCol w="4762500"/>
                <a:gridCol w="2857500"/>
                <a:gridCol w="3238500"/>
              </a:tblGrid>
              <a:tr h="595313">
                <a:tc>
                  <a:txBody>
                    <a:bodyPr/>
                    <a:lstStyle/>
                    <a:p>
                      <a:r>
                        <a:rPr sz="1725" b="1">
                          <a:solidFill>
                            <a:srgbClr val="18202A"/>
                          </a:solidFill>
                          <a:latin typeface="Arial"/>
                          <a:ea typeface="Arial"/>
                          <a:cs typeface="Arial"/>
                        </a:rPr>
                        <a:t>Partition</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Trajectories</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Transitions</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r>
              <a:tr h="595313">
                <a:tc>
                  <a:txBody>
                    <a:bodyPr/>
                    <a:lstStyle/>
                    <a:p>
                      <a:r>
                        <a:rPr sz="1725" b="0">
                          <a:solidFill>
                            <a:srgbClr val="18202A"/>
                          </a:solidFill>
                          <a:latin typeface="Arial"/>
                          <a:ea typeface="Arial"/>
                          <a:cs typeface="Arial"/>
                        </a:rPr>
                        <a:t>Training</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56</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28,000</a:t>
                      </a:r>
                    </a:p>
                  </a:txBody>
                  <a:tcPr marL="91440" marR="91440" marT="45720" marB="45720">
                    <a:lnR w="9525">
                      <a:solidFill>
                        <a:srgbClr val="D9D9D9"/>
                      </a:solidFill>
                      <a:prstDash val="solid"/>
                    </a:lnR>
                    <a:lnB w="9525">
                      <a:solidFill>
                        <a:srgbClr val="D9D9D9"/>
                      </a:solidFill>
                      <a:prstDash val="solid"/>
                    </a:lnB>
                    <a:solidFill>
                      <a:srgbClr val="FFFFFF"/>
                    </a:solidFill>
                  </a:tcPr>
                </a:tc>
              </a:tr>
              <a:tr h="595313">
                <a:tc>
                  <a:txBody>
                    <a:bodyPr/>
                    <a:lstStyle/>
                    <a:p>
                      <a:r>
                        <a:rPr sz="1725" b="0">
                          <a:solidFill>
                            <a:srgbClr val="18202A"/>
                          </a:solidFill>
                          <a:latin typeface="Arial"/>
                          <a:ea typeface="Arial"/>
                          <a:cs typeface="Arial"/>
                        </a:rPr>
                        <a:t>Validation</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r>
                        <a:rPr sz="1725" b="0">
                          <a:solidFill>
                            <a:srgbClr val="18202A"/>
                          </a:solidFill>
                          <a:latin typeface="Arial"/>
                          <a:ea typeface="Arial"/>
                          <a:cs typeface="Arial"/>
                        </a:rPr>
                        <a:t>12</a:t>
                      </a:r>
                    </a:p>
                  </a:txBody>
                  <a:tcPr marL="91440" marR="91440" marT="45720" marB="45720">
                    <a:lnR w="9525">
                      <a:solidFill>
                        <a:srgbClr val="D9D9D9"/>
                      </a:solidFill>
                      <a:prstDash val="solid"/>
                    </a:lnR>
                    <a:lnB w="9525">
                      <a:solidFill>
                        <a:srgbClr val="D9D9D9"/>
                      </a:solidFill>
                      <a:prstDash val="solid"/>
                    </a:lnB>
                    <a:solidFill>
                      <a:srgbClr val="F5F7F9"/>
                    </a:solidFill>
                  </a:tcPr>
                </a:tc>
                <a:tc>
                  <a:txBody>
                    <a:bodyPr/>
                    <a:lstStyle/>
                    <a:p>
                      <a:r>
                        <a:rPr sz="1725" b="0">
                          <a:solidFill>
                            <a:srgbClr val="18202A"/>
                          </a:solidFill>
                          <a:latin typeface="Arial"/>
                          <a:ea typeface="Arial"/>
                          <a:cs typeface="Arial"/>
                        </a:rPr>
                        <a:t>6,000</a:t>
                      </a:r>
                    </a:p>
                  </a:txBody>
                  <a:tcPr marL="91440" marR="91440" marT="45720" marB="45720">
                    <a:lnR w="9525">
                      <a:solidFill>
                        <a:srgbClr val="D9D9D9"/>
                      </a:solidFill>
                      <a:prstDash val="solid"/>
                    </a:lnR>
                    <a:lnB w="9525">
                      <a:solidFill>
                        <a:srgbClr val="D9D9D9"/>
                      </a:solidFill>
                      <a:prstDash val="solid"/>
                    </a:lnB>
                    <a:solidFill>
                      <a:srgbClr val="F5F7F9"/>
                    </a:solidFill>
                  </a:tcPr>
                </a:tc>
              </a:tr>
              <a:tr h="595313">
                <a:tc>
                  <a:txBody>
                    <a:bodyPr/>
                    <a:lstStyle/>
                    <a:p>
                      <a:r>
                        <a:rPr sz="1725" b="0">
                          <a:solidFill>
                            <a:srgbClr val="18202A"/>
                          </a:solidFill>
                          <a:latin typeface="Arial"/>
                          <a:ea typeface="Arial"/>
                          <a:cs typeface="Arial"/>
                        </a:rPr>
                        <a:t>Test</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12</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6,000</a:t>
                      </a:r>
                    </a:p>
                  </a:txBody>
                  <a:tcPr marL="91440" marR="91440" marT="45720" marB="45720">
                    <a:lnR w="9525">
                      <a:solidFill>
                        <a:srgbClr val="D9D9D9"/>
                      </a:solidFill>
                      <a:prstDash val="solid"/>
                    </a:lnR>
                    <a:lnB w="9525">
                      <a:solidFill>
                        <a:srgbClr val="D9D9D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435C693-B9EC-4BC4-A137-B3A3D2DAD2D3}"/>
              </a:ext>
            </a:extLst>
          </p:cNvPr>
          <p:cNvSpPr>
            <a:spLocks xmlns:a="http://schemas.openxmlformats.org/drawingml/2006/main" noGrp="1"/>
          </p:cNvSpPr>
          <p:nvPr/>
        </p:nvSpPr>
        <p:spPr>
          <a:xfrm xmlns:a="http://schemas.openxmlformats.org/drawingml/2006/main">
            <a:off x="666750" y="5000625"/>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8202A"/>
                </a:solidFill>
                <a:latin typeface="Arial"/>
                <a:ea typeface="Arial"/>
                <a:cs typeface="Arial"/>
              </a:defRPr>
            </a:defPPr>
            <a:lvl1pPr>
              <a:defRPr sz="2025" b="0">
                <a:solidFill>
                  <a:srgbClr val="18202A"/>
                </a:solidFill>
                <a:latin typeface="Arial"/>
                <a:ea typeface="Arial"/>
                <a:cs typeface="Arial"/>
              </a:defRPr>
            </a:lvl1pPr>
            <a:lvl2pPr>
              <a:defRPr sz="2025" b="0">
                <a:solidFill>
                  <a:srgbClr val="18202A"/>
                </a:solidFill>
                <a:latin typeface="Arial"/>
                <a:ea typeface="Arial"/>
                <a:cs typeface="Arial"/>
              </a:defRPr>
            </a:lvl2pPr>
            <a:lvl3pPr>
              <a:defRPr sz="2025" b="0">
                <a:solidFill>
                  <a:srgbClr val="18202A"/>
                </a:solidFill>
                <a:latin typeface="Arial"/>
                <a:ea typeface="Arial"/>
                <a:cs typeface="Arial"/>
              </a:defRPr>
            </a:lvl3pPr>
            <a:lvl4pPr>
              <a:defRPr sz="2025" b="0">
                <a:solidFill>
                  <a:srgbClr val="18202A"/>
                </a:solidFill>
                <a:latin typeface="Arial"/>
                <a:ea typeface="Arial"/>
                <a:cs typeface="Arial"/>
              </a:defRPr>
            </a:lvl4pPr>
            <a:lvl5pPr>
              <a:defRPr sz="2025" b="0">
                <a:solidFill>
                  <a:srgbClr val="18202A"/>
                </a:solidFill>
                <a:latin typeface="Arial"/>
                <a:ea typeface="Arial"/>
                <a:cs typeface="Arial"/>
              </a:defRPr>
            </a:lvl5pPr>
            <a:lvl6pPr>
              <a:defRPr sz="2025" b="0">
                <a:solidFill>
                  <a:srgbClr val="18202A"/>
                </a:solidFill>
                <a:latin typeface="Arial"/>
                <a:ea typeface="Arial"/>
                <a:cs typeface="Arial"/>
              </a:defRPr>
            </a:lvl6pPr>
            <a:lvl7pPr>
              <a:defRPr sz="2025" b="0">
                <a:solidFill>
                  <a:srgbClr val="18202A"/>
                </a:solidFill>
                <a:latin typeface="Arial"/>
                <a:ea typeface="Arial"/>
                <a:cs typeface="Arial"/>
              </a:defRPr>
            </a:lvl7pPr>
            <a:lvl8pPr>
              <a:defRPr sz="2025" b="0">
                <a:solidFill>
                  <a:srgbClr val="18202A"/>
                </a:solidFill>
                <a:latin typeface="Arial"/>
                <a:ea typeface="Arial"/>
                <a:cs typeface="Arial"/>
              </a:defRPr>
            </a:lvl8pPr>
            <a:lvl9pPr>
              <a:defRPr sz="2025" b="0">
                <a:solidFill>
                  <a:srgbClr val="18202A"/>
                </a:solidFill>
                <a:latin typeface="Arial"/>
                <a:ea typeface="Arial"/>
                <a:cs typeface="Arial"/>
              </a:defRPr>
            </a:lvl9pPr>
          </a:lstStyle>
          <a:p xmlns:a="http://schemas.openxmlformats.org/drawingml/2006/main">
            <a:pPr>
              <a:defRPr sz="2025" b="0">
                <a:solidFill>
                  <a:srgbClr val="18202A"/>
                </a:solidFill>
                <a:latin typeface="Arial"/>
                <a:ea typeface="Arial"/>
                <a:cs typeface="Arial"/>
              </a:defRPr>
            </a:pPr>
            <a:r>
              <a:rPr sz="2025" b="0">
                <a:solidFill>
                  <a:srgbClr val="18202A"/>
                </a:solidFill>
                <a:latin typeface="Arial"/>
                <a:ea typeface="Arial"/>
                <a:cs typeface="Arial"/>
              </a:rPr>
              <a:t>Initial angle: [-1.5, 1.5] rad</a:t>
            </a:r>
          </a:p>
          <a:p xmlns:a="http://schemas.openxmlformats.org/drawingml/2006/main">
            <a:pPr>
              <a:defRPr sz="2025" b="0">
                <a:solidFill>
                  <a:srgbClr val="18202A"/>
                </a:solidFill>
                <a:latin typeface="Arial"/>
                <a:ea typeface="Arial"/>
                <a:cs typeface="Arial"/>
              </a:defRPr>
            </a:pPr>
            <a:r>
              <a:rPr sz="2025" b="0">
                <a:solidFill>
                  <a:srgbClr val="18202A"/>
                </a:solidFill>
                <a:latin typeface="Arial"/>
                <a:ea typeface="Arial"/>
                <a:cs typeface="Arial"/>
              </a:rPr>
              <a:t>Initial velocity: [-2, 2] rad/s</a:t>
            </a:r>
          </a:p>
        </p:txBody>
      </p:sp>
      <p:sp>
        <p:nvSpPr>
          <p:cNvPr id="5" name="">
            <a:extLst xmlns:a="http://schemas.openxmlformats.org/drawingml/2006/main">
              <a:ext uri="{FF2B5EF4-FFF2-40B4-BE49-F238E27FC236}">
                <a16:creationId xmlns:a16="http://schemas.microsoft.com/office/drawing/2014/main" id="{19179F7D-1AD0-4ED5-84A9-4475427EB66D}"/>
              </a:ext>
            </a:extLst>
          </p:cNvPr>
          <p:cNvSpPr>
            <a:spLocks xmlns:a="http://schemas.openxmlformats.org/drawingml/2006/main" noGrp="1"/>
          </p:cNvSpPr>
          <p:nvPr/>
        </p:nvSpPr>
        <p:spPr>
          <a:xfrm xmlns:a="http://schemas.openxmlformats.org/drawingml/2006/main">
            <a:off x="6334125" y="5000625"/>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8202A"/>
                </a:solidFill>
                <a:latin typeface="Arial"/>
                <a:ea typeface="Arial"/>
                <a:cs typeface="Arial"/>
              </a:defRPr>
            </a:defPPr>
            <a:lvl1pPr>
              <a:defRPr sz="2025" b="1">
                <a:solidFill>
                  <a:srgbClr val="18202A"/>
                </a:solidFill>
                <a:latin typeface="Arial"/>
                <a:ea typeface="Arial"/>
                <a:cs typeface="Arial"/>
              </a:defRPr>
            </a:lvl1pPr>
            <a:lvl2pPr>
              <a:defRPr sz="2025" b="1">
                <a:solidFill>
                  <a:srgbClr val="18202A"/>
                </a:solidFill>
                <a:latin typeface="Arial"/>
                <a:ea typeface="Arial"/>
                <a:cs typeface="Arial"/>
              </a:defRPr>
            </a:lvl2pPr>
            <a:lvl3pPr>
              <a:defRPr sz="2025" b="1">
                <a:solidFill>
                  <a:srgbClr val="18202A"/>
                </a:solidFill>
                <a:latin typeface="Arial"/>
                <a:ea typeface="Arial"/>
                <a:cs typeface="Arial"/>
              </a:defRPr>
            </a:lvl3pPr>
            <a:lvl4pPr>
              <a:defRPr sz="2025" b="1">
                <a:solidFill>
                  <a:srgbClr val="18202A"/>
                </a:solidFill>
                <a:latin typeface="Arial"/>
                <a:ea typeface="Arial"/>
                <a:cs typeface="Arial"/>
              </a:defRPr>
            </a:lvl4pPr>
            <a:lvl5pPr>
              <a:defRPr sz="2025" b="1">
                <a:solidFill>
                  <a:srgbClr val="18202A"/>
                </a:solidFill>
                <a:latin typeface="Arial"/>
                <a:ea typeface="Arial"/>
                <a:cs typeface="Arial"/>
              </a:defRPr>
            </a:lvl5pPr>
            <a:lvl6pPr>
              <a:defRPr sz="2025" b="1">
                <a:solidFill>
                  <a:srgbClr val="18202A"/>
                </a:solidFill>
                <a:latin typeface="Arial"/>
                <a:ea typeface="Arial"/>
                <a:cs typeface="Arial"/>
              </a:defRPr>
            </a:lvl6pPr>
            <a:lvl7pPr>
              <a:defRPr sz="2025" b="1">
                <a:solidFill>
                  <a:srgbClr val="18202A"/>
                </a:solidFill>
                <a:latin typeface="Arial"/>
                <a:ea typeface="Arial"/>
                <a:cs typeface="Arial"/>
              </a:defRPr>
            </a:lvl7pPr>
            <a:lvl8pPr>
              <a:defRPr sz="2025" b="1">
                <a:solidFill>
                  <a:srgbClr val="18202A"/>
                </a:solidFill>
                <a:latin typeface="Arial"/>
                <a:ea typeface="Arial"/>
                <a:cs typeface="Arial"/>
              </a:defRPr>
            </a:lvl8pPr>
            <a:lvl9pPr>
              <a:defRPr sz="2025" b="1">
                <a:solidFill>
                  <a:srgbClr val="18202A"/>
                </a:solidFill>
                <a:latin typeface="Arial"/>
                <a:ea typeface="Arial"/>
                <a:cs typeface="Arial"/>
              </a:defRPr>
            </a:lvl9pPr>
          </a:lstStyle>
          <a:p xmlns:a="http://schemas.openxmlformats.org/drawingml/2006/main">
            <a:pPr>
              <a:defRPr sz="2025" b="1">
                <a:solidFill>
                  <a:srgbClr val="18202A"/>
                </a:solidFill>
                <a:latin typeface="Arial"/>
                <a:ea typeface="Arial"/>
                <a:cs typeface="Arial"/>
              </a:defRPr>
            </a:pPr>
            <a:r>
              <a:rPr sz="2025" b="1">
                <a:solidFill>
                  <a:srgbClr val="18202A"/>
                </a:solidFill>
                <a:latin typeface="Arial"/>
                <a:ea typeface="Arial"/>
                <a:cs typeface="Arial"/>
              </a:rPr>
              <a:t>Split complete trajectories.</a:t>
            </a:r>
          </a:p>
          <a:p xmlns:a="http://schemas.openxmlformats.org/drawingml/2006/main">
            <a:pPr>
              <a:defRPr sz="2025" b="1">
                <a:solidFill>
                  <a:srgbClr val="18202A"/>
                </a:solidFill>
                <a:latin typeface="Arial"/>
                <a:ea typeface="Arial"/>
                <a:cs typeface="Arial"/>
              </a:defRPr>
            </a:pPr>
            <a:r>
              <a:rPr sz="2025" b="1">
                <a:solidFill>
                  <a:srgbClr val="18202A"/>
                </a:solidFill>
                <a:latin typeface="Arial"/>
                <a:ea typeface="Arial"/>
                <a:cs typeface="Arial"/>
              </a:rPr>
              <a:t>Fit normalization on training data only.</a:t>
            </a:r>
          </a:p>
        </p:txBody>
      </p:sp>
      <p:sp>
        <p:nvSpPr>
          <p:cNvPr id="6" name="">
            <a:extLst xmlns:a="http://schemas.openxmlformats.org/drawingml/2006/main">
              <a:ext uri="{FF2B5EF4-FFF2-40B4-BE49-F238E27FC236}">
                <a16:creationId xmlns:a16="http://schemas.microsoft.com/office/drawing/2014/main" id="{0687AD1A-A952-490F-8AF5-4FB91DE9E889}"/>
              </a:ext>
            </a:extLst>
          </p:cNvPr>
          <p:cNvSpPr>
            <a:spLocks xmlns:a="http://schemas.openxmlformats.org/drawingml/2006/main" noGrp="1"/>
          </p:cNvSpPr>
          <p:nvPr/>
        </p:nvSpPr>
        <p:spPr>
          <a:xfrm xmlns:a="http://schemas.openxmlformats.org/drawingml/2006/main">
            <a:off x="666750" y="61912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35E6C"/>
                </a:solidFill>
                <a:latin typeface="Arial"/>
                <a:ea typeface="Arial"/>
                <a:cs typeface="Arial"/>
              </a:defRPr>
            </a:defPPr>
            <a:lvl1pPr>
              <a:defRPr sz="1575" b="0">
                <a:solidFill>
                  <a:srgbClr val="535E6C"/>
                </a:solidFill>
                <a:latin typeface="Arial"/>
                <a:ea typeface="Arial"/>
                <a:cs typeface="Arial"/>
              </a:defRPr>
            </a:lvl1pPr>
            <a:lvl2pPr>
              <a:defRPr sz="1575" b="0">
                <a:solidFill>
                  <a:srgbClr val="535E6C"/>
                </a:solidFill>
                <a:latin typeface="Arial"/>
                <a:ea typeface="Arial"/>
                <a:cs typeface="Arial"/>
              </a:defRPr>
            </a:lvl2pPr>
            <a:lvl3pPr>
              <a:defRPr sz="1575" b="0">
                <a:solidFill>
                  <a:srgbClr val="535E6C"/>
                </a:solidFill>
                <a:latin typeface="Arial"/>
                <a:ea typeface="Arial"/>
                <a:cs typeface="Arial"/>
              </a:defRPr>
            </a:lvl3pPr>
            <a:lvl4pPr>
              <a:defRPr sz="1575" b="0">
                <a:solidFill>
                  <a:srgbClr val="535E6C"/>
                </a:solidFill>
                <a:latin typeface="Arial"/>
                <a:ea typeface="Arial"/>
                <a:cs typeface="Arial"/>
              </a:defRPr>
            </a:lvl4pPr>
            <a:lvl5pPr>
              <a:defRPr sz="1575" b="0">
                <a:solidFill>
                  <a:srgbClr val="535E6C"/>
                </a:solidFill>
                <a:latin typeface="Arial"/>
                <a:ea typeface="Arial"/>
                <a:cs typeface="Arial"/>
              </a:defRPr>
            </a:lvl5pPr>
            <a:lvl6pPr>
              <a:defRPr sz="1575" b="0">
                <a:solidFill>
                  <a:srgbClr val="535E6C"/>
                </a:solidFill>
                <a:latin typeface="Arial"/>
                <a:ea typeface="Arial"/>
                <a:cs typeface="Arial"/>
              </a:defRPr>
            </a:lvl6pPr>
            <a:lvl7pPr>
              <a:defRPr sz="1575" b="0">
                <a:solidFill>
                  <a:srgbClr val="535E6C"/>
                </a:solidFill>
                <a:latin typeface="Arial"/>
                <a:ea typeface="Arial"/>
                <a:cs typeface="Arial"/>
              </a:defRPr>
            </a:lvl7pPr>
            <a:lvl8pPr>
              <a:defRPr sz="1575" b="0">
                <a:solidFill>
                  <a:srgbClr val="535E6C"/>
                </a:solidFill>
                <a:latin typeface="Arial"/>
                <a:ea typeface="Arial"/>
                <a:cs typeface="Arial"/>
              </a:defRPr>
            </a:lvl8pPr>
            <a:lvl9pPr>
              <a:defRPr sz="1575" b="0">
                <a:solidFill>
                  <a:srgbClr val="535E6C"/>
                </a:solidFill>
                <a:latin typeface="Arial"/>
                <a:ea typeface="Arial"/>
                <a:cs typeface="Arial"/>
              </a:defRPr>
            </a:lvl9pPr>
          </a:lstStyle>
          <a:p xmlns:a="http://schemas.openxmlformats.org/drawingml/2006/main">
            <a:pPr>
              <a:defRPr sz="1575" b="0">
                <a:solidFill>
                  <a:srgbClr val="535E6C"/>
                </a:solidFill>
                <a:latin typeface="Arial"/>
                <a:ea typeface="Arial"/>
                <a:cs typeface="Arial"/>
              </a:defRPr>
            </a:pPr>
            <a:r>
              <a:rPr sz="1575" b="0">
                <a:solidFill>
                  <a:srgbClr val="535E6C"/>
                </a:solidFill>
                <a:latin typeface="Arial"/>
                <a:ea typeface="Arial"/>
                <a:cs typeface="Arial"/>
              </a:rPr>
              <a:t>Seed 42. 500 transitions per trajectory. No row-level shuffle across splits.</a:t>
            </a:r>
          </a:p>
        </p:txBody>
      </p:sp>
    </p:spTree>
    <p:extLst>
      <p:ext uri="{BB962C8B-B14F-4D97-AF65-F5344CB8AC3E}">
        <p14:creationId xmlns:p14="http://schemas.microsoft.com/office/powerpoint/2010/main" val="17389684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557D60-285B-4F64-8D77-627D2D7D4CF2}"/>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02A"/>
                </a:solidFill>
                <a:latin typeface="Arial"/>
                <a:ea typeface="Arial"/>
                <a:cs typeface="Arial"/>
              </a:defRPr>
            </a:defPPr>
            <a:lvl1pPr>
              <a:defRPr sz="3300" b="1">
                <a:solidFill>
                  <a:srgbClr val="18202A"/>
                </a:solidFill>
                <a:latin typeface="Arial"/>
                <a:ea typeface="Arial"/>
                <a:cs typeface="Arial"/>
              </a:defRPr>
            </a:lvl1pPr>
            <a:lvl2pPr>
              <a:defRPr sz="3300" b="1">
                <a:solidFill>
                  <a:srgbClr val="18202A"/>
                </a:solidFill>
                <a:latin typeface="Arial"/>
                <a:ea typeface="Arial"/>
                <a:cs typeface="Arial"/>
              </a:defRPr>
            </a:lvl2pPr>
            <a:lvl3pPr>
              <a:defRPr sz="3300" b="1">
                <a:solidFill>
                  <a:srgbClr val="18202A"/>
                </a:solidFill>
                <a:latin typeface="Arial"/>
                <a:ea typeface="Arial"/>
                <a:cs typeface="Arial"/>
              </a:defRPr>
            </a:lvl3pPr>
            <a:lvl4pPr>
              <a:defRPr sz="3300" b="1">
                <a:solidFill>
                  <a:srgbClr val="18202A"/>
                </a:solidFill>
                <a:latin typeface="Arial"/>
                <a:ea typeface="Arial"/>
                <a:cs typeface="Arial"/>
              </a:defRPr>
            </a:lvl4pPr>
            <a:lvl5pPr>
              <a:defRPr sz="3300" b="1">
                <a:solidFill>
                  <a:srgbClr val="18202A"/>
                </a:solidFill>
                <a:latin typeface="Arial"/>
                <a:ea typeface="Arial"/>
                <a:cs typeface="Arial"/>
              </a:defRPr>
            </a:lvl5pPr>
            <a:lvl6pPr>
              <a:defRPr sz="3300" b="1">
                <a:solidFill>
                  <a:srgbClr val="18202A"/>
                </a:solidFill>
                <a:latin typeface="Arial"/>
                <a:ea typeface="Arial"/>
                <a:cs typeface="Arial"/>
              </a:defRPr>
            </a:lvl6pPr>
            <a:lvl7pPr>
              <a:defRPr sz="3300" b="1">
                <a:solidFill>
                  <a:srgbClr val="18202A"/>
                </a:solidFill>
                <a:latin typeface="Arial"/>
                <a:ea typeface="Arial"/>
                <a:cs typeface="Arial"/>
              </a:defRPr>
            </a:lvl7pPr>
            <a:lvl8pPr>
              <a:defRPr sz="3300" b="1">
                <a:solidFill>
                  <a:srgbClr val="18202A"/>
                </a:solidFill>
                <a:latin typeface="Arial"/>
                <a:ea typeface="Arial"/>
                <a:cs typeface="Arial"/>
              </a:defRPr>
            </a:lvl8pPr>
            <a:lvl9pPr>
              <a:defRPr sz="3300" b="1">
                <a:solidFill>
                  <a:srgbClr val="18202A"/>
                </a:solidFill>
                <a:latin typeface="Arial"/>
                <a:ea typeface="Arial"/>
                <a:cs typeface="Arial"/>
              </a:defRPr>
            </a:lvl9pPr>
          </a:lstStyle>
          <a:p xmlns:a="http://schemas.openxmlformats.org/drawingml/2006/main">
            <a:pPr>
              <a:defRPr sz="3300" b="1">
                <a:solidFill>
                  <a:srgbClr val="18202A"/>
                </a:solidFill>
                <a:latin typeface="Arial"/>
                <a:ea typeface="Arial"/>
                <a:cs typeface="Arial"/>
              </a:defRPr>
            </a:pPr>
            <a:r>
              <a:rPr sz="3300" b="1">
                <a:solidFill>
                  <a:srgbClr val="18202A"/>
                </a:solidFill>
                <a:latin typeface="Arial"/>
                <a:ea typeface="Arial"/>
                <a:cs typeface="Arial"/>
              </a:rPr>
              <a:t>Handwritten Neural Network</a:t>
            </a:r>
          </a:p>
        </p:txBody>
      </p:sp>
      <p:sp>
        <p:nvSpPr>
          <p:cNvPr id="2" name="">
            <a:extLst xmlns:a="http://schemas.openxmlformats.org/drawingml/2006/main">
              <a:ext uri="{FF2B5EF4-FFF2-40B4-BE49-F238E27FC236}">
                <a16:creationId xmlns:a16="http://schemas.microsoft.com/office/drawing/2014/main" id="{43E1EF36-6B28-448C-93C9-E87C69FC051E}"/>
              </a:ext>
            </a:extLst>
          </p:cNvPr>
          <p:cNvSpPr>
            <a:spLocks xmlns:a="http://schemas.openxmlformats.org/drawingml/2006/main" noGrp="1"/>
          </p:cNvSpPr>
          <p:nvPr/>
        </p:nvSpPr>
        <p:spPr>
          <a:xfrm xmlns:a="http://schemas.openxmlformats.org/drawingml/2006/main">
            <a:off x="647700" y="13811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8202A"/>
                </a:solidFill>
                <a:latin typeface="Arial"/>
                <a:ea typeface="Arial"/>
                <a:cs typeface="Arial"/>
              </a:defRPr>
            </a:defPPr>
            <a:lvl1pPr>
              <a:defRPr sz="2175" b="0">
                <a:solidFill>
                  <a:srgbClr val="18202A"/>
                </a:solidFill>
                <a:latin typeface="Arial"/>
                <a:ea typeface="Arial"/>
                <a:cs typeface="Arial"/>
              </a:defRPr>
            </a:lvl1pPr>
            <a:lvl2pPr>
              <a:defRPr sz="2175" b="0">
                <a:solidFill>
                  <a:srgbClr val="18202A"/>
                </a:solidFill>
                <a:latin typeface="Arial"/>
                <a:ea typeface="Arial"/>
                <a:cs typeface="Arial"/>
              </a:defRPr>
            </a:lvl2pPr>
            <a:lvl3pPr>
              <a:defRPr sz="2175" b="0">
                <a:solidFill>
                  <a:srgbClr val="18202A"/>
                </a:solidFill>
                <a:latin typeface="Arial"/>
                <a:ea typeface="Arial"/>
                <a:cs typeface="Arial"/>
              </a:defRPr>
            </a:lvl3pPr>
            <a:lvl4pPr>
              <a:defRPr sz="2175" b="0">
                <a:solidFill>
                  <a:srgbClr val="18202A"/>
                </a:solidFill>
                <a:latin typeface="Arial"/>
                <a:ea typeface="Arial"/>
                <a:cs typeface="Arial"/>
              </a:defRPr>
            </a:lvl4pPr>
            <a:lvl5pPr>
              <a:defRPr sz="2175" b="0">
                <a:solidFill>
                  <a:srgbClr val="18202A"/>
                </a:solidFill>
                <a:latin typeface="Arial"/>
                <a:ea typeface="Arial"/>
                <a:cs typeface="Arial"/>
              </a:defRPr>
            </a:lvl5pPr>
            <a:lvl6pPr>
              <a:defRPr sz="2175" b="0">
                <a:solidFill>
                  <a:srgbClr val="18202A"/>
                </a:solidFill>
                <a:latin typeface="Arial"/>
                <a:ea typeface="Arial"/>
                <a:cs typeface="Arial"/>
              </a:defRPr>
            </a:lvl6pPr>
            <a:lvl7pPr>
              <a:defRPr sz="2175" b="0">
                <a:solidFill>
                  <a:srgbClr val="18202A"/>
                </a:solidFill>
                <a:latin typeface="Arial"/>
                <a:ea typeface="Arial"/>
                <a:cs typeface="Arial"/>
              </a:defRPr>
            </a:lvl7pPr>
            <a:lvl8pPr>
              <a:defRPr sz="2175" b="0">
                <a:solidFill>
                  <a:srgbClr val="18202A"/>
                </a:solidFill>
                <a:latin typeface="Arial"/>
                <a:ea typeface="Arial"/>
                <a:cs typeface="Arial"/>
              </a:defRPr>
            </a:lvl8pPr>
            <a:lvl9pPr>
              <a:defRPr sz="2175" b="0">
                <a:solidFill>
                  <a:srgbClr val="18202A"/>
                </a:solidFill>
                <a:latin typeface="Arial"/>
                <a:ea typeface="Arial"/>
                <a:cs typeface="Arial"/>
              </a:defRPr>
            </a:lvl9pPr>
          </a:lstStyle>
          <a:p xmlns:a="http://schemas.openxmlformats.org/drawingml/2006/main">
            <a:pPr>
              <a:defRPr sz="2175" b="0">
                <a:solidFill>
                  <a:srgbClr val="18202A"/>
                </a:solidFill>
                <a:latin typeface="Arial"/>
                <a:ea typeface="Arial"/>
                <a:cs typeface="Arial"/>
              </a:defRPr>
            </a:pPr>
            <a:r>
              <a:rPr sz="2175" b="0">
                <a:solidFill>
                  <a:srgbClr val="18202A"/>
                </a:solidFill>
                <a:latin typeface="Arial"/>
                <a:ea typeface="Arial"/>
                <a:cs typeface="Arial"/>
              </a:rPr>
              <a:t>Dense layers, activations, MSE, backpropagation and SGD</a:t>
            </a:r>
          </a:p>
        </p:txBody>
      </p:sp>
      <p:graphicFrame>
        <p:nvGraphicFramePr>
          <p:cNvPr id="3" name="">
            <a:extLst xmlns:a="http://schemas.openxmlformats.org/drawingml/2006/main">
              <a:ext uri="{FF2B5EF4-FFF2-40B4-BE49-F238E27FC236}">
                <a16:creationId xmlns:a16="http://schemas.microsoft.com/office/drawing/2014/main" id="{4250D294-067E-4D37-B7DE-1988CA15CACC}"/>
              </a:ext>
            </a:extLst>
          </p:cNvPr>
          <p:cNvGraphicFramePr/>
          <p:nvPr/>
        </p:nvGraphicFramePr>
        <p:xfrm>
          <a:off xmlns:a="http://schemas.openxmlformats.org/drawingml/2006/main" x="647700" y="2238375"/>
          <a:ext xmlns:a="http://schemas.openxmlformats.org/drawingml/2006/main" cx="10858500" cy="2000250"/>
        </p:xfrm>
        <a:graphic xmlns:a="http://schemas.openxmlformats.org/drawingml/2006/main">
          <a:graphicData uri="http://schemas.openxmlformats.org/drawingml/2006/table">
            <a:tbl>
              <a:tblPr/>
              <a:tblGrid>
                <a:gridCol w="3429000"/>
                <a:gridCol w="2857500"/>
                <a:gridCol w="2476500"/>
                <a:gridCol w="2095500"/>
              </a:tblGrid>
              <a:tr h="666750">
                <a:tc>
                  <a:txBody>
                    <a:bodyPr/>
                    <a:lstStyle/>
                    <a:p>
                      <a:r>
                        <a:rPr sz="1725" b="1">
                          <a:solidFill>
                            <a:srgbClr val="18202A"/>
                          </a:solidFill>
                          <a:latin typeface="Arial"/>
                          <a:ea typeface="Arial"/>
                          <a:cs typeface="Arial"/>
                        </a:rPr>
                        <a:t>Model</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Architecture</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Activation</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Parameters</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r>
              <a:tr h="666750">
                <a:tc>
                  <a:txBody>
                    <a:bodyPr/>
                    <a:lstStyle/>
                    <a:p>
                      <a:r>
                        <a:rPr sz="1725" b="0">
                          <a:solidFill>
                            <a:srgbClr val="18202A"/>
                          </a:solidFill>
                          <a:latin typeface="Arial"/>
                          <a:ea typeface="Arial"/>
                          <a:cs typeface="Arial"/>
                        </a:rPr>
                        <a:t>Main</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2-32-32-2</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Tanh</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1,218</a:t>
                      </a:r>
                    </a:p>
                  </a:txBody>
                  <a:tcPr marL="91440" marR="91440" marT="45720" marB="45720">
                    <a:lnR w="9525">
                      <a:solidFill>
                        <a:srgbClr val="D9D9D9"/>
                      </a:solidFill>
                      <a:prstDash val="solid"/>
                    </a:lnR>
                    <a:lnB w="9525">
                      <a:solidFill>
                        <a:srgbClr val="D9D9D9"/>
                      </a:solidFill>
                      <a:prstDash val="solid"/>
                    </a:lnB>
                    <a:solidFill>
                      <a:srgbClr val="FFFFFF"/>
                    </a:solidFill>
                  </a:tcPr>
                </a:tc>
              </a:tr>
              <a:tr h="666750">
                <a:tc>
                  <a:txBody>
                    <a:bodyPr/>
                    <a:lstStyle/>
                    <a:p>
                      <a:r>
                        <a:rPr sz="1725" b="0">
                          <a:solidFill>
                            <a:srgbClr val="18202A"/>
                          </a:solidFill>
                          <a:latin typeface="Arial"/>
                          <a:ea typeface="Arial"/>
                          <a:cs typeface="Arial"/>
                        </a:rPr>
                        <a:t>Small baseline</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r>
                        <a:rPr sz="1725" b="0">
                          <a:solidFill>
                            <a:srgbClr val="18202A"/>
                          </a:solidFill>
                          <a:latin typeface="Arial"/>
                          <a:ea typeface="Arial"/>
                          <a:cs typeface="Arial"/>
                        </a:rPr>
                        <a:t>2-3-2</a:t>
                      </a:r>
                    </a:p>
                  </a:txBody>
                  <a:tcPr marL="91440" marR="91440" marT="45720" marB="45720">
                    <a:lnR w="9525">
                      <a:solidFill>
                        <a:srgbClr val="D9D9D9"/>
                      </a:solidFill>
                      <a:prstDash val="solid"/>
                    </a:lnR>
                    <a:lnB w="9525">
                      <a:solidFill>
                        <a:srgbClr val="D9D9D9"/>
                      </a:solidFill>
                      <a:prstDash val="solid"/>
                    </a:lnB>
                    <a:solidFill>
                      <a:srgbClr val="F5F7F9"/>
                    </a:solidFill>
                  </a:tcPr>
                </a:tc>
                <a:tc>
                  <a:txBody>
                    <a:bodyPr/>
                    <a:lstStyle/>
                    <a:p>
                      <a:r>
                        <a:rPr sz="1725" b="0">
                          <a:solidFill>
                            <a:srgbClr val="18202A"/>
                          </a:solidFill>
                          <a:latin typeface="Arial"/>
                          <a:ea typeface="Arial"/>
                          <a:cs typeface="Arial"/>
                        </a:rPr>
                        <a:t>Sigmoid</a:t>
                      </a:r>
                    </a:p>
                  </a:txBody>
                  <a:tcPr marL="91440" marR="91440" marT="45720" marB="45720">
                    <a:lnR w="9525">
                      <a:solidFill>
                        <a:srgbClr val="D9D9D9"/>
                      </a:solidFill>
                      <a:prstDash val="solid"/>
                    </a:lnR>
                    <a:lnB w="9525">
                      <a:solidFill>
                        <a:srgbClr val="D9D9D9"/>
                      </a:solidFill>
                      <a:prstDash val="solid"/>
                    </a:lnB>
                    <a:solidFill>
                      <a:srgbClr val="F5F7F9"/>
                    </a:solidFill>
                  </a:tcPr>
                </a:tc>
                <a:tc>
                  <a:txBody>
                    <a:bodyPr/>
                    <a:lstStyle/>
                    <a:p>
                      <a:r>
                        <a:rPr sz="1725" b="0">
                          <a:solidFill>
                            <a:srgbClr val="18202A"/>
                          </a:solidFill>
                          <a:latin typeface="Arial"/>
                          <a:ea typeface="Arial"/>
                          <a:cs typeface="Arial"/>
                        </a:rPr>
                        <a:t>17</a:t>
                      </a:r>
                    </a:p>
                  </a:txBody>
                  <a:tcPr marL="91440" marR="91440" marT="45720" marB="45720">
                    <a:lnR w="9525">
                      <a:solidFill>
                        <a:srgbClr val="D9D9D9"/>
                      </a:solidFill>
                      <a:prstDash val="solid"/>
                    </a:lnR>
                    <a:lnB w="9525">
                      <a:solidFill>
                        <a:srgbClr val="D9D9D9"/>
                      </a:solidFill>
                      <a:prstDash val="solid"/>
                    </a:lnB>
                    <a:solidFill>
                      <a:srgbClr val="F5F7F9"/>
                    </a:solidFill>
                  </a:tcPr>
                </a:tc>
              </a:tr>
            </a:tbl>
          </a:graphicData>
        </a:graphic>
      </p:graphicFrame>
      <p:sp>
        <p:nvSpPr>
          <p:cNvPr id="4" name="">
            <a:extLst xmlns:a="http://schemas.openxmlformats.org/drawingml/2006/main">
              <a:ext uri="{FF2B5EF4-FFF2-40B4-BE49-F238E27FC236}">
                <a16:creationId xmlns:a16="http://schemas.microsoft.com/office/drawing/2014/main" id="{61834FD4-99EF-49DC-9C24-3BB22C5A0966}"/>
              </a:ext>
            </a:extLst>
          </p:cNvPr>
          <p:cNvSpPr>
            <a:spLocks xmlns:a="http://schemas.openxmlformats.org/drawingml/2006/main" noGrp="1"/>
          </p:cNvSpPr>
          <p:nvPr/>
        </p:nvSpPr>
        <p:spPr>
          <a:xfrm xmlns:a="http://schemas.openxmlformats.org/drawingml/2006/main">
            <a:off x="666750" y="46672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18202A"/>
                </a:solidFill>
                <a:latin typeface="Arial"/>
                <a:ea typeface="Arial"/>
                <a:cs typeface="Arial"/>
              </a:defRPr>
            </a:defPPr>
            <a:lvl1pPr>
              <a:defRPr sz="2100" b="0">
                <a:solidFill>
                  <a:srgbClr val="18202A"/>
                </a:solidFill>
                <a:latin typeface="Arial"/>
                <a:ea typeface="Arial"/>
                <a:cs typeface="Arial"/>
              </a:defRPr>
            </a:lvl1pPr>
            <a:lvl2pPr>
              <a:defRPr sz="2100" b="0">
                <a:solidFill>
                  <a:srgbClr val="18202A"/>
                </a:solidFill>
                <a:latin typeface="Arial"/>
                <a:ea typeface="Arial"/>
                <a:cs typeface="Arial"/>
              </a:defRPr>
            </a:lvl2pPr>
            <a:lvl3pPr>
              <a:defRPr sz="2100" b="0">
                <a:solidFill>
                  <a:srgbClr val="18202A"/>
                </a:solidFill>
                <a:latin typeface="Arial"/>
                <a:ea typeface="Arial"/>
                <a:cs typeface="Arial"/>
              </a:defRPr>
            </a:lvl3pPr>
            <a:lvl4pPr>
              <a:defRPr sz="2100" b="0">
                <a:solidFill>
                  <a:srgbClr val="18202A"/>
                </a:solidFill>
                <a:latin typeface="Arial"/>
                <a:ea typeface="Arial"/>
                <a:cs typeface="Arial"/>
              </a:defRPr>
            </a:lvl4pPr>
            <a:lvl5pPr>
              <a:defRPr sz="2100" b="0">
                <a:solidFill>
                  <a:srgbClr val="18202A"/>
                </a:solidFill>
                <a:latin typeface="Arial"/>
                <a:ea typeface="Arial"/>
                <a:cs typeface="Arial"/>
              </a:defRPr>
            </a:lvl5pPr>
            <a:lvl6pPr>
              <a:defRPr sz="2100" b="0">
                <a:solidFill>
                  <a:srgbClr val="18202A"/>
                </a:solidFill>
                <a:latin typeface="Arial"/>
                <a:ea typeface="Arial"/>
                <a:cs typeface="Arial"/>
              </a:defRPr>
            </a:lvl6pPr>
            <a:lvl7pPr>
              <a:defRPr sz="2100" b="0">
                <a:solidFill>
                  <a:srgbClr val="18202A"/>
                </a:solidFill>
                <a:latin typeface="Arial"/>
                <a:ea typeface="Arial"/>
                <a:cs typeface="Arial"/>
              </a:defRPr>
            </a:lvl7pPr>
            <a:lvl8pPr>
              <a:defRPr sz="2100" b="0">
                <a:solidFill>
                  <a:srgbClr val="18202A"/>
                </a:solidFill>
                <a:latin typeface="Arial"/>
                <a:ea typeface="Arial"/>
                <a:cs typeface="Arial"/>
              </a:defRPr>
            </a:lvl8pPr>
            <a:lvl9pPr>
              <a:defRPr sz="2100" b="0">
                <a:solidFill>
                  <a:srgbClr val="18202A"/>
                </a:solidFill>
                <a:latin typeface="Arial"/>
                <a:ea typeface="Arial"/>
                <a:cs typeface="Arial"/>
              </a:defRPr>
            </a:lvl9pPr>
          </a:lstStyle>
          <a:p xmlns:a="http://schemas.openxmlformats.org/drawingml/2006/main">
            <a:pPr>
              <a:defRPr sz="2100" b="0">
                <a:solidFill>
                  <a:srgbClr val="18202A"/>
                </a:solidFill>
                <a:latin typeface="Arial"/>
                <a:ea typeface="Arial"/>
                <a:cs typeface="Arial"/>
              </a:defRPr>
            </a:pPr>
            <a:r>
              <a:rPr sz="2100" b="0">
                <a:solidFill>
                  <a:srgbClr val="18202A"/>
                </a:solidFill>
                <a:latin typeface="Arial"/>
                <a:ea typeface="Arial"/>
                <a:cs typeface="Arial"/>
              </a:rPr>
              <a:t>ReLU is also implemented and gradient-checked.</a:t>
            </a:r>
          </a:p>
        </p:txBody>
      </p:sp>
      <p:sp>
        <p:nvSpPr>
          <p:cNvPr id="5" name="">
            <a:extLst xmlns:a="http://schemas.openxmlformats.org/drawingml/2006/main">
              <a:ext uri="{FF2B5EF4-FFF2-40B4-BE49-F238E27FC236}">
                <a16:creationId xmlns:a16="http://schemas.microsoft.com/office/drawing/2014/main" id="{8512764C-06AD-46C3-A8B0-DC221E4E1523}"/>
              </a:ext>
            </a:extLst>
          </p:cNvPr>
          <p:cNvSpPr>
            <a:spLocks xmlns:a="http://schemas.openxmlformats.org/drawingml/2006/main" noGrp="1"/>
          </p:cNvSpPr>
          <p:nvPr/>
        </p:nvSpPr>
        <p:spPr>
          <a:xfrm xmlns:a="http://schemas.openxmlformats.org/drawingml/2006/main">
            <a:off x="666750" y="53340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18202A"/>
                </a:solidFill>
                <a:latin typeface="Cambria Math"/>
                <a:ea typeface="Cambria Math"/>
                <a:cs typeface="Cambria Math"/>
              </a:defRPr>
            </a:defPPr>
            <a:lvl1pPr>
              <a:defRPr sz="2400" b="0">
                <a:solidFill>
                  <a:srgbClr val="18202A"/>
                </a:solidFill>
                <a:latin typeface="Cambria Math"/>
                <a:ea typeface="Cambria Math"/>
                <a:cs typeface="Cambria Math"/>
              </a:defRPr>
            </a:lvl1pPr>
            <a:lvl2pPr>
              <a:defRPr sz="2400" b="0">
                <a:solidFill>
                  <a:srgbClr val="18202A"/>
                </a:solidFill>
                <a:latin typeface="Cambria Math"/>
                <a:ea typeface="Cambria Math"/>
                <a:cs typeface="Cambria Math"/>
              </a:defRPr>
            </a:lvl2pPr>
            <a:lvl3pPr>
              <a:defRPr sz="2400" b="0">
                <a:solidFill>
                  <a:srgbClr val="18202A"/>
                </a:solidFill>
                <a:latin typeface="Cambria Math"/>
                <a:ea typeface="Cambria Math"/>
                <a:cs typeface="Cambria Math"/>
              </a:defRPr>
            </a:lvl3pPr>
            <a:lvl4pPr>
              <a:defRPr sz="2400" b="0">
                <a:solidFill>
                  <a:srgbClr val="18202A"/>
                </a:solidFill>
                <a:latin typeface="Cambria Math"/>
                <a:ea typeface="Cambria Math"/>
                <a:cs typeface="Cambria Math"/>
              </a:defRPr>
            </a:lvl4pPr>
            <a:lvl5pPr>
              <a:defRPr sz="2400" b="0">
                <a:solidFill>
                  <a:srgbClr val="18202A"/>
                </a:solidFill>
                <a:latin typeface="Cambria Math"/>
                <a:ea typeface="Cambria Math"/>
                <a:cs typeface="Cambria Math"/>
              </a:defRPr>
            </a:lvl5pPr>
            <a:lvl6pPr>
              <a:defRPr sz="2400" b="0">
                <a:solidFill>
                  <a:srgbClr val="18202A"/>
                </a:solidFill>
                <a:latin typeface="Cambria Math"/>
                <a:ea typeface="Cambria Math"/>
                <a:cs typeface="Cambria Math"/>
              </a:defRPr>
            </a:lvl6pPr>
            <a:lvl7pPr>
              <a:defRPr sz="2400" b="0">
                <a:solidFill>
                  <a:srgbClr val="18202A"/>
                </a:solidFill>
                <a:latin typeface="Cambria Math"/>
                <a:ea typeface="Cambria Math"/>
                <a:cs typeface="Cambria Math"/>
              </a:defRPr>
            </a:lvl7pPr>
            <a:lvl8pPr>
              <a:defRPr sz="2400" b="0">
                <a:solidFill>
                  <a:srgbClr val="18202A"/>
                </a:solidFill>
                <a:latin typeface="Cambria Math"/>
                <a:ea typeface="Cambria Math"/>
                <a:cs typeface="Cambria Math"/>
              </a:defRPr>
            </a:lvl8pPr>
            <a:lvl9pPr>
              <a:defRPr sz="2400" b="0">
                <a:solidFill>
                  <a:srgbClr val="18202A"/>
                </a:solidFill>
                <a:latin typeface="Cambria Math"/>
                <a:ea typeface="Cambria Math"/>
                <a:cs typeface="Cambria Math"/>
              </a:defRPr>
            </a:lvl9pPr>
          </a:lstStyle>
          <a:p xmlns:a="http://schemas.openxmlformats.org/drawingml/2006/main">
            <a:pPr>
              <a:defRPr sz="2400" b="0">
                <a:solidFill>
                  <a:srgbClr val="18202A"/>
                </a:solidFill>
                <a:latin typeface="Cambria Math"/>
                <a:ea typeface="Cambria Math"/>
                <a:cs typeface="Cambria Math"/>
              </a:defRPr>
            </a:pPr>
            <a:r>
              <a:rPr sz="2400" b="0">
                <a:solidFill>
                  <a:srgbClr val="18202A"/>
                </a:solidFill>
                <a:latin typeface="Cambria Math"/>
                <a:ea typeface="Cambria Math"/>
                <a:cs typeface="Cambria Math"/>
              </a:rPr>
              <a:t>next state = current state + learned increment</a:t>
            </a:r>
          </a:p>
        </p:txBody>
      </p:sp>
      <p:sp>
        <p:nvSpPr>
          <p:cNvPr id="6" name="">
            <a:extLst xmlns:a="http://schemas.openxmlformats.org/drawingml/2006/main">
              <a:ext uri="{FF2B5EF4-FFF2-40B4-BE49-F238E27FC236}">
                <a16:creationId xmlns:a16="http://schemas.microsoft.com/office/drawing/2014/main" id="{494392D3-9028-49B5-973B-657A9399F6F3}"/>
              </a:ext>
            </a:extLst>
          </p:cNvPr>
          <p:cNvSpPr>
            <a:spLocks xmlns:a="http://schemas.openxmlformats.org/drawingml/2006/main" noGrp="1"/>
          </p:cNvSpPr>
          <p:nvPr/>
        </p:nvSpPr>
        <p:spPr>
          <a:xfrm xmlns:a="http://schemas.openxmlformats.org/drawingml/2006/main">
            <a:off x="666750" y="61912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35E6C"/>
                </a:solidFill>
                <a:latin typeface="Arial"/>
                <a:ea typeface="Arial"/>
                <a:cs typeface="Arial"/>
              </a:defRPr>
            </a:defPPr>
            <a:lvl1pPr>
              <a:defRPr sz="1575" b="0">
                <a:solidFill>
                  <a:srgbClr val="535E6C"/>
                </a:solidFill>
                <a:latin typeface="Arial"/>
                <a:ea typeface="Arial"/>
                <a:cs typeface="Arial"/>
              </a:defRPr>
            </a:lvl1pPr>
            <a:lvl2pPr>
              <a:defRPr sz="1575" b="0">
                <a:solidFill>
                  <a:srgbClr val="535E6C"/>
                </a:solidFill>
                <a:latin typeface="Arial"/>
                <a:ea typeface="Arial"/>
                <a:cs typeface="Arial"/>
              </a:defRPr>
            </a:lvl2pPr>
            <a:lvl3pPr>
              <a:defRPr sz="1575" b="0">
                <a:solidFill>
                  <a:srgbClr val="535E6C"/>
                </a:solidFill>
                <a:latin typeface="Arial"/>
                <a:ea typeface="Arial"/>
                <a:cs typeface="Arial"/>
              </a:defRPr>
            </a:lvl3pPr>
            <a:lvl4pPr>
              <a:defRPr sz="1575" b="0">
                <a:solidFill>
                  <a:srgbClr val="535E6C"/>
                </a:solidFill>
                <a:latin typeface="Arial"/>
                <a:ea typeface="Arial"/>
                <a:cs typeface="Arial"/>
              </a:defRPr>
            </a:lvl4pPr>
            <a:lvl5pPr>
              <a:defRPr sz="1575" b="0">
                <a:solidFill>
                  <a:srgbClr val="535E6C"/>
                </a:solidFill>
                <a:latin typeface="Arial"/>
                <a:ea typeface="Arial"/>
                <a:cs typeface="Arial"/>
              </a:defRPr>
            </a:lvl5pPr>
            <a:lvl6pPr>
              <a:defRPr sz="1575" b="0">
                <a:solidFill>
                  <a:srgbClr val="535E6C"/>
                </a:solidFill>
                <a:latin typeface="Arial"/>
                <a:ea typeface="Arial"/>
                <a:cs typeface="Arial"/>
              </a:defRPr>
            </a:lvl6pPr>
            <a:lvl7pPr>
              <a:defRPr sz="1575" b="0">
                <a:solidFill>
                  <a:srgbClr val="535E6C"/>
                </a:solidFill>
                <a:latin typeface="Arial"/>
                <a:ea typeface="Arial"/>
                <a:cs typeface="Arial"/>
              </a:defRPr>
            </a:lvl7pPr>
            <a:lvl8pPr>
              <a:defRPr sz="1575" b="0">
                <a:solidFill>
                  <a:srgbClr val="535E6C"/>
                </a:solidFill>
                <a:latin typeface="Arial"/>
                <a:ea typeface="Arial"/>
                <a:cs typeface="Arial"/>
              </a:defRPr>
            </a:lvl8pPr>
            <a:lvl9pPr>
              <a:defRPr sz="1575" b="0">
                <a:solidFill>
                  <a:srgbClr val="535E6C"/>
                </a:solidFill>
                <a:latin typeface="Arial"/>
                <a:ea typeface="Arial"/>
                <a:cs typeface="Arial"/>
              </a:defRPr>
            </a:lvl9pPr>
          </a:lstStyle>
          <a:p xmlns:a="http://schemas.openxmlformats.org/drawingml/2006/main">
            <a:pPr>
              <a:defRPr sz="1575" b="0">
                <a:solidFill>
                  <a:srgbClr val="535E6C"/>
                </a:solidFill>
                <a:latin typeface="Arial"/>
                <a:ea typeface="Arial"/>
                <a:cs typeface="Arial"/>
              </a:defRPr>
            </a:pPr>
            <a:r>
              <a:rPr sz="1575" b="0">
                <a:solidFill>
                  <a:srgbClr val="535E6C"/>
                </a:solidFill>
                <a:latin typeface="Arial"/>
                <a:ea typeface="Arial"/>
                <a:cs typeface="Arial"/>
              </a:rPr>
              <a:t>ndarray supplies linear algebra only. No autodiff or high-level ML framework.</a:t>
            </a:r>
          </a:p>
        </p:txBody>
      </p:sp>
    </p:spTree>
    <p:extLst>
      <p:ext uri="{BB962C8B-B14F-4D97-AF65-F5344CB8AC3E}">
        <p14:creationId xmlns:p14="http://schemas.microsoft.com/office/powerpoint/2010/main" val="877969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C296D1-D8A8-44F2-8823-C0508906F270}"/>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02A"/>
                </a:solidFill>
                <a:latin typeface="Arial"/>
                <a:ea typeface="Arial"/>
                <a:cs typeface="Arial"/>
              </a:defRPr>
            </a:defPPr>
            <a:lvl1pPr>
              <a:defRPr sz="3300" b="1">
                <a:solidFill>
                  <a:srgbClr val="18202A"/>
                </a:solidFill>
                <a:latin typeface="Arial"/>
                <a:ea typeface="Arial"/>
                <a:cs typeface="Arial"/>
              </a:defRPr>
            </a:lvl1pPr>
            <a:lvl2pPr>
              <a:defRPr sz="3300" b="1">
                <a:solidFill>
                  <a:srgbClr val="18202A"/>
                </a:solidFill>
                <a:latin typeface="Arial"/>
                <a:ea typeface="Arial"/>
                <a:cs typeface="Arial"/>
              </a:defRPr>
            </a:lvl2pPr>
            <a:lvl3pPr>
              <a:defRPr sz="3300" b="1">
                <a:solidFill>
                  <a:srgbClr val="18202A"/>
                </a:solidFill>
                <a:latin typeface="Arial"/>
                <a:ea typeface="Arial"/>
                <a:cs typeface="Arial"/>
              </a:defRPr>
            </a:lvl3pPr>
            <a:lvl4pPr>
              <a:defRPr sz="3300" b="1">
                <a:solidFill>
                  <a:srgbClr val="18202A"/>
                </a:solidFill>
                <a:latin typeface="Arial"/>
                <a:ea typeface="Arial"/>
                <a:cs typeface="Arial"/>
              </a:defRPr>
            </a:lvl4pPr>
            <a:lvl5pPr>
              <a:defRPr sz="3300" b="1">
                <a:solidFill>
                  <a:srgbClr val="18202A"/>
                </a:solidFill>
                <a:latin typeface="Arial"/>
                <a:ea typeface="Arial"/>
                <a:cs typeface="Arial"/>
              </a:defRPr>
            </a:lvl5pPr>
            <a:lvl6pPr>
              <a:defRPr sz="3300" b="1">
                <a:solidFill>
                  <a:srgbClr val="18202A"/>
                </a:solidFill>
                <a:latin typeface="Arial"/>
                <a:ea typeface="Arial"/>
                <a:cs typeface="Arial"/>
              </a:defRPr>
            </a:lvl6pPr>
            <a:lvl7pPr>
              <a:defRPr sz="3300" b="1">
                <a:solidFill>
                  <a:srgbClr val="18202A"/>
                </a:solidFill>
                <a:latin typeface="Arial"/>
                <a:ea typeface="Arial"/>
                <a:cs typeface="Arial"/>
              </a:defRPr>
            </a:lvl7pPr>
            <a:lvl8pPr>
              <a:defRPr sz="3300" b="1">
                <a:solidFill>
                  <a:srgbClr val="18202A"/>
                </a:solidFill>
                <a:latin typeface="Arial"/>
                <a:ea typeface="Arial"/>
                <a:cs typeface="Arial"/>
              </a:defRPr>
            </a:lvl8pPr>
            <a:lvl9pPr>
              <a:defRPr sz="3300" b="1">
                <a:solidFill>
                  <a:srgbClr val="18202A"/>
                </a:solidFill>
                <a:latin typeface="Arial"/>
                <a:ea typeface="Arial"/>
                <a:cs typeface="Arial"/>
              </a:defRPr>
            </a:lvl9pPr>
          </a:lstStyle>
          <a:p xmlns:a="http://schemas.openxmlformats.org/drawingml/2006/main">
            <a:pPr>
              <a:defRPr sz="3300" b="1">
                <a:solidFill>
                  <a:srgbClr val="18202A"/>
                </a:solidFill>
                <a:latin typeface="Arial"/>
                <a:ea typeface="Arial"/>
                <a:cs typeface="Arial"/>
              </a:defRPr>
            </a:pPr>
            <a:r>
              <a:rPr sz="3300" b="1">
                <a:solidFill>
                  <a:srgbClr val="18202A"/>
                </a:solidFill>
                <a:latin typeface="Arial"/>
                <a:ea typeface="Arial"/>
                <a:cs typeface="Arial"/>
              </a:rPr>
              <a:t>Backpropagation</a:t>
            </a:r>
          </a:p>
        </p:txBody>
      </p:sp>
      <p:sp>
        <p:nvSpPr>
          <p:cNvPr id="2" name="">
            <a:extLst xmlns:a="http://schemas.openxmlformats.org/drawingml/2006/main">
              <a:ext uri="{FF2B5EF4-FFF2-40B4-BE49-F238E27FC236}">
                <a16:creationId xmlns:a16="http://schemas.microsoft.com/office/drawing/2014/main" id="{70EB1D3A-E0EB-4B9A-A562-58F618975D0E}"/>
              </a:ext>
            </a:extLst>
          </p:cNvPr>
          <p:cNvSpPr>
            <a:spLocks xmlns:a="http://schemas.openxmlformats.org/drawingml/2006/main" noGrp="1"/>
          </p:cNvSpPr>
          <p:nvPr/>
        </p:nvSpPr>
        <p:spPr>
          <a:xfrm xmlns:a="http://schemas.openxmlformats.org/drawingml/2006/main">
            <a:off x="666750" y="15240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18202A"/>
                </a:solidFill>
                <a:latin typeface="Cambria Math"/>
                <a:ea typeface="Cambria Math"/>
                <a:cs typeface="Cambria Math"/>
              </a:defRPr>
            </a:defPPr>
            <a:lvl1pPr>
              <a:defRPr sz="2400" b="0">
                <a:solidFill>
                  <a:srgbClr val="18202A"/>
                </a:solidFill>
                <a:latin typeface="Cambria Math"/>
                <a:ea typeface="Cambria Math"/>
                <a:cs typeface="Cambria Math"/>
              </a:defRPr>
            </a:lvl1pPr>
            <a:lvl2pPr>
              <a:defRPr sz="2400" b="0">
                <a:solidFill>
                  <a:srgbClr val="18202A"/>
                </a:solidFill>
                <a:latin typeface="Cambria Math"/>
                <a:ea typeface="Cambria Math"/>
                <a:cs typeface="Cambria Math"/>
              </a:defRPr>
            </a:lvl2pPr>
            <a:lvl3pPr>
              <a:defRPr sz="2400" b="0">
                <a:solidFill>
                  <a:srgbClr val="18202A"/>
                </a:solidFill>
                <a:latin typeface="Cambria Math"/>
                <a:ea typeface="Cambria Math"/>
                <a:cs typeface="Cambria Math"/>
              </a:defRPr>
            </a:lvl3pPr>
            <a:lvl4pPr>
              <a:defRPr sz="2400" b="0">
                <a:solidFill>
                  <a:srgbClr val="18202A"/>
                </a:solidFill>
                <a:latin typeface="Cambria Math"/>
                <a:ea typeface="Cambria Math"/>
                <a:cs typeface="Cambria Math"/>
              </a:defRPr>
            </a:lvl4pPr>
            <a:lvl5pPr>
              <a:defRPr sz="2400" b="0">
                <a:solidFill>
                  <a:srgbClr val="18202A"/>
                </a:solidFill>
                <a:latin typeface="Cambria Math"/>
                <a:ea typeface="Cambria Math"/>
                <a:cs typeface="Cambria Math"/>
              </a:defRPr>
            </a:lvl5pPr>
            <a:lvl6pPr>
              <a:defRPr sz="2400" b="0">
                <a:solidFill>
                  <a:srgbClr val="18202A"/>
                </a:solidFill>
                <a:latin typeface="Cambria Math"/>
                <a:ea typeface="Cambria Math"/>
                <a:cs typeface="Cambria Math"/>
              </a:defRPr>
            </a:lvl6pPr>
            <a:lvl7pPr>
              <a:defRPr sz="2400" b="0">
                <a:solidFill>
                  <a:srgbClr val="18202A"/>
                </a:solidFill>
                <a:latin typeface="Cambria Math"/>
                <a:ea typeface="Cambria Math"/>
                <a:cs typeface="Cambria Math"/>
              </a:defRPr>
            </a:lvl7pPr>
            <a:lvl8pPr>
              <a:defRPr sz="2400" b="0">
                <a:solidFill>
                  <a:srgbClr val="18202A"/>
                </a:solidFill>
                <a:latin typeface="Cambria Math"/>
                <a:ea typeface="Cambria Math"/>
                <a:cs typeface="Cambria Math"/>
              </a:defRPr>
            </a:lvl8pPr>
            <a:lvl9pPr>
              <a:defRPr sz="2400" b="0">
                <a:solidFill>
                  <a:srgbClr val="18202A"/>
                </a:solidFill>
                <a:latin typeface="Cambria Math"/>
                <a:ea typeface="Cambria Math"/>
                <a:cs typeface="Cambria Math"/>
              </a:defRPr>
            </a:lvl9pPr>
          </a:lstStyle>
          <a:p xmlns:a="http://schemas.openxmlformats.org/drawingml/2006/main">
            <a:pPr>
              <a:defRPr sz="2400" b="0">
                <a:solidFill>
                  <a:srgbClr val="18202A"/>
                </a:solidFill>
                <a:latin typeface="Cambria Math"/>
                <a:ea typeface="Cambria Math"/>
                <a:cs typeface="Cambria Math"/>
              </a:defRPr>
            </a:pPr>
            <a:r>
              <a:rPr sz="2400" b="0">
                <a:solidFill>
                  <a:srgbClr val="18202A"/>
                </a:solidFill>
                <a:latin typeface="Cambria Math"/>
                <a:ea typeface="Cambria Math"/>
                <a:cs typeface="Cambria Math"/>
              </a:rPr>
              <a:t>J = mean((prediction - target)^2)</a:t>
            </a:r>
          </a:p>
        </p:txBody>
      </p:sp>
      <p:sp>
        <p:nvSpPr>
          <p:cNvPr id="3" name="">
            <a:extLst xmlns:a="http://schemas.openxmlformats.org/drawingml/2006/main">
              <a:ext uri="{FF2B5EF4-FFF2-40B4-BE49-F238E27FC236}">
                <a16:creationId xmlns:a16="http://schemas.microsoft.com/office/drawing/2014/main" id="{0E3E7326-25BF-4F86-B7F6-D41711F400C7}"/>
              </a:ext>
            </a:extLst>
          </p:cNvPr>
          <p:cNvSpPr>
            <a:spLocks xmlns:a="http://schemas.openxmlformats.org/drawingml/2006/main" noGrp="1"/>
          </p:cNvSpPr>
          <p:nvPr/>
        </p:nvSpPr>
        <p:spPr>
          <a:xfrm xmlns:a="http://schemas.openxmlformats.org/drawingml/2006/main">
            <a:off x="666750" y="2333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8202A"/>
                </a:solidFill>
                <a:latin typeface="Cambria Math"/>
                <a:ea typeface="Cambria Math"/>
                <a:cs typeface="Cambria Math"/>
              </a:defRPr>
            </a:defPPr>
            <a:lvl1pPr>
              <a:defRPr sz="2325" b="0">
                <a:solidFill>
                  <a:srgbClr val="18202A"/>
                </a:solidFill>
                <a:latin typeface="Cambria Math"/>
                <a:ea typeface="Cambria Math"/>
                <a:cs typeface="Cambria Math"/>
              </a:defRPr>
            </a:lvl1pPr>
            <a:lvl2pPr>
              <a:defRPr sz="2325" b="0">
                <a:solidFill>
                  <a:srgbClr val="18202A"/>
                </a:solidFill>
                <a:latin typeface="Cambria Math"/>
                <a:ea typeface="Cambria Math"/>
                <a:cs typeface="Cambria Math"/>
              </a:defRPr>
            </a:lvl2pPr>
            <a:lvl3pPr>
              <a:defRPr sz="2325" b="0">
                <a:solidFill>
                  <a:srgbClr val="18202A"/>
                </a:solidFill>
                <a:latin typeface="Cambria Math"/>
                <a:ea typeface="Cambria Math"/>
                <a:cs typeface="Cambria Math"/>
              </a:defRPr>
            </a:lvl3pPr>
            <a:lvl4pPr>
              <a:defRPr sz="2325" b="0">
                <a:solidFill>
                  <a:srgbClr val="18202A"/>
                </a:solidFill>
                <a:latin typeface="Cambria Math"/>
                <a:ea typeface="Cambria Math"/>
                <a:cs typeface="Cambria Math"/>
              </a:defRPr>
            </a:lvl4pPr>
            <a:lvl5pPr>
              <a:defRPr sz="2325" b="0">
                <a:solidFill>
                  <a:srgbClr val="18202A"/>
                </a:solidFill>
                <a:latin typeface="Cambria Math"/>
                <a:ea typeface="Cambria Math"/>
                <a:cs typeface="Cambria Math"/>
              </a:defRPr>
            </a:lvl5pPr>
            <a:lvl6pPr>
              <a:defRPr sz="2325" b="0">
                <a:solidFill>
                  <a:srgbClr val="18202A"/>
                </a:solidFill>
                <a:latin typeface="Cambria Math"/>
                <a:ea typeface="Cambria Math"/>
                <a:cs typeface="Cambria Math"/>
              </a:defRPr>
            </a:lvl6pPr>
            <a:lvl7pPr>
              <a:defRPr sz="2325" b="0">
                <a:solidFill>
                  <a:srgbClr val="18202A"/>
                </a:solidFill>
                <a:latin typeface="Cambria Math"/>
                <a:ea typeface="Cambria Math"/>
                <a:cs typeface="Cambria Math"/>
              </a:defRPr>
            </a:lvl7pPr>
            <a:lvl8pPr>
              <a:defRPr sz="2325" b="0">
                <a:solidFill>
                  <a:srgbClr val="18202A"/>
                </a:solidFill>
                <a:latin typeface="Cambria Math"/>
                <a:ea typeface="Cambria Math"/>
                <a:cs typeface="Cambria Math"/>
              </a:defRPr>
            </a:lvl8pPr>
            <a:lvl9pPr>
              <a:defRPr sz="2325" b="0">
                <a:solidFill>
                  <a:srgbClr val="18202A"/>
                </a:solidFill>
                <a:latin typeface="Cambria Math"/>
                <a:ea typeface="Cambria Math"/>
                <a:cs typeface="Cambria Math"/>
              </a:defRPr>
            </a:lvl9pPr>
          </a:lstStyle>
          <a:p xmlns:a="http://schemas.openxmlformats.org/drawingml/2006/main">
            <a:pPr>
              <a:defRPr sz="2325" b="0">
                <a:solidFill>
                  <a:srgbClr val="18202A"/>
                </a:solidFill>
                <a:latin typeface="Cambria Math"/>
                <a:ea typeface="Cambria Math"/>
                <a:cs typeface="Cambria Math"/>
              </a:defRPr>
            </a:pPr>
            <a:r>
              <a:rPr sz="2325" b="0">
                <a:solidFill>
                  <a:srgbClr val="18202A"/>
                </a:solidFill>
                <a:latin typeface="Cambria Math"/>
                <a:ea typeface="Cambria Math"/>
                <a:cs typeface="Cambria Math"/>
              </a:rPr>
              <a:t>delta_output = 2 (prediction - target) / (B D)</a:t>
            </a:r>
          </a:p>
        </p:txBody>
      </p:sp>
      <p:sp>
        <p:nvSpPr>
          <p:cNvPr id="4" name="">
            <a:extLst xmlns:a="http://schemas.openxmlformats.org/drawingml/2006/main">
              <a:ext uri="{FF2B5EF4-FFF2-40B4-BE49-F238E27FC236}">
                <a16:creationId xmlns:a16="http://schemas.microsoft.com/office/drawing/2014/main" id="{4307CB25-A589-44EF-B80F-157F7059264C}"/>
              </a:ext>
            </a:extLst>
          </p:cNvPr>
          <p:cNvSpPr>
            <a:spLocks xmlns:a="http://schemas.openxmlformats.org/drawingml/2006/main" noGrp="1"/>
          </p:cNvSpPr>
          <p:nvPr/>
        </p:nvSpPr>
        <p:spPr>
          <a:xfrm xmlns:a="http://schemas.openxmlformats.org/drawingml/2006/main">
            <a:off x="666750" y="31908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18202A"/>
                </a:solidFill>
                <a:latin typeface="Cambria Math"/>
                <a:ea typeface="Cambria Math"/>
                <a:cs typeface="Cambria Math"/>
              </a:defRPr>
            </a:defPPr>
            <a:lvl1pPr>
              <a:defRPr sz="2250" b="0">
                <a:solidFill>
                  <a:srgbClr val="18202A"/>
                </a:solidFill>
                <a:latin typeface="Cambria Math"/>
                <a:ea typeface="Cambria Math"/>
                <a:cs typeface="Cambria Math"/>
              </a:defRPr>
            </a:lvl1pPr>
            <a:lvl2pPr>
              <a:defRPr sz="2250" b="0">
                <a:solidFill>
                  <a:srgbClr val="18202A"/>
                </a:solidFill>
                <a:latin typeface="Cambria Math"/>
                <a:ea typeface="Cambria Math"/>
                <a:cs typeface="Cambria Math"/>
              </a:defRPr>
            </a:lvl2pPr>
            <a:lvl3pPr>
              <a:defRPr sz="2250" b="0">
                <a:solidFill>
                  <a:srgbClr val="18202A"/>
                </a:solidFill>
                <a:latin typeface="Cambria Math"/>
                <a:ea typeface="Cambria Math"/>
                <a:cs typeface="Cambria Math"/>
              </a:defRPr>
            </a:lvl3pPr>
            <a:lvl4pPr>
              <a:defRPr sz="2250" b="0">
                <a:solidFill>
                  <a:srgbClr val="18202A"/>
                </a:solidFill>
                <a:latin typeface="Cambria Math"/>
                <a:ea typeface="Cambria Math"/>
                <a:cs typeface="Cambria Math"/>
              </a:defRPr>
            </a:lvl4pPr>
            <a:lvl5pPr>
              <a:defRPr sz="2250" b="0">
                <a:solidFill>
                  <a:srgbClr val="18202A"/>
                </a:solidFill>
                <a:latin typeface="Cambria Math"/>
                <a:ea typeface="Cambria Math"/>
                <a:cs typeface="Cambria Math"/>
              </a:defRPr>
            </a:lvl5pPr>
            <a:lvl6pPr>
              <a:defRPr sz="2250" b="0">
                <a:solidFill>
                  <a:srgbClr val="18202A"/>
                </a:solidFill>
                <a:latin typeface="Cambria Math"/>
                <a:ea typeface="Cambria Math"/>
                <a:cs typeface="Cambria Math"/>
              </a:defRPr>
            </a:lvl6pPr>
            <a:lvl7pPr>
              <a:defRPr sz="2250" b="0">
                <a:solidFill>
                  <a:srgbClr val="18202A"/>
                </a:solidFill>
                <a:latin typeface="Cambria Math"/>
                <a:ea typeface="Cambria Math"/>
                <a:cs typeface="Cambria Math"/>
              </a:defRPr>
            </a:lvl7pPr>
            <a:lvl8pPr>
              <a:defRPr sz="2250" b="0">
                <a:solidFill>
                  <a:srgbClr val="18202A"/>
                </a:solidFill>
                <a:latin typeface="Cambria Math"/>
                <a:ea typeface="Cambria Math"/>
                <a:cs typeface="Cambria Math"/>
              </a:defRPr>
            </a:lvl8pPr>
            <a:lvl9pPr>
              <a:defRPr sz="2250" b="0">
                <a:solidFill>
                  <a:srgbClr val="18202A"/>
                </a:solidFill>
                <a:latin typeface="Cambria Math"/>
                <a:ea typeface="Cambria Math"/>
                <a:cs typeface="Cambria Math"/>
              </a:defRPr>
            </a:lvl9pPr>
          </a:lstStyle>
          <a:p xmlns:a="http://schemas.openxmlformats.org/drawingml/2006/main">
            <a:pPr>
              <a:defRPr sz="2250" b="0">
                <a:solidFill>
                  <a:srgbClr val="18202A"/>
                </a:solidFill>
                <a:latin typeface="Cambria Math"/>
                <a:ea typeface="Cambria Math"/>
                <a:cs typeface="Cambria Math"/>
              </a:defRPr>
            </a:pPr>
            <a:r>
              <a:rPr sz="2250" b="0">
                <a:solidFill>
                  <a:srgbClr val="18202A"/>
                </a:solidFill>
                <a:latin typeface="Cambria Math"/>
                <a:ea typeface="Cambria Math"/>
                <a:cs typeface="Cambria Math"/>
              </a:rPr>
              <a:t>dW = A_previous^T delta     db = sum_rows(delta)</a:t>
            </a:r>
          </a:p>
        </p:txBody>
      </p:sp>
      <p:sp>
        <p:nvSpPr>
          <p:cNvPr id="5" name="">
            <a:extLst xmlns:a="http://schemas.openxmlformats.org/drawingml/2006/main">
              <a:ext uri="{FF2B5EF4-FFF2-40B4-BE49-F238E27FC236}">
                <a16:creationId xmlns:a16="http://schemas.microsoft.com/office/drawing/2014/main" id="{898B28AB-10EE-4173-BBBF-6B2745CFA0BE}"/>
              </a:ext>
            </a:extLst>
          </p:cNvPr>
          <p:cNvSpPr>
            <a:spLocks xmlns:a="http://schemas.openxmlformats.org/drawingml/2006/main" noGrp="1"/>
          </p:cNvSpPr>
          <p:nvPr/>
        </p:nvSpPr>
        <p:spPr>
          <a:xfrm xmlns:a="http://schemas.openxmlformats.org/drawingml/2006/main">
            <a:off x="666750" y="40481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8202A"/>
                </a:solidFill>
                <a:latin typeface="Arial"/>
                <a:ea typeface="Arial"/>
                <a:cs typeface="Arial"/>
              </a:defRPr>
            </a:defPPr>
            <a:lvl1pPr>
              <a:defRPr sz="2175" b="1">
                <a:solidFill>
                  <a:srgbClr val="18202A"/>
                </a:solidFill>
                <a:latin typeface="Arial"/>
                <a:ea typeface="Arial"/>
                <a:cs typeface="Arial"/>
              </a:defRPr>
            </a:lvl1pPr>
            <a:lvl2pPr>
              <a:defRPr sz="2175" b="1">
                <a:solidFill>
                  <a:srgbClr val="18202A"/>
                </a:solidFill>
                <a:latin typeface="Arial"/>
                <a:ea typeface="Arial"/>
                <a:cs typeface="Arial"/>
              </a:defRPr>
            </a:lvl2pPr>
            <a:lvl3pPr>
              <a:defRPr sz="2175" b="1">
                <a:solidFill>
                  <a:srgbClr val="18202A"/>
                </a:solidFill>
                <a:latin typeface="Arial"/>
                <a:ea typeface="Arial"/>
                <a:cs typeface="Arial"/>
              </a:defRPr>
            </a:lvl3pPr>
            <a:lvl4pPr>
              <a:defRPr sz="2175" b="1">
                <a:solidFill>
                  <a:srgbClr val="18202A"/>
                </a:solidFill>
                <a:latin typeface="Arial"/>
                <a:ea typeface="Arial"/>
                <a:cs typeface="Arial"/>
              </a:defRPr>
            </a:lvl4pPr>
            <a:lvl5pPr>
              <a:defRPr sz="2175" b="1">
                <a:solidFill>
                  <a:srgbClr val="18202A"/>
                </a:solidFill>
                <a:latin typeface="Arial"/>
                <a:ea typeface="Arial"/>
                <a:cs typeface="Arial"/>
              </a:defRPr>
            </a:lvl5pPr>
            <a:lvl6pPr>
              <a:defRPr sz="2175" b="1">
                <a:solidFill>
                  <a:srgbClr val="18202A"/>
                </a:solidFill>
                <a:latin typeface="Arial"/>
                <a:ea typeface="Arial"/>
                <a:cs typeface="Arial"/>
              </a:defRPr>
            </a:lvl6pPr>
            <a:lvl7pPr>
              <a:defRPr sz="2175" b="1">
                <a:solidFill>
                  <a:srgbClr val="18202A"/>
                </a:solidFill>
                <a:latin typeface="Arial"/>
                <a:ea typeface="Arial"/>
                <a:cs typeface="Arial"/>
              </a:defRPr>
            </a:lvl7pPr>
            <a:lvl8pPr>
              <a:defRPr sz="2175" b="1">
                <a:solidFill>
                  <a:srgbClr val="18202A"/>
                </a:solidFill>
                <a:latin typeface="Arial"/>
                <a:ea typeface="Arial"/>
                <a:cs typeface="Arial"/>
              </a:defRPr>
            </a:lvl8pPr>
            <a:lvl9pPr>
              <a:defRPr sz="2175" b="1">
                <a:solidFill>
                  <a:srgbClr val="18202A"/>
                </a:solidFill>
                <a:latin typeface="Arial"/>
                <a:ea typeface="Arial"/>
                <a:cs typeface="Arial"/>
              </a:defRPr>
            </a:lvl9pPr>
          </a:lstStyle>
          <a:p xmlns:a="http://schemas.openxmlformats.org/drawingml/2006/main">
            <a:pPr>
              <a:defRPr sz="2175" b="1">
                <a:solidFill>
                  <a:srgbClr val="18202A"/>
                </a:solidFill>
                <a:latin typeface="Arial"/>
                <a:ea typeface="Arial"/>
                <a:cs typeface="Arial"/>
              </a:defRPr>
            </a:pPr>
            <a:r>
              <a:rPr sz="2175" b="1">
                <a:solidFill>
                  <a:srgbClr val="18202A"/>
                </a:solidFill>
                <a:latin typeface="Arial"/>
                <a:ea typeface="Arial"/>
                <a:cs typeface="Arial"/>
              </a:rPr>
              <a:t>Compute all gradients before updating any weights.</a:t>
            </a:r>
          </a:p>
        </p:txBody>
      </p:sp>
      <p:graphicFrame>
        <p:nvGraphicFramePr>
          <p:cNvPr id="6" name="">
            <a:extLst xmlns:a="http://schemas.openxmlformats.org/drawingml/2006/main">
              <a:ext uri="{FF2B5EF4-FFF2-40B4-BE49-F238E27FC236}">
                <a16:creationId xmlns:a16="http://schemas.microsoft.com/office/drawing/2014/main" id="{38C1AD7B-BB34-4C8B-BE59-02DA5F7D51E7}"/>
              </a:ext>
            </a:extLst>
          </p:cNvPr>
          <p:cNvGraphicFramePr/>
          <p:nvPr/>
        </p:nvGraphicFramePr>
        <p:xfrm>
          <a:off xmlns:a="http://schemas.openxmlformats.org/drawingml/2006/main" x="647700" y="4905375"/>
          <a:ext xmlns:a="http://schemas.openxmlformats.org/drawingml/2006/main" cx="10858500" cy="1362075"/>
        </p:xfrm>
        <a:graphic xmlns:a="http://schemas.openxmlformats.org/drawingml/2006/main">
          <a:graphicData uri="http://schemas.openxmlformats.org/drawingml/2006/table">
            <a:tbl>
              <a:tblPr/>
              <a:tblGrid>
                <a:gridCol w="7810500"/>
                <a:gridCol w="3048000"/>
              </a:tblGrid>
              <a:tr h="454025">
                <a:tc>
                  <a:txBody>
                    <a:bodyPr/>
                    <a:lstStyle/>
                    <a:p>
                      <a:r>
                        <a:rPr sz="1725" b="1">
                          <a:solidFill>
                            <a:srgbClr val="18202A"/>
                          </a:solidFill>
                          <a:latin typeface="Arial"/>
                          <a:ea typeface="Arial"/>
                          <a:cs typeface="Arial"/>
                        </a:rPr>
                        <a:t>Independent check</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Acceptance</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r>
              <a:tr h="454025">
                <a:tc>
                  <a:txBody>
                    <a:bodyPr/>
                    <a:lstStyle/>
                    <a:p>
                      <a:r>
                        <a:rPr sz="1725" b="0">
                          <a:solidFill>
                            <a:srgbClr val="18202A"/>
                          </a:solidFill>
                          <a:latin typeface="Arial"/>
                          <a:ea typeface="Arial"/>
                          <a:cs typeface="Arial"/>
                        </a:rPr>
                        <a:t>Central differences, all small-network parameters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Absolute error &lt; 1e-7</a:t>
                      </a:r>
                    </a:p>
                  </a:txBody>
                  <a:tcPr marL="91440" marR="91440" marT="45720" marB="45720">
                    <a:lnR w="9525">
                      <a:solidFill>
                        <a:srgbClr val="D9D9D9"/>
                      </a:solidFill>
                      <a:prstDash val="solid"/>
                    </a:lnR>
                    <a:lnB w="9525">
                      <a:solidFill>
                        <a:srgbClr val="D9D9D9"/>
                      </a:solidFill>
                      <a:prstDash val="solid"/>
                    </a:lnB>
                    <a:solidFill>
                      <a:srgbClr val="FFFFFF"/>
                    </a:solidFill>
                  </a:tcPr>
                </a:tc>
              </a:tr>
              <a:tr h="454025">
                <a:tc>
                  <a:txBody>
                    <a:bodyPr/>
                    <a:lstStyle/>
                    <a:p>
                      <a:r>
                        <a:rPr sz="1725" b="0">
                          <a:solidFill>
                            <a:srgbClr val="18202A"/>
                          </a:solidFill>
                          <a:latin typeface="Arial"/>
                          <a:ea typeface="Arial"/>
                          <a:cs typeface="Arial"/>
                        </a:rPr>
                        <a:t>Rust and NumPy forward, gradients and update</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r>
                        <a:rPr sz="1725" b="0">
                          <a:solidFill>
                            <a:srgbClr val="18202A"/>
                          </a:solidFill>
                          <a:latin typeface="Arial"/>
                          <a:ea typeface="Arial"/>
                          <a:cs typeface="Arial"/>
                        </a:rPr>
                        <a:t>Absolute difference &lt; 1e-10</a:t>
                      </a:r>
                    </a:p>
                  </a:txBody>
                  <a:tcPr marL="91440" marR="91440" marT="45720" marB="45720">
                    <a:lnR w="9525">
                      <a:solidFill>
                        <a:srgbClr val="D9D9D9"/>
                      </a:solidFill>
                      <a:prstDash val="solid"/>
                    </a:lnR>
                    <a:lnB w="9525">
                      <a:solidFill>
                        <a:srgbClr val="D9D9D9"/>
                      </a:solidFill>
                      <a:prstDash val="solid"/>
                    </a:lnB>
                    <a:solidFill>
                      <a:srgbClr val="F5F7F9"/>
                    </a:solidFill>
                  </a:tcPr>
                </a:tc>
              </a:tr>
            </a:tbl>
          </a:graphicData>
        </a:graphic>
      </p:graphicFrame>
    </p:spTree>
    <p:extLst>
      <p:ext uri="{BB962C8B-B14F-4D97-AF65-F5344CB8AC3E}">
        <p14:creationId xmlns:p14="http://schemas.microsoft.com/office/powerpoint/2010/main" val="17874488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D73C2D-3675-4184-B807-DBDDC406DD77}"/>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02A"/>
                </a:solidFill>
                <a:latin typeface="Arial"/>
                <a:ea typeface="Arial"/>
                <a:cs typeface="Arial"/>
              </a:defRPr>
            </a:defPPr>
            <a:lvl1pPr>
              <a:defRPr sz="3300" b="1">
                <a:solidFill>
                  <a:srgbClr val="18202A"/>
                </a:solidFill>
                <a:latin typeface="Arial"/>
                <a:ea typeface="Arial"/>
                <a:cs typeface="Arial"/>
              </a:defRPr>
            </a:lvl1pPr>
            <a:lvl2pPr>
              <a:defRPr sz="3300" b="1">
                <a:solidFill>
                  <a:srgbClr val="18202A"/>
                </a:solidFill>
                <a:latin typeface="Arial"/>
                <a:ea typeface="Arial"/>
                <a:cs typeface="Arial"/>
              </a:defRPr>
            </a:lvl2pPr>
            <a:lvl3pPr>
              <a:defRPr sz="3300" b="1">
                <a:solidFill>
                  <a:srgbClr val="18202A"/>
                </a:solidFill>
                <a:latin typeface="Arial"/>
                <a:ea typeface="Arial"/>
                <a:cs typeface="Arial"/>
              </a:defRPr>
            </a:lvl3pPr>
            <a:lvl4pPr>
              <a:defRPr sz="3300" b="1">
                <a:solidFill>
                  <a:srgbClr val="18202A"/>
                </a:solidFill>
                <a:latin typeface="Arial"/>
                <a:ea typeface="Arial"/>
                <a:cs typeface="Arial"/>
              </a:defRPr>
            </a:lvl4pPr>
            <a:lvl5pPr>
              <a:defRPr sz="3300" b="1">
                <a:solidFill>
                  <a:srgbClr val="18202A"/>
                </a:solidFill>
                <a:latin typeface="Arial"/>
                <a:ea typeface="Arial"/>
                <a:cs typeface="Arial"/>
              </a:defRPr>
            </a:lvl5pPr>
            <a:lvl6pPr>
              <a:defRPr sz="3300" b="1">
                <a:solidFill>
                  <a:srgbClr val="18202A"/>
                </a:solidFill>
                <a:latin typeface="Arial"/>
                <a:ea typeface="Arial"/>
                <a:cs typeface="Arial"/>
              </a:defRPr>
            </a:lvl6pPr>
            <a:lvl7pPr>
              <a:defRPr sz="3300" b="1">
                <a:solidFill>
                  <a:srgbClr val="18202A"/>
                </a:solidFill>
                <a:latin typeface="Arial"/>
                <a:ea typeface="Arial"/>
                <a:cs typeface="Arial"/>
              </a:defRPr>
            </a:lvl7pPr>
            <a:lvl8pPr>
              <a:defRPr sz="3300" b="1">
                <a:solidFill>
                  <a:srgbClr val="18202A"/>
                </a:solidFill>
                <a:latin typeface="Arial"/>
                <a:ea typeface="Arial"/>
                <a:cs typeface="Arial"/>
              </a:defRPr>
            </a:lvl8pPr>
            <a:lvl9pPr>
              <a:defRPr sz="3300" b="1">
                <a:solidFill>
                  <a:srgbClr val="18202A"/>
                </a:solidFill>
                <a:latin typeface="Arial"/>
                <a:ea typeface="Arial"/>
                <a:cs typeface="Arial"/>
              </a:defRPr>
            </a:lvl9pPr>
          </a:lstStyle>
          <a:p xmlns:a="http://schemas.openxmlformats.org/drawingml/2006/main">
            <a:pPr>
              <a:defRPr sz="3300" b="1">
                <a:solidFill>
                  <a:srgbClr val="18202A"/>
                </a:solidFill>
                <a:latin typeface="Arial"/>
                <a:ea typeface="Arial"/>
                <a:cs typeface="Arial"/>
              </a:defRPr>
            </a:pPr>
            <a:r>
              <a:rPr sz="3300" b="1">
                <a:solidFill>
                  <a:srgbClr val="18202A"/>
                </a:solidFill>
                <a:latin typeface="Arial"/>
                <a:ea typeface="Arial"/>
                <a:cs typeface="Arial"/>
              </a:rPr>
              <a:t>Training and Validation</a:t>
            </a:r>
          </a:p>
        </p:txBody>
      </p:sp>
      <p:sp>
        <p:nvSpPr>
          <p:cNvPr id="2" name="">
            <a:extLst xmlns:a="http://schemas.openxmlformats.org/drawingml/2006/main">
              <a:ext uri="{FF2B5EF4-FFF2-40B4-BE49-F238E27FC236}">
                <a16:creationId xmlns:a16="http://schemas.microsoft.com/office/drawing/2014/main" id="{448C324A-CF1D-4A6A-B6F9-3FF52EA80DC1}"/>
              </a:ext>
            </a:extLst>
          </p:cNvPr>
          <p:cNvSpPr>
            <a:spLocks xmlns:a="http://schemas.openxmlformats.org/drawingml/2006/main" noGrp="1"/>
          </p:cNvSpPr>
          <p:nvPr/>
        </p:nvSpPr>
        <p:spPr>
          <a:xfrm xmlns:a="http://schemas.openxmlformats.org/drawingml/2006/main">
            <a:off x="666750" y="1285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8202A"/>
                </a:solidFill>
                <a:latin typeface="Arial"/>
                <a:ea typeface="Arial"/>
                <a:cs typeface="Arial"/>
              </a:defRPr>
            </a:defPPr>
            <a:lvl1pPr>
              <a:defRPr sz="2025" b="0">
                <a:solidFill>
                  <a:srgbClr val="18202A"/>
                </a:solidFill>
                <a:latin typeface="Arial"/>
                <a:ea typeface="Arial"/>
                <a:cs typeface="Arial"/>
              </a:defRPr>
            </a:lvl1pPr>
            <a:lvl2pPr>
              <a:defRPr sz="2025" b="0">
                <a:solidFill>
                  <a:srgbClr val="18202A"/>
                </a:solidFill>
                <a:latin typeface="Arial"/>
                <a:ea typeface="Arial"/>
                <a:cs typeface="Arial"/>
              </a:defRPr>
            </a:lvl2pPr>
            <a:lvl3pPr>
              <a:defRPr sz="2025" b="0">
                <a:solidFill>
                  <a:srgbClr val="18202A"/>
                </a:solidFill>
                <a:latin typeface="Arial"/>
                <a:ea typeface="Arial"/>
                <a:cs typeface="Arial"/>
              </a:defRPr>
            </a:lvl3pPr>
            <a:lvl4pPr>
              <a:defRPr sz="2025" b="0">
                <a:solidFill>
                  <a:srgbClr val="18202A"/>
                </a:solidFill>
                <a:latin typeface="Arial"/>
                <a:ea typeface="Arial"/>
                <a:cs typeface="Arial"/>
              </a:defRPr>
            </a:lvl4pPr>
            <a:lvl5pPr>
              <a:defRPr sz="2025" b="0">
                <a:solidFill>
                  <a:srgbClr val="18202A"/>
                </a:solidFill>
                <a:latin typeface="Arial"/>
                <a:ea typeface="Arial"/>
                <a:cs typeface="Arial"/>
              </a:defRPr>
            </a:lvl5pPr>
            <a:lvl6pPr>
              <a:defRPr sz="2025" b="0">
                <a:solidFill>
                  <a:srgbClr val="18202A"/>
                </a:solidFill>
                <a:latin typeface="Arial"/>
                <a:ea typeface="Arial"/>
                <a:cs typeface="Arial"/>
              </a:defRPr>
            </a:lvl6pPr>
            <a:lvl7pPr>
              <a:defRPr sz="2025" b="0">
                <a:solidFill>
                  <a:srgbClr val="18202A"/>
                </a:solidFill>
                <a:latin typeface="Arial"/>
                <a:ea typeface="Arial"/>
                <a:cs typeface="Arial"/>
              </a:defRPr>
            </a:lvl7pPr>
            <a:lvl8pPr>
              <a:defRPr sz="2025" b="0">
                <a:solidFill>
                  <a:srgbClr val="18202A"/>
                </a:solidFill>
                <a:latin typeface="Arial"/>
                <a:ea typeface="Arial"/>
                <a:cs typeface="Arial"/>
              </a:defRPr>
            </a:lvl8pPr>
            <a:lvl9pPr>
              <a:defRPr sz="2025" b="0">
                <a:solidFill>
                  <a:srgbClr val="18202A"/>
                </a:solidFill>
                <a:latin typeface="Arial"/>
                <a:ea typeface="Arial"/>
                <a:cs typeface="Arial"/>
              </a:defRPr>
            </a:lvl9pPr>
          </a:lstStyle>
          <a:p xmlns:a="http://schemas.openxmlformats.org/drawingml/2006/main">
            <a:pPr>
              <a:defRPr sz="2025" b="0">
                <a:solidFill>
                  <a:srgbClr val="18202A"/>
                </a:solidFill>
                <a:latin typeface="Arial"/>
                <a:ea typeface="Arial"/>
                <a:cs typeface="Arial"/>
              </a:defRPr>
            </a:pPr>
            <a:r>
              <a:rPr sz="2025" b="0">
                <a:solidFill>
                  <a:srgbClr val="18202A"/>
                </a:solidFill>
                <a:latin typeface="Arial"/>
                <a:ea typeface="Arial"/>
                <a:cs typeface="Arial"/>
              </a:rPr>
              <a:t>200 epochs    Batch 128    Learning rate 0.01</a:t>
            </a:r>
          </a:p>
        </p:txBody>
      </p:sp>
      <p:graphicFrame>
        <p:nvGraphicFramePr>
          <p:cNvPr id="3" name="Chart">
            <a:extLst xmlns:a="http://schemas.openxmlformats.org/drawingml/2006/main">
              <a:ext uri="{FF2B5EF4-FFF2-40B4-BE49-F238E27FC236}">
                <a16:creationId xmlns:a16="http://schemas.microsoft.com/office/drawing/2014/main" id="{FBDDC081-E3D6-4806-A1FD-4322D586C32B}"/>
              </a:ext>
            </a:extLst>
          </p:cNvPr>
          <p:cNvGraphicFramePr/>
          <p:nvPr/>
        </p:nvGraphicFramePr>
        <p:xfrm>
          <a:off xmlns:a="http://schemas.openxmlformats.org/drawingml/2006/main" x="619125" y="1809750"/>
          <a:ext xmlns:a="http://schemas.openxmlformats.org/drawingml/2006/main" cx="10953750" cy="3714750"/>
        </p:xfrm>
        <a:graphic xmlns:a="http://schemas.openxmlformats.org/drawingml/2006/main">
          <a:graphicData uri="http://schemas.openxmlformats.org/drawingml/2006/chart">
            <c:chart xmlns:r="http://schemas.openxmlformats.org/officeDocument/2006/relationships" xmlns:c="http://schemas.openxmlformats.org/drawingml/2006/chart" r:id="R164359c1834e41c7"/>
          </a:graphicData>
        </a:graphic>
      </p:graphicFrame>
      <p:sp>
        <p:nvSpPr>
          <p:cNvPr id="4" name="">
            <a:extLst xmlns:a="http://schemas.openxmlformats.org/drawingml/2006/main">
              <a:ext uri="{FF2B5EF4-FFF2-40B4-BE49-F238E27FC236}">
                <a16:creationId xmlns:a16="http://schemas.microsoft.com/office/drawing/2014/main" id="{F179156A-28E2-4370-B880-893B26D50E72}"/>
              </a:ext>
            </a:extLst>
          </p:cNvPr>
          <p:cNvSpPr>
            <a:spLocks xmlns:a="http://schemas.openxmlformats.org/drawingml/2006/main" noGrp="1"/>
          </p:cNvSpPr>
          <p:nvPr/>
        </p:nvSpPr>
        <p:spPr>
          <a:xfrm xmlns:a="http://schemas.openxmlformats.org/drawingml/2006/main">
            <a:off x="666750" y="5857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8202A"/>
                </a:solidFill>
                <a:latin typeface="Arial"/>
                <a:ea typeface="Arial"/>
                <a:cs typeface="Arial"/>
              </a:defRPr>
            </a:defPPr>
            <a:lvl1pPr>
              <a:defRPr sz="2025" b="1">
                <a:solidFill>
                  <a:srgbClr val="18202A"/>
                </a:solidFill>
                <a:latin typeface="Arial"/>
                <a:ea typeface="Arial"/>
                <a:cs typeface="Arial"/>
              </a:defRPr>
            </a:lvl1pPr>
            <a:lvl2pPr>
              <a:defRPr sz="2025" b="1">
                <a:solidFill>
                  <a:srgbClr val="18202A"/>
                </a:solidFill>
                <a:latin typeface="Arial"/>
                <a:ea typeface="Arial"/>
                <a:cs typeface="Arial"/>
              </a:defRPr>
            </a:lvl2pPr>
            <a:lvl3pPr>
              <a:defRPr sz="2025" b="1">
                <a:solidFill>
                  <a:srgbClr val="18202A"/>
                </a:solidFill>
                <a:latin typeface="Arial"/>
                <a:ea typeface="Arial"/>
                <a:cs typeface="Arial"/>
              </a:defRPr>
            </a:lvl3pPr>
            <a:lvl4pPr>
              <a:defRPr sz="2025" b="1">
                <a:solidFill>
                  <a:srgbClr val="18202A"/>
                </a:solidFill>
                <a:latin typeface="Arial"/>
                <a:ea typeface="Arial"/>
                <a:cs typeface="Arial"/>
              </a:defRPr>
            </a:lvl4pPr>
            <a:lvl5pPr>
              <a:defRPr sz="2025" b="1">
                <a:solidFill>
                  <a:srgbClr val="18202A"/>
                </a:solidFill>
                <a:latin typeface="Arial"/>
                <a:ea typeface="Arial"/>
                <a:cs typeface="Arial"/>
              </a:defRPr>
            </a:lvl5pPr>
            <a:lvl6pPr>
              <a:defRPr sz="2025" b="1">
                <a:solidFill>
                  <a:srgbClr val="18202A"/>
                </a:solidFill>
                <a:latin typeface="Arial"/>
                <a:ea typeface="Arial"/>
                <a:cs typeface="Arial"/>
              </a:defRPr>
            </a:lvl6pPr>
            <a:lvl7pPr>
              <a:defRPr sz="2025" b="1">
                <a:solidFill>
                  <a:srgbClr val="18202A"/>
                </a:solidFill>
                <a:latin typeface="Arial"/>
                <a:ea typeface="Arial"/>
                <a:cs typeface="Arial"/>
              </a:defRPr>
            </a:lvl7pPr>
            <a:lvl8pPr>
              <a:defRPr sz="2025" b="1">
                <a:solidFill>
                  <a:srgbClr val="18202A"/>
                </a:solidFill>
                <a:latin typeface="Arial"/>
                <a:ea typeface="Arial"/>
                <a:cs typeface="Arial"/>
              </a:defRPr>
            </a:lvl8pPr>
            <a:lvl9pPr>
              <a:defRPr sz="2025" b="1">
                <a:solidFill>
                  <a:srgbClr val="18202A"/>
                </a:solidFill>
                <a:latin typeface="Arial"/>
                <a:ea typeface="Arial"/>
                <a:cs typeface="Arial"/>
              </a:defRPr>
            </a:lvl9pPr>
          </a:lstStyle>
          <a:p xmlns:a="http://schemas.openxmlformats.org/drawingml/2006/main">
            <a:pPr>
              <a:defRPr sz="2025" b="1">
                <a:solidFill>
                  <a:srgbClr val="18202A"/>
                </a:solidFill>
                <a:latin typeface="Arial"/>
                <a:ea typeface="Arial"/>
                <a:cs typeface="Arial"/>
              </a:defRPr>
            </a:pPr>
            <a:r>
              <a:rPr sz="2025" b="1">
                <a:solidFill>
                  <a:srgbClr val="18202A"/>
                </a:solidFill>
                <a:latin typeface="Arial"/>
                <a:ea typeface="Arial"/>
                <a:cs typeface="Arial"/>
              </a:rPr>
              <a:t>Checkpoint choice uses validation loss only. Test data remain held out.</a:t>
            </a:r>
          </a:p>
        </p:txBody>
      </p:sp>
    </p:spTree>
    <p:extLst>
      <p:ext uri="{BB962C8B-B14F-4D97-AF65-F5344CB8AC3E}">
        <p14:creationId xmlns:p14="http://schemas.microsoft.com/office/powerpoint/2010/main" val="6868327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C36536-04FC-4943-9DCC-BA7AB8D63218}"/>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02A"/>
                </a:solidFill>
                <a:latin typeface="Arial"/>
                <a:ea typeface="Arial"/>
                <a:cs typeface="Arial"/>
              </a:defRPr>
            </a:defPPr>
            <a:lvl1pPr>
              <a:defRPr sz="3300" b="1">
                <a:solidFill>
                  <a:srgbClr val="18202A"/>
                </a:solidFill>
                <a:latin typeface="Arial"/>
                <a:ea typeface="Arial"/>
                <a:cs typeface="Arial"/>
              </a:defRPr>
            </a:lvl1pPr>
            <a:lvl2pPr>
              <a:defRPr sz="3300" b="1">
                <a:solidFill>
                  <a:srgbClr val="18202A"/>
                </a:solidFill>
                <a:latin typeface="Arial"/>
                <a:ea typeface="Arial"/>
                <a:cs typeface="Arial"/>
              </a:defRPr>
            </a:lvl2pPr>
            <a:lvl3pPr>
              <a:defRPr sz="3300" b="1">
                <a:solidFill>
                  <a:srgbClr val="18202A"/>
                </a:solidFill>
                <a:latin typeface="Arial"/>
                <a:ea typeface="Arial"/>
                <a:cs typeface="Arial"/>
              </a:defRPr>
            </a:lvl3pPr>
            <a:lvl4pPr>
              <a:defRPr sz="3300" b="1">
                <a:solidFill>
                  <a:srgbClr val="18202A"/>
                </a:solidFill>
                <a:latin typeface="Arial"/>
                <a:ea typeface="Arial"/>
                <a:cs typeface="Arial"/>
              </a:defRPr>
            </a:lvl4pPr>
            <a:lvl5pPr>
              <a:defRPr sz="3300" b="1">
                <a:solidFill>
                  <a:srgbClr val="18202A"/>
                </a:solidFill>
                <a:latin typeface="Arial"/>
                <a:ea typeface="Arial"/>
                <a:cs typeface="Arial"/>
              </a:defRPr>
            </a:lvl5pPr>
            <a:lvl6pPr>
              <a:defRPr sz="3300" b="1">
                <a:solidFill>
                  <a:srgbClr val="18202A"/>
                </a:solidFill>
                <a:latin typeface="Arial"/>
                <a:ea typeface="Arial"/>
                <a:cs typeface="Arial"/>
              </a:defRPr>
            </a:lvl6pPr>
            <a:lvl7pPr>
              <a:defRPr sz="3300" b="1">
                <a:solidFill>
                  <a:srgbClr val="18202A"/>
                </a:solidFill>
                <a:latin typeface="Arial"/>
                <a:ea typeface="Arial"/>
                <a:cs typeface="Arial"/>
              </a:defRPr>
            </a:lvl7pPr>
            <a:lvl8pPr>
              <a:defRPr sz="3300" b="1">
                <a:solidFill>
                  <a:srgbClr val="18202A"/>
                </a:solidFill>
                <a:latin typeface="Arial"/>
                <a:ea typeface="Arial"/>
                <a:cs typeface="Arial"/>
              </a:defRPr>
            </a:lvl8pPr>
            <a:lvl9pPr>
              <a:defRPr sz="3300" b="1">
                <a:solidFill>
                  <a:srgbClr val="18202A"/>
                </a:solidFill>
                <a:latin typeface="Arial"/>
                <a:ea typeface="Arial"/>
                <a:cs typeface="Arial"/>
              </a:defRPr>
            </a:lvl9pPr>
          </a:lstStyle>
          <a:p xmlns:a="http://schemas.openxmlformats.org/drawingml/2006/main">
            <a:pPr>
              <a:defRPr sz="3300" b="1">
                <a:solidFill>
                  <a:srgbClr val="18202A"/>
                </a:solidFill>
                <a:latin typeface="Arial"/>
                <a:ea typeface="Arial"/>
                <a:cs typeface="Arial"/>
              </a:defRPr>
            </a:pPr>
            <a:r>
              <a:rPr sz="3300" b="1">
                <a:solidFill>
                  <a:srgbClr val="18202A"/>
                </a:solidFill>
                <a:latin typeface="Arial"/>
                <a:ea typeface="Arial"/>
                <a:cs typeface="Arial"/>
              </a:rPr>
              <a:t>One Step Results</a:t>
            </a:r>
          </a:p>
        </p:txBody>
      </p:sp>
      <p:sp>
        <p:nvSpPr>
          <p:cNvPr id="2" name="">
            <a:extLst xmlns:a="http://schemas.openxmlformats.org/drawingml/2006/main">
              <a:ext uri="{FF2B5EF4-FFF2-40B4-BE49-F238E27FC236}">
                <a16:creationId xmlns:a16="http://schemas.microsoft.com/office/drawing/2014/main" id="{58E610B7-9D2D-4B4C-835F-42D0B04ECF7B}"/>
              </a:ext>
            </a:extLst>
          </p:cNvPr>
          <p:cNvSpPr>
            <a:spLocks xmlns:a="http://schemas.openxmlformats.org/drawingml/2006/main" noGrp="1"/>
          </p:cNvSpPr>
          <p:nvPr/>
        </p:nvSpPr>
        <p:spPr>
          <a:xfrm xmlns:a="http://schemas.openxmlformats.org/drawingml/2006/main">
            <a:off x="666750" y="12858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8202A"/>
                </a:solidFill>
                <a:latin typeface="Arial"/>
                <a:ea typeface="Arial"/>
                <a:cs typeface="Arial"/>
              </a:defRPr>
            </a:defPPr>
            <a:lvl1pPr>
              <a:defRPr sz="1950" b="0">
                <a:solidFill>
                  <a:srgbClr val="18202A"/>
                </a:solidFill>
                <a:latin typeface="Arial"/>
                <a:ea typeface="Arial"/>
                <a:cs typeface="Arial"/>
              </a:defRPr>
            </a:lvl1pPr>
            <a:lvl2pPr>
              <a:defRPr sz="1950" b="0">
                <a:solidFill>
                  <a:srgbClr val="18202A"/>
                </a:solidFill>
                <a:latin typeface="Arial"/>
                <a:ea typeface="Arial"/>
                <a:cs typeface="Arial"/>
              </a:defRPr>
            </a:lvl2pPr>
            <a:lvl3pPr>
              <a:defRPr sz="1950" b="0">
                <a:solidFill>
                  <a:srgbClr val="18202A"/>
                </a:solidFill>
                <a:latin typeface="Arial"/>
                <a:ea typeface="Arial"/>
                <a:cs typeface="Arial"/>
              </a:defRPr>
            </a:lvl3pPr>
            <a:lvl4pPr>
              <a:defRPr sz="1950" b="0">
                <a:solidFill>
                  <a:srgbClr val="18202A"/>
                </a:solidFill>
                <a:latin typeface="Arial"/>
                <a:ea typeface="Arial"/>
                <a:cs typeface="Arial"/>
              </a:defRPr>
            </a:lvl4pPr>
            <a:lvl5pPr>
              <a:defRPr sz="1950" b="0">
                <a:solidFill>
                  <a:srgbClr val="18202A"/>
                </a:solidFill>
                <a:latin typeface="Arial"/>
                <a:ea typeface="Arial"/>
                <a:cs typeface="Arial"/>
              </a:defRPr>
            </a:lvl5pPr>
            <a:lvl6pPr>
              <a:defRPr sz="1950" b="0">
                <a:solidFill>
                  <a:srgbClr val="18202A"/>
                </a:solidFill>
                <a:latin typeface="Arial"/>
                <a:ea typeface="Arial"/>
                <a:cs typeface="Arial"/>
              </a:defRPr>
            </a:lvl6pPr>
            <a:lvl7pPr>
              <a:defRPr sz="1950" b="0">
                <a:solidFill>
                  <a:srgbClr val="18202A"/>
                </a:solidFill>
                <a:latin typeface="Arial"/>
                <a:ea typeface="Arial"/>
                <a:cs typeface="Arial"/>
              </a:defRPr>
            </a:lvl7pPr>
            <a:lvl8pPr>
              <a:defRPr sz="1950" b="0">
                <a:solidFill>
                  <a:srgbClr val="18202A"/>
                </a:solidFill>
                <a:latin typeface="Arial"/>
                <a:ea typeface="Arial"/>
                <a:cs typeface="Arial"/>
              </a:defRPr>
            </a:lvl8pPr>
            <a:lvl9pPr>
              <a:defRPr sz="1950" b="0">
                <a:solidFill>
                  <a:srgbClr val="18202A"/>
                </a:solidFill>
                <a:latin typeface="Arial"/>
                <a:ea typeface="Arial"/>
                <a:cs typeface="Arial"/>
              </a:defRPr>
            </a:lvl9pPr>
          </a:lstStyle>
          <a:p xmlns:a="http://schemas.openxmlformats.org/drawingml/2006/main">
            <a:pPr>
              <a:defRPr sz="1950" b="0">
                <a:solidFill>
                  <a:srgbClr val="18202A"/>
                </a:solidFill>
                <a:latin typeface="Arial"/>
                <a:ea typeface="Arial"/>
                <a:cs typeface="Arial"/>
              </a:defRPr>
            </a:pPr>
            <a:r>
              <a:rPr sz="1950" b="0">
                <a:solidFill>
                  <a:srgbClr val="18202A"/>
                </a:solidFill>
                <a:latin typeface="Arial"/>
                <a:ea typeface="Arial"/>
                <a:cs typeface="Arial"/>
              </a:rPr>
              <a:t>6,000 held-out transitions. Errors remain in their physical units.</a:t>
            </a:r>
          </a:p>
        </p:txBody>
      </p:sp>
      <p:graphicFrame>
        <p:nvGraphicFramePr>
          <p:cNvPr id="3" name="">
            <a:extLst xmlns:a="http://schemas.openxmlformats.org/drawingml/2006/main">
              <a:ext uri="{FF2B5EF4-FFF2-40B4-BE49-F238E27FC236}">
                <a16:creationId xmlns:a16="http://schemas.microsoft.com/office/drawing/2014/main" id="{85577BB0-20B9-4D38-8FD7-647F6A698ACB}"/>
              </a:ext>
            </a:extLst>
          </p:cNvPr>
          <p:cNvGraphicFramePr/>
          <p:nvPr/>
        </p:nvGraphicFramePr>
        <p:xfrm>
          <a:off xmlns:a="http://schemas.openxmlformats.org/drawingml/2006/main" x="647700" y="2143125"/>
          <a:ext xmlns:a="http://schemas.openxmlformats.org/drawingml/2006/main" cx="10858500" cy="3171825"/>
        </p:xfrm>
        <a:graphic xmlns:a="http://schemas.openxmlformats.org/drawingml/2006/main">
          <a:graphicData uri="http://schemas.openxmlformats.org/drawingml/2006/table">
            <a:tbl>
              <a:tblPr/>
              <a:tblGrid>
                <a:gridCol w="3429000"/>
                <a:gridCol w="3714750"/>
                <a:gridCol w="3714750"/>
              </a:tblGrid>
              <a:tr h="528638">
                <a:tc>
                  <a:txBody>
                    <a:bodyPr/>
                    <a:lstStyle/>
                    <a:p>
                      <a:r>
                        <a:rPr sz="1725" b="1">
                          <a:solidFill>
                            <a:srgbClr val="18202A"/>
                          </a:solidFill>
                          <a:latin typeface="Arial"/>
                          <a:ea typeface="Arial"/>
                          <a:cs typeface="Arial"/>
                        </a:rPr>
                        <a:t>Method</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Angle RMSE / rad</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Velocity RMSE / rad/s</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r>
              <a:tr h="528638">
                <a:tc>
                  <a:txBody>
                    <a:bodyPr/>
                    <a:lstStyle/>
                    <a:p>
                      <a:r>
                        <a:rPr sz="1725" b="0">
                          <a:solidFill>
                            <a:srgbClr val="18202A"/>
                          </a:solidFill>
                          <a:latin typeface="Arial"/>
                          <a:ea typeface="Arial"/>
                          <a:cs typeface="Arial"/>
                        </a:rPr>
                        <a:t>Persistence</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2.948e-2</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8.717e-2</a:t>
                      </a:r>
                    </a:p>
                  </a:txBody>
                  <a:tcPr marL="91440" marR="91440" marT="45720" marB="45720">
                    <a:lnR w="9525">
                      <a:solidFill>
                        <a:srgbClr val="D9D9D9"/>
                      </a:solidFill>
                      <a:prstDash val="solid"/>
                    </a:lnR>
                    <a:lnB w="9525">
                      <a:solidFill>
                        <a:srgbClr val="D9D9D9"/>
                      </a:solidFill>
                      <a:prstDash val="solid"/>
                    </a:lnB>
                    <a:solidFill>
                      <a:srgbClr val="FFFFFF"/>
                    </a:solidFill>
                  </a:tcPr>
                </a:tc>
              </a:tr>
              <a:tr h="528638">
                <a:tc>
                  <a:txBody>
                    <a:bodyPr/>
                    <a:lstStyle/>
                    <a:p>
                      <a:r>
                        <a:rPr sz="1725" b="0">
                          <a:solidFill>
                            <a:srgbClr val="18202A"/>
                          </a:solidFill>
                          <a:latin typeface="Arial"/>
                          <a:ea typeface="Arial"/>
                          <a:cs typeface="Arial"/>
                        </a:rPr>
                        <a:t>Euler</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r>
                        <a:rPr sz="1725" b="0">
                          <a:solidFill>
                            <a:srgbClr val="18202A"/>
                          </a:solidFill>
                          <a:latin typeface="Arial"/>
                          <a:ea typeface="Arial"/>
                          <a:cs typeface="Arial"/>
                        </a:rPr>
                        <a:t>8.720e-4</a:t>
                      </a:r>
                    </a:p>
                  </a:txBody>
                  <a:tcPr marL="91440" marR="91440" marT="45720" marB="45720">
                    <a:lnR w="9525">
                      <a:solidFill>
                        <a:srgbClr val="D9D9D9"/>
                      </a:solidFill>
                      <a:prstDash val="solid"/>
                    </a:lnR>
                    <a:lnB w="9525">
                      <a:solidFill>
                        <a:srgbClr val="D9D9D9"/>
                      </a:solidFill>
                      <a:prstDash val="solid"/>
                    </a:lnB>
                    <a:solidFill>
                      <a:srgbClr val="F5F7F9"/>
                    </a:solidFill>
                  </a:tcPr>
                </a:tc>
                <a:tc>
                  <a:txBody>
                    <a:bodyPr/>
                    <a:lstStyle/>
                    <a:p>
                      <a:r>
                        <a:rPr sz="1725" b="0">
                          <a:solidFill>
                            <a:srgbClr val="18202A"/>
                          </a:solidFill>
                          <a:latin typeface="Arial"/>
                          <a:ea typeface="Arial"/>
                          <a:cs typeface="Arial"/>
                        </a:rPr>
                        <a:t>2.616e-3</a:t>
                      </a:r>
                    </a:p>
                  </a:txBody>
                  <a:tcPr marL="91440" marR="91440" marT="45720" marB="45720">
                    <a:lnR w="9525">
                      <a:solidFill>
                        <a:srgbClr val="D9D9D9"/>
                      </a:solidFill>
                      <a:prstDash val="solid"/>
                    </a:lnR>
                    <a:lnB w="9525">
                      <a:solidFill>
                        <a:srgbClr val="D9D9D9"/>
                      </a:solidFill>
                      <a:prstDash val="solid"/>
                    </a:lnB>
                    <a:solidFill>
                      <a:srgbClr val="F5F7F9"/>
                    </a:solidFill>
                  </a:tcPr>
                </a:tc>
              </a:tr>
              <a:tr h="528638">
                <a:tc>
                  <a:txBody>
                    <a:bodyPr/>
                    <a:lstStyle/>
                    <a:p>
                      <a:r>
                        <a:rPr sz="1725" b="0">
                          <a:solidFill>
                            <a:srgbClr val="18202A"/>
                          </a:solidFill>
                          <a:latin typeface="Arial"/>
                          <a:ea typeface="Arial"/>
                          <a:cs typeface="Arial"/>
                        </a:rPr>
                        <a:t>RK4</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3.344e-9</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8.211e-9</a:t>
                      </a:r>
                    </a:p>
                  </a:txBody>
                  <a:tcPr marL="91440" marR="91440" marT="45720" marB="45720">
                    <a:lnR w="9525">
                      <a:solidFill>
                        <a:srgbClr val="D9D9D9"/>
                      </a:solidFill>
                      <a:prstDash val="solid"/>
                    </a:lnR>
                    <a:lnB w="9525">
                      <a:solidFill>
                        <a:srgbClr val="D9D9D9"/>
                      </a:solidFill>
                      <a:prstDash val="solid"/>
                    </a:lnB>
                    <a:solidFill>
                      <a:srgbClr val="FFFFFF"/>
                    </a:solidFill>
                  </a:tcPr>
                </a:tc>
              </a:tr>
              <a:tr h="528638">
                <a:tc>
                  <a:txBody>
                    <a:bodyPr/>
                    <a:lstStyle/>
                    <a:p>
                      <a:r>
                        <a:rPr sz="1725" b="0">
                          <a:solidFill>
                            <a:srgbClr val="18202A"/>
                          </a:solidFill>
                          <a:latin typeface="Arial"/>
                          <a:ea typeface="Arial"/>
                          <a:cs typeface="Arial"/>
                        </a:rPr>
                        <a:t>Tiny NN</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r>
                        <a:rPr sz="1725" b="0">
                          <a:solidFill>
                            <a:srgbClr val="18202A"/>
                          </a:solidFill>
                          <a:latin typeface="Arial"/>
                          <a:ea typeface="Arial"/>
                          <a:cs typeface="Arial"/>
                        </a:rPr>
                        <a:t>2.316e-3</a:t>
                      </a:r>
                    </a:p>
                  </a:txBody>
                  <a:tcPr marL="91440" marR="91440" marT="45720" marB="45720">
                    <a:lnR w="9525">
                      <a:solidFill>
                        <a:srgbClr val="D9D9D9"/>
                      </a:solidFill>
                      <a:prstDash val="solid"/>
                    </a:lnR>
                    <a:lnB w="9525">
                      <a:solidFill>
                        <a:srgbClr val="D9D9D9"/>
                      </a:solidFill>
                      <a:prstDash val="solid"/>
                    </a:lnB>
                    <a:solidFill>
                      <a:srgbClr val="F5F7F9"/>
                    </a:solidFill>
                  </a:tcPr>
                </a:tc>
                <a:tc>
                  <a:txBody>
                    <a:bodyPr/>
                    <a:lstStyle/>
                    <a:p>
                      <a:r>
                        <a:rPr sz="1725" b="0">
                          <a:solidFill>
                            <a:srgbClr val="18202A"/>
                          </a:solidFill>
                          <a:latin typeface="Arial"/>
                          <a:ea typeface="Arial"/>
                          <a:cs typeface="Arial"/>
                        </a:rPr>
                        <a:t>3.489e-3</a:t>
                      </a:r>
                    </a:p>
                  </a:txBody>
                  <a:tcPr marL="91440" marR="91440" marT="45720" marB="45720">
                    <a:lnR w="9525">
                      <a:solidFill>
                        <a:srgbClr val="D9D9D9"/>
                      </a:solidFill>
                      <a:prstDash val="solid"/>
                    </a:lnR>
                    <a:lnB w="9525">
                      <a:solidFill>
                        <a:srgbClr val="D9D9D9"/>
                      </a:solidFill>
                      <a:prstDash val="solid"/>
                    </a:lnB>
                    <a:solidFill>
                      <a:srgbClr val="F5F7F9"/>
                    </a:solidFill>
                  </a:tcPr>
                </a:tc>
              </a:tr>
              <a:tr h="528638">
                <a:tc>
                  <a:txBody>
                    <a:bodyPr/>
                    <a:lstStyle/>
                    <a:p>
                      <a:r>
                        <a:rPr sz="1725" b="0">
                          <a:solidFill>
                            <a:srgbClr val="18202A"/>
                          </a:solidFill>
                          <a:latin typeface="Arial"/>
                          <a:ea typeface="Arial"/>
                          <a:cs typeface="Arial"/>
                        </a:rPr>
                        <a:t>NN</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2.744e-4</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7.648e-4</a:t>
                      </a:r>
                    </a:p>
                  </a:txBody>
                  <a:tcPr marL="91440" marR="91440" marT="45720" marB="45720">
                    <a:lnR w="9525">
                      <a:solidFill>
                        <a:srgbClr val="D9D9D9"/>
                      </a:solidFill>
                      <a:prstDash val="solid"/>
                    </a:lnR>
                    <a:lnB w="9525">
                      <a:solidFill>
                        <a:srgbClr val="D9D9D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6F8A8BA-F065-48F4-A5E5-C710ACD053E8}"/>
              </a:ext>
            </a:extLst>
          </p:cNvPr>
          <p:cNvSpPr>
            <a:spLocks xmlns:a="http://schemas.openxmlformats.org/drawingml/2006/main" noGrp="1"/>
          </p:cNvSpPr>
          <p:nvPr/>
        </p:nvSpPr>
        <p:spPr>
          <a:xfrm xmlns:a="http://schemas.openxmlformats.org/drawingml/2006/main">
            <a:off x="666750" y="55721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245BC2"/>
                </a:solidFill>
                <a:latin typeface="Arial"/>
                <a:ea typeface="Arial"/>
                <a:cs typeface="Arial"/>
              </a:defRPr>
            </a:defPPr>
            <a:lvl1pPr>
              <a:defRPr sz="2250" b="1">
                <a:solidFill>
                  <a:srgbClr val="245BC2"/>
                </a:solidFill>
                <a:latin typeface="Arial"/>
                <a:ea typeface="Arial"/>
                <a:cs typeface="Arial"/>
              </a:defRPr>
            </a:lvl1pPr>
            <a:lvl2pPr>
              <a:defRPr sz="2250" b="1">
                <a:solidFill>
                  <a:srgbClr val="245BC2"/>
                </a:solidFill>
                <a:latin typeface="Arial"/>
                <a:ea typeface="Arial"/>
                <a:cs typeface="Arial"/>
              </a:defRPr>
            </a:lvl2pPr>
            <a:lvl3pPr>
              <a:defRPr sz="2250" b="1">
                <a:solidFill>
                  <a:srgbClr val="245BC2"/>
                </a:solidFill>
                <a:latin typeface="Arial"/>
                <a:ea typeface="Arial"/>
                <a:cs typeface="Arial"/>
              </a:defRPr>
            </a:lvl3pPr>
            <a:lvl4pPr>
              <a:defRPr sz="2250" b="1">
                <a:solidFill>
                  <a:srgbClr val="245BC2"/>
                </a:solidFill>
                <a:latin typeface="Arial"/>
                <a:ea typeface="Arial"/>
                <a:cs typeface="Arial"/>
              </a:defRPr>
            </a:lvl4pPr>
            <a:lvl5pPr>
              <a:defRPr sz="2250" b="1">
                <a:solidFill>
                  <a:srgbClr val="245BC2"/>
                </a:solidFill>
                <a:latin typeface="Arial"/>
                <a:ea typeface="Arial"/>
                <a:cs typeface="Arial"/>
              </a:defRPr>
            </a:lvl5pPr>
            <a:lvl6pPr>
              <a:defRPr sz="2250" b="1">
                <a:solidFill>
                  <a:srgbClr val="245BC2"/>
                </a:solidFill>
                <a:latin typeface="Arial"/>
                <a:ea typeface="Arial"/>
                <a:cs typeface="Arial"/>
              </a:defRPr>
            </a:lvl6pPr>
            <a:lvl7pPr>
              <a:defRPr sz="2250" b="1">
                <a:solidFill>
                  <a:srgbClr val="245BC2"/>
                </a:solidFill>
                <a:latin typeface="Arial"/>
                <a:ea typeface="Arial"/>
                <a:cs typeface="Arial"/>
              </a:defRPr>
            </a:lvl7pPr>
            <a:lvl8pPr>
              <a:defRPr sz="2250" b="1">
                <a:solidFill>
                  <a:srgbClr val="245BC2"/>
                </a:solidFill>
                <a:latin typeface="Arial"/>
                <a:ea typeface="Arial"/>
                <a:cs typeface="Arial"/>
              </a:defRPr>
            </a:lvl8pPr>
            <a:lvl9pPr>
              <a:defRPr sz="2250" b="1">
                <a:solidFill>
                  <a:srgbClr val="245BC2"/>
                </a:solidFill>
                <a:latin typeface="Arial"/>
                <a:ea typeface="Arial"/>
                <a:cs typeface="Arial"/>
              </a:defRPr>
            </a:lvl9pPr>
          </a:lstStyle>
          <a:p xmlns:a="http://schemas.openxmlformats.org/drawingml/2006/main">
            <a:pPr>
              <a:defRPr sz="2250" b="1">
                <a:solidFill>
                  <a:srgbClr val="245BC2"/>
                </a:solidFill>
                <a:latin typeface="Arial"/>
                <a:ea typeface="Arial"/>
                <a:cs typeface="Arial"/>
              </a:defRPr>
            </a:pPr>
            <a:r>
              <a:rPr sz="2250" b="1">
                <a:solidFill>
                  <a:srgbClr val="245BC2"/>
                </a:solidFill>
                <a:latin typeface="Arial"/>
                <a:ea typeface="Arial"/>
                <a:cs typeface="Arial"/>
              </a:rPr>
              <a:t>99.10% lower standardized error than persistence.</a:t>
            </a:r>
          </a:p>
        </p:txBody>
      </p:sp>
      <p:sp>
        <p:nvSpPr>
          <p:cNvPr id="5" name="">
            <a:extLst xmlns:a="http://schemas.openxmlformats.org/drawingml/2006/main">
              <a:ext uri="{FF2B5EF4-FFF2-40B4-BE49-F238E27FC236}">
                <a16:creationId xmlns:a16="http://schemas.microsoft.com/office/drawing/2014/main" id="{2A503E48-5901-4BF4-AD9E-241425971669}"/>
              </a:ext>
            </a:extLst>
          </p:cNvPr>
          <p:cNvSpPr>
            <a:spLocks xmlns:a="http://schemas.openxmlformats.org/drawingml/2006/main" noGrp="1"/>
          </p:cNvSpPr>
          <p:nvPr/>
        </p:nvSpPr>
        <p:spPr>
          <a:xfrm xmlns:a="http://schemas.openxmlformats.org/drawingml/2006/main">
            <a:off x="666750" y="61722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535E6C"/>
                </a:solidFill>
                <a:latin typeface="Arial"/>
                <a:ea typeface="Arial"/>
                <a:cs typeface="Arial"/>
              </a:defRPr>
            </a:defPPr>
            <a:lvl1pPr>
              <a:defRPr sz="1575" b="0">
                <a:solidFill>
                  <a:srgbClr val="535E6C"/>
                </a:solidFill>
                <a:latin typeface="Arial"/>
                <a:ea typeface="Arial"/>
                <a:cs typeface="Arial"/>
              </a:defRPr>
            </a:lvl1pPr>
            <a:lvl2pPr>
              <a:defRPr sz="1575" b="0">
                <a:solidFill>
                  <a:srgbClr val="535E6C"/>
                </a:solidFill>
                <a:latin typeface="Arial"/>
                <a:ea typeface="Arial"/>
                <a:cs typeface="Arial"/>
              </a:defRPr>
            </a:lvl2pPr>
            <a:lvl3pPr>
              <a:defRPr sz="1575" b="0">
                <a:solidFill>
                  <a:srgbClr val="535E6C"/>
                </a:solidFill>
                <a:latin typeface="Arial"/>
                <a:ea typeface="Arial"/>
                <a:cs typeface="Arial"/>
              </a:defRPr>
            </a:lvl3pPr>
            <a:lvl4pPr>
              <a:defRPr sz="1575" b="0">
                <a:solidFill>
                  <a:srgbClr val="535E6C"/>
                </a:solidFill>
                <a:latin typeface="Arial"/>
                <a:ea typeface="Arial"/>
                <a:cs typeface="Arial"/>
              </a:defRPr>
            </a:lvl4pPr>
            <a:lvl5pPr>
              <a:defRPr sz="1575" b="0">
                <a:solidFill>
                  <a:srgbClr val="535E6C"/>
                </a:solidFill>
                <a:latin typeface="Arial"/>
                <a:ea typeface="Arial"/>
                <a:cs typeface="Arial"/>
              </a:defRPr>
            </a:lvl5pPr>
            <a:lvl6pPr>
              <a:defRPr sz="1575" b="0">
                <a:solidFill>
                  <a:srgbClr val="535E6C"/>
                </a:solidFill>
                <a:latin typeface="Arial"/>
                <a:ea typeface="Arial"/>
                <a:cs typeface="Arial"/>
              </a:defRPr>
            </a:lvl6pPr>
            <a:lvl7pPr>
              <a:defRPr sz="1575" b="0">
                <a:solidFill>
                  <a:srgbClr val="535E6C"/>
                </a:solidFill>
                <a:latin typeface="Arial"/>
                <a:ea typeface="Arial"/>
                <a:cs typeface="Arial"/>
              </a:defRPr>
            </a:lvl7pPr>
            <a:lvl8pPr>
              <a:defRPr sz="1575" b="0">
                <a:solidFill>
                  <a:srgbClr val="535E6C"/>
                </a:solidFill>
                <a:latin typeface="Arial"/>
                <a:ea typeface="Arial"/>
                <a:cs typeface="Arial"/>
              </a:defRPr>
            </a:lvl8pPr>
            <a:lvl9pPr>
              <a:defRPr sz="1575" b="0">
                <a:solidFill>
                  <a:srgbClr val="535E6C"/>
                </a:solidFill>
                <a:latin typeface="Arial"/>
                <a:ea typeface="Arial"/>
                <a:cs typeface="Arial"/>
              </a:defRPr>
            </a:lvl9pPr>
          </a:lstStyle>
          <a:p xmlns:a="http://schemas.openxmlformats.org/drawingml/2006/main">
            <a:pPr>
              <a:defRPr sz="1575" b="0">
                <a:solidFill>
                  <a:srgbClr val="535E6C"/>
                </a:solidFill>
                <a:latin typeface="Arial"/>
                <a:ea typeface="Arial"/>
                <a:cs typeface="Arial"/>
              </a:defRPr>
            </a:pPr>
            <a:r>
              <a:rPr sz="1575" b="0">
                <a:solidFill>
                  <a:srgbClr val="535E6C"/>
                </a:solidFill>
                <a:latin typeface="Arial"/>
                <a:ea typeface="Arial"/>
                <a:cs typeface="Arial"/>
              </a:rPr>
              <a:t>RK4 is substantially more accurate. It directly uses the known governing equation.</a:t>
            </a:r>
          </a:p>
        </p:txBody>
      </p:sp>
    </p:spTree>
    <p:extLst>
      <p:ext uri="{BB962C8B-B14F-4D97-AF65-F5344CB8AC3E}">
        <p14:creationId xmlns:p14="http://schemas.microsoft.com/office/powerpoint/2010/main" val="15141215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7F59CC-4D7D-4C32-AE14-6319BD346CC6}"/>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02A"/>
                </a:solidFill>
                <a:latin typeface="Arial"/>
                <a:ea typeface="Arial"/>
                <a:cs typeface="Arial"/>
              </a:defRPr>
            </a:defPPr>
            <a:lvl1pPr>
              <a:defRPr sz="3300" b="1">
                <a:solidFill>
                  <a:srgbClr val="18202A"/>
                </a:solidFill>
                <a:latin typeface="Arial"/>
                <a:ea typeface="Arial"/>
                <a:cs typeface="Arial"/>
              </a:defRPr>
            </a:lvl1pPr>
            <a:lvl2pPr>
              <a:defRPr sz="3300" b="1">
                <a:solidFill>
                  <a:srgbClr val="18202A"/>
                </a:solidFill>
                <a:latin typeface="Arial"/>
                <a:ea typeface="Arial"/>
                <a:cs typeface="Arial"/>
              </a:defRPr>
            </a:lvl2pPr>
            <a:lvl3pPr>
              <a:defRPr sz="3300" b="1">
                <a:solidFill>
                  <a:srgbClr val="18202A"/>
                </a:solidFill>
                <a:latin typeface="Arial"/>
                <a:ea typeface="Arial"/>
                <a:cs typeface="Arial"/>
              </a:defRPr>
            </a:lvl3pPr>
            <a:lvl4pPr>
              <a:defRPr sz="3300" b="1">
                <a:solidFill>
                  <a:srgbClr val="18202A"/>
                </a:solidFill>
                <a:latin typeface="Arial"/>
                <a:ea typeface="Arial"/>
                <a:cs typeface="Arial"/>
              </a:defRPr>
            </a:lvl4pPr>
            <a:lvl5pPr>
              <a:defRPr sz="3300" b="1">
                <a:solidFill>
                  <a:srgbClr val="18202A"/>
                </a:solidFill>
                <a:latin typeface="Arial"/>
                <a:ea typeface="Arial"/>
                <a:cs typeface="Arial"/>
              </a:defRPr>
            </a:lvl5pPr>
            <a:lvl6pPr>
              <a:defRPr sz="3300" b="1">
                <a:solidFill>
                  <a:srgbClr val="18202A"/>
                </a:solidFill>
                <a:latin typeface="Arial"/>
                <a:ea typeface="Arial"/>
                <a:cs typeface="Arial"/>
              </a:defRPr>
            </a:lvl6pPr>
            <a:lvl7pPr>
              <a:defRPr sz="3300" b="1">
                <a:solidFill>
                  <a:srgbClr val="18202A"/>
                </a:solidFill>
                <a:latin typeface="Arial"/>
                <a:ea typeface="Arial"/>
                <a:cs typeface="Arial"/>
              </a:defRPr>
            </a:lvl7pPr>
            <a:lvl8pPr>
              <a:defRPr sz="3300" b="1">
                <a:solidFill>
                  <a:srgbClr val="18202A"/>
                </a:solidFill>
                <a:latin typeface="Arial"/>
                <a:ea typeface="Arial"/>
                <a:cs typeface="Arial"/>
              </a:defRPr>
            </a:lvl8pPr>
            <a:lvl9pPr>
              <a:defRPr sz="3300" b="1">
                <a:solidFill>
                  <a:srgbClr val="18202A"/>
                </a:solidFill>
                <a:latin typeface="Arial"/>
                <a:ea typeface="Arial"/>
                <a:cs typeface="Arial"/>
              </a:defRPr>
            </a:lvl9pPr>
          </a:lstStyle>
          <a:p xmlns:a="http://schemas.openxmlformats.org/drawingml/2006/main">
            <a:pPr>
              <a:defRPr sz="3300" b="1">
                <a:solidFill>
                  <a:srgbClr val="18202A"/>
                </a:solidFill>
                <a:latin typeface="Arial"/>
                <a:ea typeface="Arial"/>
                <a:cs typeface="Arial"/>
              </a:defRPr>
            </a:pPr>
            <a:r>
              <a:rPr sz="3300" b="1">
                <a:solidFill>
                  <a:srgbClr val="18202A"/>
                </a:solidFill>
                <a:latin typeface="Arial"/>
                <a:ea typeface="Arial"/>
                <a:cs typeface="Arial"/>
              </a:rPr>
              <a:t>Autonomous Rollouts</a:t>
            </a:r>
          </a:p>
        </p:txBody>
      </p:sp>
      <p:sp>
        <p:nvSpPr>
          <p:cNvPr id="2" name="">
            <a:extLst xmlns:a="http://schemas.openxmlformats.org/drawingml/2006/main">
              <a:ext uri="{FF2B5EF4-FFF2-40B4-BE49-F238E27FC236}">
                <a16:creationId xmlns:a16="http://schemas.microsoft.com/office/drawing/2014/main" id="{0FA04596-42F7-47BB-9D3B-3B6640357DF9}"/>
              </a:ext>
            </a:extLst>
          </p:cNvPr>
          <p:cNvSpPr>
            <a:spLocks xmlns:a="http://schemas.openxmlformats.org/drawingml/2006/main" noGrp="1"/>
          </p:cNvSpPr>
          <p:nvPr/>
        </p:nvSpPr>
        <p:spPr>
          <a:xfrm xmlns:a="http://schemas.openxmlformats.org/drawingml/2006/main">
            <a:off x="666750" y="1285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8202A"/>
                </a:solidFill>
                <a:latin typeface="Arial"/>
                <a:ea typeface="Arial"/>
                <a:cs typeface="Arial"/>
              </a:defRPr>
            </a:defPPr>
            <a:lvl1pPr>
              <a:defRPr sz="2025" b="1">
                <a:solidFill>
                  <a:srgbClr val="18202A"/>
                </a:solidFill>
                <a:latin typeface="Arial"/>
                <a:ea typeface="Arial"/>
                <a:cs typeface="Arial"/>
              </a:defRPr>
            </a:lvl1pPr>
            <a:lvl2pPr>
              <a:defRPr sz="2025" b="1">
                <a:solidFill>
                  <a:srgbClr val="18202A"/>
                </a:solidFill>
                <a:latin typeface="Arial"/>
                <a:ea typeface="Arial"/>
                <a:cs typeface="Arial"/>
              </a:defRPr>
            </a:lvl2pPr>
            <a:lvl3pPr>
              <a:defRPr sz="2025" b="1">
                <a:solidFill>
                  <a:srgbClr val="18202A"/>
                </a:solidFill>
                <a:latin typeface="Arial"/>
                <a:ea typeface="Arial"/>
                <a:cs typeface="Arial"/>
              </a:defRPr>
            </a:lvl3pPr>
            <a:lvl4pPr>
              <a:defRPr sz="2025" b="1">
                <a:solidFill>
                  <a:srgbClr val="18202A"/>
                </a:solidFill>
                <a:latin typeface="Arial"/>
                <a:ea typeface="Arial"/>
                <a:cs typeface="Arial"/>
              </a:defRPr>
            </a:lvl4pPr>
            <a:lvl5pPr>
              <a:defRPr sz="2025" b="1">
                <a:solidFill>
                  <a:srgbClr val="18202A"/>
                </a:solidFill>
                <a:latin typeface="Arial"/>
                <a:ea typeface="Arial"/>
                <a:cs typeface="Arial"/>
              </a:defRPr>
            </a:lvl5pPr>
            <a:lvl6pPr>
              <a:defRPr sz="2025" b="1">
                <a:solidFill>
                  <a:srgbClr val="18202A"/>
                </a:solidFill>
                <a:latin typeface="Arial"/>
                <a:ea typeface="Arial"/>
                <a:cs typeface="Arial"/>
              </a:defRPr>
            </a:lvl6pPr>
            <a:lvl7pPr>
              <a:defRPr sz="2025" b="1">
                <a:solidFill>
                  <a:srgbClr val="18202A"/>
                </a:solidFill>
                <a:latin typeface="Arial"/>
                <a:ea typeface="Arial"/>
                <a:cs typeface="Arial"/>
              </a:defRPr>
            </a:lvl7pPr>
            <a:lvl8pPr>
              <a:defRPr sz="2025" b="1">
                <a:solidFill>
                  <a:srgbClr val="18202A"/>
                </a:solidFill>
                <a:latin typeface="Arial"/>
                <a:ea typeface="Arial"/>
                <a:cs typeface="Arial"/>
              </a:defRPr>
            </a:lvl8pPr>
            <a:lvl9pPr>
              <a:defRPr sz="2025" b="1">
                <a:solidFill>
                  <a:srgbClr val="18202A"/>
                </a:solidFill>
                <a:latin typeface="Arial"/>
                <a:ea typeface="Arial"/>
                <a:cs typeface="Arial"/>
              </a:defRPr>
            </a:lvl9pPr>
          </a:lstStyle>
          <a:p xmlns:a="http://schemas.openxmlformats.org/drawingml/2006/main">
            <a:pPr>
              <a:defRPr sz="2025" b="1">
                <a:solidFill>
                  <a:srgbClr val="18202A"/>
                </a:solidFill>
                <a:latin typeface="Arial"/>
                <a:ea typeface="Arial"/>
                <a:cs typeface="Arial"/>
              </a:defRPr>
            </a:pPr>
            <a:r>
              <a:rPr sz="2025" b="1">
                <a:solidFill>
                  <a:srgbClr val="18202A"/>
                </a:solidFill>
                <a:latin typeface="Arial"/>
                <a:ea typeface="Arial"/>
                <a:cs typeface="Arial"/>
              </a:rPr>
              <a:t>The NN uses only its own previous output for 500 steps.</a:t>
            </a:r>
          </a:p>
        </p:txBody>
      </p:sp>
      <p:graphicFrame>
        <p:nvGraphicFramePr>
          <p:cNvPr id="3" name="Chart">
            <a:extLst xmlns:a="http://schemas.openxmlformats.org/drawingml/2006/main">
              <a:ext uri="{FF2B5EF4-FFF2-40B4-BE49-F238E27FC236}">
                <a16:creationId xmlns:a16="http://schemas.microsoft.com/office/drawing/2014/main" id="{C80CC8E1-49E5-4D22-B788-F91F3504CD0E}"/>
              </a:ext>
            </a:extLst>
          </p:cNvPr>
          <p:cNvGraphicFramePr/>
          <p:nvPr/>
        </p:nvGraphicFramePr>
        <p:xfrm>
          <a:off xmlns:a="http://schemas.openxmlformats.org/drawingml/2006/main" x="552450" y="2047875"/>
          <a:ext xmlns:a="http://schemas.openxmlformats.org/drawingml/2006/main" cx="5381625" cy="3286125"/>
        </p:xfrm>
        <a:graphic xmlns:a="http://schemas.openxmlformats.org/drawingml/2006/main">
          <a:graphicData uri="http://schemas.openxmlformats.org/drawingml/2006/chart">
            <c:chart xmlns:r="http://schemas.openxmlformats.org/officeDocument/2006/relationships" xmlns:c="http://schemas.openxmlformats.org/drawingml/2006/chart" r:id="Rf19de7275f0e4232"/>
          </a:graphicData>
        </a:graphic>
      </p:graphicFrame>
      <p:graphicFrame>
        <p:nvGraphicFramePr>
          <p:cNvPr id="4" name="Chart">
            <a:extLst xmlns:a="http://schemas.openxmlformats.org/drawingml/2006/main">
              <a:ext uri="{FF2B5EF4-FFF2-40B4-BE49-F238E27FC236}">
                <a16:creationId xmlns:a16="http://schemas.microsoft.com/office/drawing/2014/main" id="{5499293C-5C1E-4B5F-9A48-8E6B65999064}"/>
              </a:ext>
            </a:extLst>
          </p:cNvPr>
          <p:cNvGraphicFramePr/>
          <p:nvPr/>
        </p:nvGraphicFramePr>
        <p:xfrm>
          <a:off xmlns:a="http://schemas.openxmlformats.org/drawingml/2006/main" x="6257925" y="2047875"/>
          <a:ext xmlns:a="http://schemas.openxmlformats.org/drawingml/2006/main" cx="5381625" cy="3286125"/>
        </p:xfrm>
        <a:graphic xmlns:a="http://schemas.openxmlformats.org/drawingml/2006/main">
          <a:graphicData uri="http://schemas.openxmlformats.org/drawingml/2006/chart">
            <c:chart xmlns:r="http://schemas.openxmlformats.org/officeDocument/2006/relationships" xmlns:c="http://schemas.openxmlformats.org/drawingml/2006/chart" r:id="R8c75888caf7f49f2"/>
          </a:graphicData>
        </a:graphic>
      </p:graphicFrame>
      <p:sp>
        <p:nvSpPr>
          <p:cNvPr id="5" name="">
            <a:extLst xmlns:a="http://schemas.openxmlformats.org/drawingml/2006/main">
              <a:ext uri="{FF2B5EF4-FFF2-40B4-BE49-F238E27FC236}">
                <a16:creationId xmlns:a16="http://schemas.microsoft.com/office/drawing/2014/main" id="{C0429FEA-D447-496F-8183-2D9E4D88E15B}"/>
              </a:ext>
            </a:extLst>
          </p:cNvPr>
          <p:cNvSpPr>
            <a:spLocks xmlns:a="http://schemas.openxmlformats.org/drawingml/2006/main" noGrp="1"/>
          </p:cNvSpPr>
          <p:nvPr/>
        </p:nvSpPr>
        <p:spPr>
          <a:xfrm xmlns:a="http://schemas.openxmlformats.org/drawingml/2006/main">
            <a:off x="714375" y="5619750"/>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8202A"/>
                </a:solidFill>
                <a:latin typeface="Arial"/>
                <a:ea typeface="Arial"/>
                <a:cs typeface="Arial"/>
              </a:defRPr>
            </a:defPPr>
            <a:lvl1pPr>
              <a:defRPr sz="1950" b="0">
                <a:solidFill>
                  <a:srgbClr val="18202A"/>
                </a:solidFill>
                <a:latin typeface="Arial"/>
                <a:ea typeface="Arial"/>
                <a:cs typeface="Arial"/>
              </a:defRPr>
            </a:lvl1pPr>
            <a:lvl2pPr>
              <a:defRPr sz="1950" b="0">
                <a:solidFill>
                  <a:srgbClr val="18202A"/>
                </a:solidFill>
                <a:latin typeface="Arial"/>
                <a:ea typeface="Arial"/>
                <a:cs typeface="Arial"/>
              </a:defRPr>
            </a:lvl2pPr>
            <a:lvl3pPr>
              <a:defRPr sz="1950" b="0">
                <a:solidFill>
                  <a:srgbClr val="18202A"/>
                </a:solidFill>
                <a:latin typeface="Arial"/>
                <a:ea typeface="Arial"/>
                <a:cs typeface="Arial"/>
              </a:defRPr>
            </a:lvl3pPr>
            <a:lvl4pPr>
              <a:defRPr sz="1950" b="0">
                <a:solidFill>
                  <a:srgbClr val="18202A"/>
                </a:solidFill>
                <a:latin typeface="Arial"/>
                <a:ea typeface="Arial"/>
                <a:cs typeface="Arial"/>
              </a:defRPr>
            </a:lvl4pPr>
            <a:lvl5pPr>
              <a:defRPr sz="1950" b="0">
                <a:solidFill>
                  <a:srgbClr val="18202A"/>
                </a:solidFill>
                <a:latin typeface="Arial"/>
                <a:ea typeface="Arial"/>
                <a:cs typeface="Arial"/>
              </a:defRPr>
            </a:lvl5pPr>
            <a:lvl6pPr>
              <a:defRPr sz="1950" b="0">
                <a:solidFill>
                  <a:srgbClr val="18202A"/>
                </a:solidFill>
                <a:latin typeface="Arial"/>
                <a:ea typeface="Arial"/>
                <a:cs typeface="Arial"/>
              </a:defRPr>
            </a:lvl6pPr>
            <a:lvl7pPr>
              <a:defRPr sz="1950" b="0">
                <a:solidFill>
                  <a:srgbClr val="18202A"/>
                </a:solidFill>
                <a:latin typeface="Arial"/>
                <a:ea typeface="Arial"/>
                <a:cs typeface="Arial"/>
              </a:defRPr>
            </a:lvl7pPr>
            <a:lvl8pPr>
              <a:defRPr sz="1950" b="0">
                <a:solidFill>
                  <a:srgbClr val="18202A"/>
                </a:solidFill>
                <a:latin typeface="Arial"/>
                <a:ea typeface="Arial"/>
                <a:cs typeface="Arial"/>
              </a:defRPr>
            </a:lvl8pPr>
            <a:lvl9pPr>
              <a:defRPr sz="1950" b="0">
                <a:solidFill>
                  <a:srgbClr val="18202A"/>
                </a:solidFill>
                <a:latin typeface="Arial"/>
                <a:ea typeface="Arial"/>
                <a:cs typeface="Arial"/>
              </a:defRPr>
            </a:lvl9pPr>
          </a:lstStyle>
          <a:p xmlns:a="http://schemas.openxmlformats.org/drawingml/2006/main">
            <a:pPr>
              <a:defRPr sz="1950" b="0">
                <a:solidFill>
                  <a:srgbClr val="18202A"/>
                </a:solidFill>
                <a:latin typeface="Arial"/>
                <a:ea typeface="Arial"/>
                <a:cs typeface="Arial"/>
              </a:defRPr>
            </a:pPr>
            <a:r>
              <a:rPr sz="1950" b="0">
                <a:solidFill>
                  <a:srgbClr val="18202A"/>
                </a:solidFill>
                <a:latin typeface="Arial"/>
                <a:ea typeface="Arial"/>
                <a:cs typeface="Arial"/>
              </a:rPr>
              <a:t>Trajectory 74 angle RMSE</a:t>
            </a:r>
          </a:p>
          <a:p xmlns:a="http://schemas.openxmlformats.org/drawingml/2006/main">
            <a:pPr>
              <a:defRPr sz="1950" b="0">
                <a:solidFill>
                  <a:srgbClr val="18202A"/>
                </a:solidFill>
                <a:latin typeface="Arial"/>
                <a:ea typeface="Arial"/>
                <a:cs typeface="Arial"/>
              </a:defRPr>
            </a:pPr>
            <a:r>
              <a:rPr sz="1950" b="0">
                <a:solidFill>
                  <a:srgbClr val="18202A"/>
                </a:solidFill>
                <a:latin typeface="Arial"/>
                <a:ea typeface="Arial"/>
                <a:cs typeface="Arial"/>
              </a:rPr>
              <a:t>0.0814 rad</a:t>
            </a:r>
          </a:p>
        </p:txBody>
      </p:sp>
      <p:sp>
        <p:nvSpPr>
          <p:cNvPr id="6" name="">
            <a:extLst xmlns:a="http://schemas.openxmlformats.org/drawingml/2006/main">
              <a:ext uri="{FF2B5EF4-FFF2-40B4-BE49-F238E27FC236}">
                <a16:creationId xmlns:a16="http://schemas.microsoft.com/office/drawing/2014/main" id="{D3AB4937-7919-4C0E-BEA5-581190595A45}"/>
              </a:ext>
            </a:extLst>
          </p:cNvPr>
          <p:cNvSpPr>
            <a:spLocks xmlns:a="http://schemas.openxmlformats.org/drawingml/2006/main" noGrp="1"/>
          </p:cNvSpPr>
          <p:nvPr/>
        </p:nvSpPr>
        <p:spPr>
          <a:xfrm xmlns:a="http://schemas.openxmlformats.org/drawingml/2006/main">
            <a:off x="6477000" y="5619750"/>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CB532C"/>
                </a:solidFill>
                <a:latin typeface="Arial"/>
                <a:ea typeface="Arial"/>
                <a:cs typeface="Arial"/>
              </a:defRPr>
            </a:defPPr>
            <a:lvl1pPr>
              <a:defRPr sz="1950" b="1">
                <a:solidFill>
                  <a:srgbClr val="CB532C"/>
                </a:solidFill>
                <a:latin typeface="Arial"/>
                <a:ea typeface="Arial"/>
                <a:cs typeface="Arial"/>
              </a:defRPr>
            </a:lvl1pPr>
            <a:lvl2pPr>
              <a:defRPr sz="1950" b="1">
                <a:solidFill>
                  <a:srgbClr val="CB532C"/>
                </a:solidFill>
                <a:latin typeface="Arial"/>
                <a:ea typeface="Arial"/>
                <a:cs typeface="Arial"/>
              </a:defRPr>
            </a:lvl2pPr>
            <a:lvl3pPr>
              <a:defRPr sz="1950" b="1">
                <a:solidFill>
                  <a:srgbClr val="CB532C"/>
                </a:solidFill>
                <a:latin typeface="Arial"/>
                <a:ea typeface="Arial"/>
                <a:cs typeface="Arial"/>
              </a:defRPr>
            </a:lvl3pPr>
            <a:lvl4pPr>
              <a:defRPr sz="1950" b="1">
                <a:solidFill>
                  <a:srgbClr val="CB532C"/>
                </a:solidFill>
                <a:latin typeface="Arial"/>
                <a:ea typeface="Arial"/>
                <a:cs typeface="Arial"/>
              </a:defRPr>
            </a:lvl4pPr>
            <a:lvl5pPr>
              <a:defRPr sz="1950" b="1">
                <a:solidFill>
                  <a:srgbClr val="CB532C"/>
                </a:solidFill>
                <a:latin typeface="Arial"/>
                <a:ea typeface="Arial"/>
                <a:cs typeface="Arial"/>
              </a:defRPr>
            </a:lvl5pPr>
            <a:lvl6pPr>
              <a:defRPr sz="1950" b="1">
                <a:solidFill>
                  <a:srgbClr val="CB532C"/>
                </a:solidFill>
                <a:latin typeface="Arial"/>
                <a:ea typeface="Arial"/>
                <a:cs typeface="Arial"/>
              </a:defRPr>
            </a:lvl6pPr>
            <a:lvl7pPr>
              <a:defRPr sz="1950" b="1">
                <a:solidFill>
                  <a:srgbClr val="CB532C"/>
                </a:solidFill>
                <a:latin typeface="Arial"/>
                <a:ea typeface="Arial"/>
                <a:cs typeface="Arial"/>
              </a:defRPr>
            </a:lvl7pPr>
            <a:lvl8pPr>
              <a:defRPr sz="1950" b="1">
                <a:solidFill>
                  <a:srgbClr val="CB532C"/>
                </a:solidFill>
                <a:latin typeface="Arial"/>
                <a:ea typeface="Arial"/>
                <a:cs typeface="Arial"/>
              </a:defRPr>
            </a:lvl8pPr>
            <a:lvl9pPr>
              <a:defRPr sz="1950" b="1">
                <a:solidFill>
                  <a:srgbClr val="CB532C"/>
                </a:solidFill>
                <a:latin typeface="Arial"/>
                <a:ea typeface="Arial"/>
                <a:cs typeface="Arial"/>
              </a:defRPr>
            </a:lvl9pPr>
          </a:lstStyle>
          <a:p xmlns:a="http://schemas.openxmlformats.org/drawingml/2006/main">
            <a:pPr>
              <a:defRPr sz="1950" b="1">
                <a:solidFill>
                  <a:srgbClr val="CB532C"/>
                </a:solidFill>
                <a:latin typeface="Arial"/>
                <a:ea typeface="Arial"/>
                <a:cs typeface="Arial"/>
              </a:defRPr>
            </a:pPr>
            <a:r>
              <a:rPr sz="1950" b="1">
                <a:solidFill>
                  <a:srgbClr val="CB532C"/>
                </a:solidFill>
                <a:latin typeface="Arial"/>
                <a:ea typeface="Arial"/>
                <a:cs typeface="Arial"/>
              </a:rPr>
              <a:t>OOD angle RMSE</a:t>
            </a:r>
          </a:p>
          <a:p xmlns:a="http://schemas.openxmlformats.org/drawingml/2006/main">
            <a:pPr>
              <a:defRPr sz="1950" b="1">
                <a:solidFill>
                  <a:srgbClr val="CB532C"/>
                </a:solidFill>
                <a:latin typeface="Arial"/>
                <a:ea typeface="Arial"/>
                <a:cs typeface="Arial"/>
              </a:defRPr>
            </a:pPr>
            <a:r>
              <a:rPr sz="1950" b="1">
                <a:solidFill>
                  <a:srgbClr val="CB532C"/>
                </a:solidFill>
                <a:latin typeface="Arial"/>
                <a:ea typeface="Arial"/>
                <a:cs typeface="Arial"/>
              </a:rPr>
              <a:t>0.4989 rad</a:t>
            </a:r>
          </a:p>
        </p:txBody>
      </p:sp>
    </p:spTree>
    <p:extLst>
      <p:ext uri="{BB962C8B-B14F-4D97-AF65-F5344CB8AC3E}">
        <p14:creationId xmlns:p14="http://schemas.microsoft.com/office/powerpoint/2010/main" val="17501617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22EE67-F788-4531-ACDA-E5B64F9FFF1D}"/>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02A"/>
                </a:solidFill>
                <a:latin typeface="Arial"/>
                <a:ea typeface="Arial"/>
                <a:cs typeface="Arial"/>
              </a:defRPr>
            </a:defPPr>
            <a:lvl1pPr>
              <a:defRPr sz="3300" b="1">
                <a:solidFill>
                  <a:srgbClr val="18202A"/>
                </a:solidFill>
                <a:latin typeface="Arial"/>
                <a:ea typeface="Arial"/>
                <a:cs typeface="Arial"/>
              </a:defRPr>
            </a:lvl1pPr>
            <a:lvl2pPr>
              <a:defRPr sz="3300" b="1">
                <a:solidFill>
                  <a:srgbClr val="18202A"/>
                </a:solidFill>
                <a:latin typeface="Arial"/>
                <a:ea typeface="Arial"/>
                <a:cs typeface="Arial"/>
              </a:defRPr>
            </a:lvl2pPr>
            <a:lvl3pPr>
              <a:defRPr sz="3300" b="1">
                <a:solidFill>
                  <a:srgbClr val="18202A"/>
                </a:solidFill>
                <a:latin typeface="Arial"/>
                <a:ea typeface="Arial"/>
                <a:cs typeface="Arial"/>
              </a:defRPr>
            </a:lvl3pPr>
            <a:lvl4pPr>
              <a:defRPr sz="3300" b="1">
                <a:solidFill>
                  <a:srgbClr val="18202A"/>
                </a:solidFill>
                <a:latin typeface="Arial"/>
                <a:ea typeface="Arial"/>
                <a:cs typeface="Arial"/>
              </a:defRPr>
            </a:lvl4pPr>
            <a:lvl5pPr>
              <a:defRPr sz="3300" b="1">
                <a:solidFill>
                  <a:srgbClr val="18202A"/>
                </a:solidFill>
                <a:latin typeface="Arial"/>
                <a:ea typeface="Arial"/>
                <a:cs typeface="Arial"/>
              </a:defRPr>
            </a:lvl5pPr>
            <a:lvl6pPr>
              <a:defRPr sz="3300" b="1">
                <a:solidFill>
                  <a:srgbClr val="18202A"/>
                </a:solidFill>
                <a:latin typeface="Arial"/>
                <a:ea typeface="Arial"/>
                <a:cs typeface="Arial"/>
              </a:defRPr>
            </a:lvl6pPr>
            <a:lvl7pPr>
              <a:defRPr sz="3300" b="1">
                <a:solidFill>
                  <a:srgbClr val="18202A"/>
                </a:solidFill>
                <a:latin typeface="Arial"/>
                <a:ea typeface="Arial"/>
                <a:cs typeface="Arial"/>
              </a:defRPr>
            </a:lvl7pPr>
            <a:lvl8pPr>
              <a:defRPr sz="3300" b="1">
                <a:solidFill>
                  <a:srgbClr val="18202A"/>
                </a:solidFill>
                <a:latin typeface="Arial"/>
                <a:ea typeface="Arial"/>
                <a:cs typeface="Arial"/>
              </a:defRPr>
            </a:lvl8pPr>
            <a:lvl9pPr>
              <a:defRPr sz="3300" b="1">
                <a:solidFill>
                  <a:srgbClr val="18202A"/>
                </a:solidFill>
                <a:latin typeface="Arial"/>
                <a:ea typeface="Arial"/>
                <a:cs typeface="Arial"/>
              </a:defRPr>
            </a:lvl9pPr>
          </a:lstStyle>
          <a:p xmlns:a="http://schemas.openxmlformats.org/drawingml/2006/main">
            <a:pPr>
              <a:defRPr sz="3300" b="1">
                <a:solidFill>
                  <a:srgbClr val="18202A"/>
                </a:solidFill>
                <a:latin typeface="Arial"/>
                <a:ea typeface="Arial"/>
                <a:cs typeface="Arial"/>
              </a:defRPr>
            </a:pPr>
            <a:r>
              <a:rPr sz="3300" b="1">
                <a:solidFill>
                  <a:srgbClr val="18202A"/>
                </a:solidFill>
                <a:latin typeface="Arial"/>
                <a:ea typeface="Arial"/>
                <a:cs typeface="Arial"/>
              </a:rPr>
              <a:t>Rust and Python Benchmark</a:t>
            </a:r>
          </a:p>
        </p:txBody>
      </p:sp>
      <p:graphicFrame>
        <p:nvGraphicFramePr>
          <p:cNvPr id="2" name="Chart">
            <a:extLst xmlns:a="http://schemas.openxmlformats.org/drawingml/2006/main">
              <a:ext uri="{FF2B5EF4-FFF2-40B4-BE49-F238E27FC236}">
                <a16:creationId xmlns:a16="http://schemas.microsoft.com/office/drawing/2014/main" id="{A27A5A96-F53E-4022-A68E-3908C3826F34}"/>
              </a:ext>
            </a:extLst>
          </p:cNvPr>
          <p:cNvGraphicFramePr/>
          <p:nvPr/>
        </p:nvGraphicFramePr>
        <p:xfrm>
          <a:off xmlns:a="http://schemas.openxmlformats.org/drawingml/2006/main" x="666750" y="1714500"/>
          <a:ext xmlns:a="http://schemas.openxmlformats.org/drawingml/2006/main" cx="6191250" cy="4000500"/>
        </p:xfrm>
        <a:graphic xmlns:a="http://schemas.openxmlformats.org/drawingml/2006/main">
          <a:graphicData uri="http://schemas.openxmlformats.org/drawingml/2006/chart">
            <c:chart xmlns:r="http://schemas.openxmlformats.org/officeDocument/2006/relationships" xmlns:c="http://schemas.openxmlformats.org/drawingml/2006/chart" r:id="Rdbd21034dcd94b3f"/>
          </a:graphicData>
        </a:graphic>
      </p:graphicFrame>
      <p:sp>
        <p:nvSpPr>
          <p:cNvPr id="3" name="">
            <a:extLst xmlns:a="http://schemas.openxmlformats.org/drawingml/2006/main">
              <a:ext uri="{FF2B5EF4-FFF2-40B4-BE49-F238E27FC236}">
                <a16:creationId xmlns:a16="http://schemas.microsoft.com/office/drawing/2014/main" id="{DF7E2CF5-24B8-4AA2-B695-B268F278C185}"/>
              </a:ext>
            </a:extLst>
          </p:cNvPr>
          <p:cNvSpPr>
            <a:spLocks xmlns:a="http://schemas.openxmlformats.org/drawingml/2006/main" noGrp="1"/>
          </p:cNvSpPr>
          <p:nvPr/>
        </p:nvSpPr>
        <p:spPr>
          <a:xfrm xmlns:a="http://schemas.openxmlformats.org/drawingml/2006/main">
            <a:off x="7572375" y="1952625"/>
            <a:ext cx="4000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18202A"/>
                </a:solidFill>
                <a:latin typeface="Arial"/>
                <a:ea typeface="Arial"/>
                <a:cs typeface="Arial"/>
              </a:defRPr>
            </a:defPPr>
            <a:lvl1pPr>
              <a:defRPr sz="2100" b="1">
                <a:solidFill>
                  <a:srgbClr val="18202A"/>
                </a:solidFill>
                <a:latin typeface="Arial"/>
                <a:ea typeface="Arial"/>
                <a:cs typeface="Arial"/>
              </a:defRPr>
            </a:lvl1pPr>
            <a:lvl2pPr>
              <a:defRPr sz="2100" b="1">
                <a:solidFill>
                  <a:srgbClr val="18202A"/>
                </a:solidFill>
                <a:latin typeface="Arial"/>
                <a:ea typeface="Arial"/>
                <a:cs typeface="Arial"/>
              </a:defRPr>
            </a:lvl2pPr>
            <a:lvl3pPr>
              <a:defRPr sz="2100" b="1">
                <a:solidFill>
                  <a:srgbClr val="18202A"/>
                </a:solidFill>
                <a:latin typeface="Arial"/>
                <a:ea typeface="Arial"/>
                <a:cs typeface="Arial"/>
              </a:defRPr>
            </a:lvl3pPr>
            <a:lvl4pPr>
              <a:defRPr sz="2100" b="1">
                <a:solidFill>
                  <a:srgbClr val="18202A"/>
                </a:solidFill>
                <a:latin typeface="Arial"/>
                <a:ea typeface="Arial"/>
                <a:cs typeface="Arial"/>
              </a:defRPr>
            </a:lvl4pPr>
            <a:lvl5pPr>
              <a:defRPr sz="2100" b="1">
                <a:solidFill>
                  <a:srgbClr val="18202A"/>
                </a:solidFill>
                <a:latin typeface="Arial"/>
                <a:ea typeface="Arial"/>
                <a:cs typeface="Arial"/>
              </a:defRPr>
            </a:lvl5pPr>
            <a:lvl6pPr>
              <a:defRPr sz="2100" b="1">
                <a:solidFill>
                  <a:srgbClr val="18202A"/>
                </a:solidFill>
                <a:latin typeface="Arial"/>
                <a:ea typeface="Arial"/>
                <a:cs typeface="Arial"/>
              </a:defRPr>
            </a:lvl6pPr>
            <a:lvl7pPr>
              <a:defRPr sz="2100" b="1">
                <a:solidFill>
                  <a:srgbClr val="18202A"/>
                </a:solidFill>
                <a:latin typeface="Arial"/>
                <a:ea typeface="Arial"/>
                <a:cs typeface="Arial"/>
              </a:defRPr>
            </a:lvl7pPr>
            <a:lvl8pPr>
              <a:defRPr sz="2100" b="1">
                <a:solidFill>
                  <a:srgbClr val="18202A"/>
                </a:solidFill>
                <a:latin typeface="Arial"/>
                <a:ea typeface="Arial"/>
                <a:cs typeface="Arial"/>
              </a:defRPr>
            </a:lvl8pPr>
            <a:lvl9pPr>
              <a:defRPr sz="2100" b="1">
                <a:solidFill>
                  <a:srgbClr val="18202A"/>
                </a:solidFill>
                <a:latin typeface="Arial"/>
                <a:ea typeface="Arial"/>
                <a:cs typeface="Arial"/>
              </a:defRPr>
            </a:lvl9pPr>
          </a:lstStyle>
          <a:p xmlns:a="http://schemas.openxmlformats.org/drawingml/2006/main">
            <a:pPr>
              <a:defRPr sz="2100" b="1">
                <a:solidFill>
                  <a:srgbClr val="18202A"/>
                </a:solidFill>
                <a:latin typeface="Arial"/>
                <a:ea typeface="Arial"/>
                <a:cs typeface="Arial"/>
              </a:defRPr>
            </a:pPr>
            <a:r>
              <a:rPr sz="2100" b="1">
                <a:solidFill>
                  <a:srgbClr val="18202A"/>
                </a:solidFill>
                <a:latin typeface="Arial"/>
                <a:ea typeface="Arial"/>
                <a:cs typeface="Arial"/>
              </a:rPr>
              <a:t>Same f64 data</a:t>
            </a:r>
          </a:p>
          <a:p xmlns:a="http://schemas.openxmlformats.org/drawingml/2006/main">
            <a:pPr>
              <a:defRPr sz="2100" b="1">
                <a:solidFill>
                  <a:srgbClr val="18202A"/>
                </a:solidFill>
                <a:latin typeface="Arial"/>
                <a:ea typeface="Arial"/>
                <a:cs typeface="Arial"/>
              </a:defRPr>
            </a:pPr>
            <a:r>
              <a:rPr sz="2100" b="1">
                <a:solidFill>
                  <a:srgbClr val="18202A"/>
                </a:solidFill>
                <a:latin typeface="Arial"/>
                <a:ea typeface="Arial"/>
                <a:cs typeface="Arial"/>
              </a:rPr>
              <a:t>Same initial weights</a:t>
            </a:r>
          </a:p>
          <a:p xmlns:a="http://schemas.openxmlformats.org/drawingml/2006/main">
            <a:pPr>
              <a:defRPr sz="2100" b="1">
                <a:solidFill>
                  <a:srgbClr val="18202A"/>
                </a:solidFill>
                <a:latin typeface="Arial"/>
                <a:ea typeface="Arial"/>
                <a:cs typeface="Arial"/>
              </a:defRPr>
            </a:pPr>
            <a:r>
              <a:rPr sz="2100" b="1">
                <a:solidFill>
                  <a:srgbClr val="18202A"/>
                </a:solidFill>
                <a:latin typeface="Arial"/>
                <a:ea typeface="Arial"/>
                <a:cs typeface="Arial"/>
              </a:rPr>
              <a:t>Same batch permutations</a:t>
            </a:r>
          </a:p>
          <a:p xmlns:a="http://schemas.openxmlformats.org/drawingml/2006/main">
            <a:pPr>
              <a:defRPr sz="2100" b="1">
                <a:solidFill>
                  <a:srgbClr val="18202A"/>
                </a:solidFill>
                <a:latin typeface="Arial"/>
                <a:ea typeface="Arial"/>
                <a:cs typeface="Arial"/>
              </a:defRPr>
            </a:pPr>
            <a:r>
              <a:rPr sz="2100" b="1">
                <a:solidFill>
                  <a:srgbClr val="18202A"/>
                </a:solidFill>
                <a:latin typeface="Arial"/>
                <a:ea typeface="Arial"/>
                <a:cs typeface="Arial"/>
              </a:rPr>
              <a:t>50 epochs per run</a:t>
            </a:r>
          </a:p>
        </p:txBody>
      </p:sp>
      <p:sp>
        <p:nvSpPr>
          <p:cNvPr id="4" name="">
            <a:extLst xmlns:a="http://schemas.openxmlformats.org/drawingml/2006/main">
              <a:ext uri="{FF2B5EF4-FFF2-40B4-BE49-F238E27FC236}">
                <a16:creationId xmlns:a16="http://schemas.microsoft.com/office/drawing/2014/main" id="{6E97FC31-7479-4437-80EB-CE18F4696203}"/>
              </a:ext>
            </a:extLst>
          </p:cNvPr>
          <p:cNvSpPr>
            <a:spLocks xmlns:a="http://schemas.openxmlformats.org/drawingml/2006/main" noGrp="1"/>
          </p:cNvSpPr>
          <p:nvPr/>
        </p:nvSpPr>
        <p:spPr>
          <a:xfrm xmlns:a="http://schemas.openxmlformats.org/drawingml/2006/main">
            <a:off x="7572375" y="4191000"/>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8202A"/>
                </a:solidFill>
                <a:latin typeface="Arial"/>
                <a:ea typeface="Arial"/>
                <a:cs typeface="Arial"/>
              </a:defRPr>
            </a:defPPr>
            <a:lvl1pPr>
              <a:defRPr sz="1875" b="0">
                <a:solidFill>
                  <a:srgbClr val="18202A"/>
                </a:solidFill>
                <a:latin typeface="Arial"/>
                <a:ea typeface="Arial"/>
                <a:cs typeface="Arial"/>
              </a:defRPr>
            </a:lvl1pPr>
            <a:lvl2pPr>
              <a:defRPr sz="1875" b="0">
                <a:solidFill>
                  <a:srgbClr val="18202A"/>
                </a:solidFill>
                <a:latin typeface="Arial"/>
                <a:ea typeface="Arial"/>
                <a:cs typeface="Arial"/>
              </a:defRPr>
            </a:lvl2pPr>
            <a:lvl3pPr>
              <a:defRPr sz="1875" b="0">
                <a:solidFill>
                  <a:srgbClr val="18202A"/>
                </a:solidFill>
                <a:latin typeface="Arial"/>
                <a:ea typeface="Arial"/>
                <a:cs typeface="Arial"/>
              </a:defRPr>
            </a:lvl3pPr>
            <a:lvl4pPr>
              <a:defRPr sz="1875" b="0">
                <a:solidFill>
                  <a:srgbClr val="18202A"/>
                </a:solidFill>
                <a:latin typeface="Arial"/>
                <a:ea typeface="Arial"/>
                <a:cs typeface="Arial"/>
              </a:defRPr>
            </a:lvl4pPr>
            <a:lvl5pPr>
              <a:defRPr sz="1875" b="0">
                <a:solidFill>
                  <a:srgbClr val="18202A"/>
                </a:solidFill>
                <a:latin typeface="Arial"/>
                <a:ea typeface="Arial"/>
                <a:cs typeface="Arial"/>
              </a:defRPr>
            </a:lvl5pPr>
            <a:lvl6pPr>
              <a:defRPr sz="1875" b="0">
                <a:solidFill>
                  <a:srgbClr val="18202A"/>
                </a:solidFill>
                <a:latin typeface="Arial"/>
                <a:ea typeface="Arial"/>
                <a:cs typeface="Arial"/>
              </a:defRPr>
            </a:lvl6pPr>
            <a:lvl7pPr>
              <a:defRPr sz="1875" b="0">
                <a:solidFill>
                  <a:srgbClr val="18202A"/>
                </a:solidFill>
                <a:latin typeface="Arial"/>
                <a:ea typeface="Arial"/>
                <a:cs typeface="Arial"/>
              </a:defRPr>
            </a:lvl7pPr>
            <a:lvl8pPr>
              <a:defRPr sz="1875" b="0">
                <a:solidFill>
                  <a:srgbClr val="18202A"/>
                </a:solidFill>
                <a:latin typeface="Arial"/>
                <a:ea typeface="Arial"/>
                <a:cs typeface="Arial"/>
              </a:defRPr>
            </a:lvl8pPr>
            <a:lvl9pPr>
              <a:defRPr sz="1875" b="0">
                <a:solidFill>
                  <a:srgbClr val="18202A"/>
                </a:solidFill>
                <a:latin typeface="Arial"/>
                <a:ea typeface="Arial"/>
                <a:cs typeface="Arial"/>
              </a:defRPr>
            </a:lvl9pPr>
          </a:lstStyle>
          <a:p xmlns:a="http://schemas.openxmlformats.org/drawingml/2006/main">
            <a:pPr>
              <a:defRPr sz="1875" b="0">
                <a:solidFill>
                  <a:srgbClr val="18202A"/>
                </a:solidFill>
                <a:latin typeface="Arial"/>
                <a:ea typeface="Arial"/>
                <a:cs typeface="Arial"/>
              </a:defRPr>
            </a:pPr>
            <a:r>
              <a:rPr sz="1875" b="0">
                <a:solidFill>
                  <a:srgbClr val="18202A"/>
                </a:solidFill>
                <a:latin typeface="Arial"/>
                <a:ea typeface="Arial"/>
                <a:cs typeface="Arial"/>
              </a:rPr>
              <a:t>1 warmup + 5 timed runs</a:t>
            </a:r>
          </a:p>
          <a:p xmlns:a="http://schemas.openxmlformats.org/drawingml/2006/main">
            <a:pPr>
              <a:defRPr sz="1875" b="0">
                <a:solidFill>
                  <a:srgbClr val="18202A"/>
                </a:solidFill>
                <a:latin typeface="Arial"/>
                <a:ea typeface="Arial"/>
                <a:cs typeface="Arial"/>
              </a:defRPr>
            </a:pPr>
            <a:r>
              <a:rPr sz="1875" b="0">
                <a:solidFill>
                  <a:srgbClr val="18202A"/>
                </a:solidFill>
                <a:latin typeface="Arial"/>
                <a:ea typeface="Arial"/>
                <a:cs typeface="Arial"/>
              </a:rPr>
              <a:t>Single-thread configuration</a:t>
            </a:r>
          </a:p>
          <a:p xmlns:a="http://schemas.openxmlformats.org/drawingml/2006/main">
            <a:pPr>
              <a:defRPr sz="1875" b="0">
                <a:solidFill>
                  <a:srgbClr val="18202A"/>
                </a:solidFill>
                <a:latin typeface="Arial"/>
                <a:ea typeface="Arial"/>
                <a:cs typeface="Arial"/>
              </a:defRPr>
            </a:pPr>
            <a:r>
              <a:rPr sz="1875" b="0">
                <a:solidFill>
                  <a:srgbClr val="18202A"/>
                </a:solidFill>
                <a:latin typeface="Arial"/>
                <a:ea typeface="Arial"/>
                <a:cs typeface="Arial"/>
              </a:rPr>
              <a:t>No startup, I/O or validation</a:t>
            </a:r>
          </a:p>
        </p:txBody>
      </p:sp>
      <p:sp>
        <p:nvSpPr>
          <p:cNvPr id="5" name="">
            <a:extLst xmlns:a="http://schemas.openxmlformats.org/drawingml/2006/main">
              <a:ext uri="{FF2B5EF4-FFF2-40B4-BE49-F238E27FC236}">
                <a16:creationId xmlns:a16="http://schemas.microsoft.com/office/drawing/2014/main" id="{07AF5EC9-7826-4655-B6C9-B2987AA95ED8}"/>
              </a:ext>
            </a:extLst>
          </p:cNvPr>
          <p:cNvSpPr>
            <a:spLocks xmlns:a="http://schemas.openxmlformats.org/drawingml/2006/main" noGrp="1"/>
          </p:cNvSpPr>
          <p:nvPr/>
        </p:nvSpPr>
        <p:spPr>
          <a:xfrm xmlns:a="http://schemas.openxmlformats.org/drawingml/2006/main">
            <a:off x="666750" y="60483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35E6C"/>
                </a:solidFill>
                <a:latin typeface="Arial"/>
                <a:ea typeface="Arial"/>
                <a:cs typeface="Arial"/>
              </a:defRPr>
            </a:defPPr>
            <a:lvl1pPr>
              <a:defRPr sz="1800" b="0">
                <a:solidFill>
                  <a:srgbClr val="535E6C"/>
                </a:solidFill>
                <a:latin typeface="Arial"/>
                <a:ea typeface="Arial"/>
                <a:cs typeface="Arial"/>
              </a:defRPr>
            </a:lvl1pPr>
            <a:lvl2pPr>
              <a:defRPr sz="1800" b="0">
                <a:solidFill>
                  <a:srgbClr val="535E6C"/>
                </a:solidFill>
                <a:latin typeface="Arial"/>
                <a:ea typeface="Arial"/>
                <a:cs typeface="Arial"/>
              </a:defRPr>
            </a:lvl2pPr>
            <a:lvl3pPr>
              <a:defRPr sz="1800" b="0">
                <a:solidFill>
                  <a:srgbClr val="535E6C"/>
                </a:solidFill>
                <a:latin typeface="Arial"/>
                <a:ea typeface="Arial"/>
                <a:cs typeface="Arial"/>
              </a:defRPr>
            </a:lvl3pPr>
            <a:lvl4pPr>
              <a:defRPr sz="1800" b="0">
                <a:solidFill>
                  <a:srgbClr val="535E6C"/>
                </a:solidFill>
                <a:latin typeface="Arial"/>
                <a:ea typeface="Arial"/>
                <a:cs typeface="Arial"/>
              </a:defRPr>
            </a:lvl4pPr>
            <a:lvl5pPr>
              <a:defRPr sz="1800" b="0">
                <a:solidFill>
                  <a:srgbClr val="535E6C"/>
                </a:solidFill>
                <a:latin typeface="Arial"/>
                <a:ea typeface="Arial"/>
                <a:cs typeface="Arial"/>
              </a:defRPr>
            </a:lvl5pPr>
            <a:lvl6pPr>
              <a:defRPr sz="1800" b="0">
                <a:solidFill>
                  <a:srgbClr val="535E6C"/>
                </a:solidFill>
                <a:latin typeface="Arial"/>
                <a:ea typeface="Arial"/>
                <a:cs typeface="Arial"/>
              </a:defRPr>
            </a:lvl6pPr>
            <a:lvl7pPr>
              <a:defRPr sz="1800" b="0">
                <a:solidFill>
                  <a:srgbClr val="535E6C"/>
                </a:solidFill>
                <a:latin typeface="Arial"/>
                <a:ea typeface="Arial"/>
                <a:cs typeface="Arial"/>
              </a:defRPr>
            </a:lvl7pPr>
            <a:lvl8pPr>
              <a:defRPr sz="1800" b="0">
                <a:solidFill>
                  <a:srgbClr val="535E6C"/>
                </a:solidFill>
                <a:latin typeface="Arial"/>
                <a:ea typeface="Arial"/>
                <a:cs typeface="Arial"/>
              </a:defRPr>
            </a:lvl8pPr>
            <a:lvl9pPr>
              <a:defRPr sz="1800" b="0">
                <a:solidFill>
                  <a:srgbClr val="535E6C"/>
                </a:solidFill>
                <a:latin typeface="Arial"/>
                <a:ea typeface="Arial"/>
                <a:cs typeface="Arial"/>
              </a:defRPr>
            </a:lvl9pPr>
          </a:lstStyle>
          <a:p xmlns:a="http://schemas.openxmlformats.org/drawingml/2006/main">
            <a:pPr>
              <a:defRPr sz="1800" b="0">
                <a:solidFill>
                  <a:srgbClr val="535E6C"/>
                </a:solidFill>
                <a:latin typeface="Arial"/>
                <a:ea typeface="Arial"/>
                <a:cs typeface="Arial"/>
              </a:defRPr>
            </a:pPr>
            <a:r>
              <a:rPr sz="1800" b="0">
                <a:solidFill>
                  <a:srgbClr val="535E6C"/>
                </a:solidFill>
                <a:latin typeface="Arial"/>
                <a:ea typeface="Arial"/>
                <a:cs typeface="Arial"/>
              </a:rPr>
              <a:t>Backend-specific result on this machine. Numerical parity passes near roundoff.</a:t>
            </a:r>
          </a:p>
        </p:txBody>
      </p:sp>
    </p:spTree>
    <p:extLst>
      <p:ext uri="{BB962C8B-B14F-4D97-AF65-F5344CB8AC3E}">
        <p14:creationId xmlns:p14="http://schemas.microsoft.com/office/powerpoint/2010/main" val="5055629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658636-4A92-4E7F-AD1C-182A76015B4B}"/>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02A"/>
                </a:solidFill>
                <a:latin typeface="Arial"/>
                <a:ea typeface="Arial"/>
                <a:cs typeface="Arial"/>
              </a:defRPr>
            </a:defPPr>
            <a:lvl1pPr>
              <a:defRPr sz="3300" b="1">
                <a:solidFill>
                  <a:srgbClr val="18202A"/>
                </a:solidFill>
                <a:latin typeface="Arial"/>
                <a:ea typeface="Arial"/>
                <a:cs typeface="Arial"/>
              </a:defRPr>
            </a:lvl1pPr>
            <a:lvl2pPr>
              <a:defRPr sz="3300" b="1">
                <a:solidFill>
                  <a:srgbClr val="18202A"/>
                </a:solidFill>
                <a:latin typeface="Arial"/>
                <a:ea typeface="Arial"/>
                <a:cs typeface="Arial"/>
              </a:defRPr>
            </a:lvl2pPr>
            <a:lvl3pPr>
              <a:defRPr sz="3300" b="1">
                <a:solidFill>
                  <a:srgbClr val="18202A"/>
                </a:solidFill>
                <a:latin typeface="Arial"/>
                <a:ea typeface="Arial"/>
                <a:cs typeface="Arial"/>
              </a:defRPr>
            </a:lvl3pPr>
            <a:lvl4pPr>
              <a:defRPr sz="3300" b="1">
                <a:solidFill>
                  <a:srgbClr val="18202A"/>
                </a:solidFill>
                <a:latin typeface="Arial"/>
                <a:ea typeface="Arial"/>
                <a:cs typeface="Arial"/>
              </a:defRPr>
            </a:lvl4pPr>
            <a:lvl5pPr>
              <a:defRPr sz="3300" b="1">
                <a:solidFill>
                  <a:srgbClr val="18202A"/>
                </a:solidFill>
                <a:latin typeface="Arial"/>
                <a:ea typeface="Arial"/>
                <a:cs typeface="Arial"/>
              </a:defRPr>
            </a:lvl5pPr>
            <a:lvl6pPr>
              <a:defRPr sz="3300" b="1">
                <a:solidFill>
                  <a:srgbClr val="18202A"/>
                </a:solidFill>
                <a:latin typeface="Arial"/>
                <a:ea typeface="Arial"/>
                <a:cs typeface="Arial"/>
              </a:defRPr>
            </a:lvl6pPr>
            <a:lvl7pPr>
              <a:defRPr sz="3300" b="1">
                <a:solidFill>
                  <a:srgbClr val="18202A"/>
                </a:solidFill>
                <a:latin typeface="Arial"/>
                <a:ea typeface="Arial"/>
                <a:cs typeface="Arial"/>
              </a:defRPr>
            </a:lvl7pPr>
            <a:lvl8pPr>
              <a:defRPr sz="3300" b="1">
                <a:solidFill>
                  <a:srgbClr val="18202A"/>
                </a:solidFill>
                <a:latin typeface="Arial"/>
                <a:ea typeface="Arial"/>
                <a:cs typeface="Arial"/>
              </a:defRPr>
            </a:lvl8pPr>
            <a:lvl9pPr>
              <a:defRPr sz="3300" b="1">
                <a:solidFill>
                  <a:srgbClr val="18202A"/>
                </a:solidFill>
                <a:latin typeface="Arial"/>
                <a:ea typeface="Arial"/>
                <a:cs typeface="Arial"/>
              </a:defRPr>
            </a:lvl9pPr>
          </a:lstStyle>
          <a:p xmlns:a="http://schemas.openxmlformats.org/drawingml/2006/main">
            <a:pPr>
              <a:defRPr sz="3300" b="1">
                <a:solidFill>
                  <a:srgbClr val="18202A"/>
                </a:solidFill>
                <a:latin typeface="Arial"/>
                <a:ea typeface="Arial"/>
                <a:cs typeface="Arial"/>
              </a:defRPr>
            </a:pPr>
            <a:r>
              <a:rPr sz="3300" b="1">
                <a:solidFill>
                  <a:srgbClr val="18202A"/>
                </a:solidFill>
                <a:latin typeface="Arial"/>
                <a:ea typeface="Arial"/>
                <a:cs typeface="Arial"/>
              </a:rPr>
              <a:t>Live Demonstration</a:t>
            </a:r>
          </a:p>
        </p:txBody>
      </p:sp>
      <p:pic>
        <p:nvPicPr>
          <p:cNvPr id="2" name="">
            <a:extLst xmlns:a="http://schemas.openxmlformats.org/drawingml/2006/main">
              <a:ext uri="{FF2B5EF4-FFF2-40B4-BE49-F238E27FC236}">
                <a16:creationId xmlns:a16="http://schemas.microsoft.com/office/drawing/2014/main" id="{AB92BDBD-C94D-4634-B8DE-F813D72878A6}"/>
              </a:ext>
            </a:extLst>
          </p:cNvPr>
          <p:cNvPicPr>
            <a:picLocks xmlns:a="http://schemas.openxmlformats.org/drawingml/2006/main" noChangeAspect="1"/>
          </p:cNvPicPr>
          <p:nvPr/>
        </p:nvPicPr>
        <p:blipFill>
          <a:blip xmlns:r="http://schemas.openxmlformats.org/officeDocument/2006/relationships" xmlns:a="http://schemas.openxmlformats.org/drawingml/2006/main" r:embed="Re503b73028054876"/>
          <a:stretch xmlns:a="http://schemas.openxmlformats.org/drawingml/2006/main"/>
        </p:blipFill>
        <p:spPr>
          <a:xfrm xmlns:a="http://schemas.openxmlformats.org/drawingml/2006/main">
            <a:off x="571500" y="1352550"/>
            <a:ext cx="7239000" cy="45243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D6B936-9A61-42A8-9AA9-7F84BF1E6ED5}"/>
              </a:ext>
            </a:extLst>
          </p:cNvPr>
          <p:cNvSpPr>
            <a:spLocks xmlns:a="http://schemas.openxmlformats.org/drawingml/2006/main" noGrp="1"/>
          </p:cNvSpPr>
          <p:nvPr/>
        </p:nvSpPr>
        <p:spPr>
          <a:xfrm xmlns:a="http://schemas.openxmlformats.org/drawingml/2006/main">
            <a:off x="8239125" y="1666875"/>
            <a:ext cx="3333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18202A"/>
                </a:solidFill>
                <a:latin typeface="Arial"/>
                <a:ea typeface="Arial"/>
                <a:cs typeface="Arial"/>
              </a:defRPr>
            </a:defPPr>
            <a:lvl1pPr>
              <a:defRPr sz="2100" b="1">
                <a:solidFill>
                  <a:srgbClr val="18202A"/>
                </a:solidFill>
                <a:latin typeface="Arial"/>
                <a:ea typeface="Arial"/>
                <a:cs typeface="Arial"/>
              </a:defRPr>
            </a:lvl1pPr>
            <a:lvl2pPr>
              <a:defRPr sz="2100" b="1">
                <a:solidFill>
                  <a:srgbClr val="18202A"/>
                </a:solidFill>
                <a:latin typeface="Arial"/>
                <a:ea typeface="Arial"/>
                <a:cs typeface="Arial"/>
              </a:defRPr>
            </a:lvl2pPr>
            <a:lvl3pPr>
              <a:defRPr sz="2100" b="1">
                <a:solidFill>
                  <a:srgbClr val="18202A"/>
                </a:solidFill>
                <a:latin typeface="Arial"/>
                <a:ea typeface="Arial"/>
                <a:cs typeface="Arial"/>
              </a:defRPr>
            </a:lvl3pPr>
            <a:lvl4pPr>
              <a:defRPr sz="2100" b="1">
                <a:solidFill>
                  <a:srgbClr val="18202A"/>
                </a:solidFill>
                <a:latin typeface="Arial"/>
                <a:ea typeface="Arial"/>
                <a:cs typeface="Arial"/>
              </a:defRPr>
            </a:lvl4pPr>
            <a:lvl5pPr>
              <a:defRPr sz="2100" b="1">
                <a:solidFill>
                  <a:srgbClr val="18202A"/>
                </a:solidFill>
                <a:latin typeface="Arial"/>
                <a:ea typeface="Arial"/>
                <a:cs typeface="Arial"/>
              </a:defRPr>
            </a:lvl5pPr>
            <a:lvl6pPr>
              <a:defRPr sz="2100" b="1">
                <a:solidFill>
                  <a:srgbClr val="18202A"/>
                </a:solidFill>
                <a:latin typeface="Arial"/>
                <a:ea typeface="Arial"/>
                <a:cs typeface="Arial"/>
              </a:defRPr>
            </a:lvl6pPr>
            <a:lvl7pPr>
              <a:defRPr sz="2100" b="1">
                <a:solidFill>
                  <a:srgbClr val="18202A"/>
                </a:solidFill>
                <a:latin typeface="Arial"/>
                <a:ea typeface="Arial"/>
                <a:cs typeface="Arial"/>
              </a:defRPr>
            </a:lvl7pPr>
            <a:lvl8pPr>
              <a:defRPr sz="2100" b="1">
                <a:solidFill>
                  <a:srgbClr val="18202A"/>
                </a:solidFill>
                <a:latin typeface="Arial"/>
                <a:ea typeface="Arial"/>
                <a:cs typeface="Arial"/>
              </a:defRPr>
            </a:lvl8pPr>
            <a:lvl9pPr>
              <a:defRPr sz="2100" b="1">
                <a:solidFill>
                  <a:srgbClr val="18202A"/>
                </a:solidFill>
                <a:latin typeface="Arial"/>
                <a:ea typeface="Arial"/>
                <a:cs typeface="Arial"/>
              </a:defRPr>
            </a:lvl9pPr>
          </a:lstStyle>
          <a:p xmlns:a="http://schemas.openxmlformats.org/drawingml/2006/main">
            <a:pPr>
              <a:defRPr sz="2100" b="1">
                <a:solidFill>
                  <a:srgbClr val="18202A"/>
                </a:solidFill>
                <a:latin typeface="Arial"/>
                <a:ea typeface="Arial"/>
                <a:cs typeface="Arial"/>
              </a:defRPr>
            </a:pPr>
            <a:r>
              <a:rPr sz="2100" b="1">
                <a:solidFill>
                  <a:srgbClr val="18202A"/>
                </a:solidFill>
                <a:latin typeface="Arial"/>
                <a:ea typeface="Arial"/>
                <a:cs typeface="Arial"/>
              </a:rPr>
              <a:t>Held-out initial state</a:t>
            </a:r>
          </a:p>
          <a:p xmlns:a="http://schemas.openxmlformats.org/drawingml/2006/main">
            <a:r>
              <a:t/>
            </a:r>
          </a:p>
          <a:p xmlns:a="http://schemas.openxmlformats.org/drawingml/2006/main">
            <a:pPr>
              <a:defRPr sz="2100" b="1">
                <a:solidFill>
                  <a:srgbClr val="18202A"/>
                </a:solidFill>
                <a:latin typeface="Arial"/>
                <a:ea typeface="Arial"/>
                <a:cs typeface="Arial"/>
              </a:defRPr>
            </a:pPr>
            <a:r>
              <a:rPr sz="2100" b="1">
                <a:solidFill>
                  <a:srgbClr val="18202A"/>
                </a:solidFill>
                <a:latin typeface="Arial"/>
                <a:ea typeface="Arial"/>
                <a:cs typeface="Arial"/>
              </a:rPr>
              <a:t>Pause and single-step</a:t>
            </a:r>
          </a:p>
          <a:p xmlns:a="http://schemas.openxmlformats.org/drawingml/2006/main">
            <a:r>
              <a:t/>
            </a:r>
          </a:p>
          <a:p xmlns:a="http://schemas.openxmlformats.org/drawingml/2006/main">
            <a:pPr>
              <a:defRPr sz="2100" b="1">
                <a:solidFill>
                  <a:srgbClr val="18202A"/>
                </a:solidFill>
                <a:latin typeface="Arial"/>
                <a:ea typeface="Arial"/>
                <a:cs typeface="Arial"/>
              </a:defRPr>
            </a:pPr>
            <a:r>
              <a:rPr sz="2100" b="1">
                <a:solidFill>
                  <a:srgbClr val="18202A"/>
                </a:solidFill>
                <a:latin typeface="Arial"/>
                <a:ea typeface="Arial"/>
                <a:cs typeface="Arial"/>
              </a:rPr>
              <a:t>Small-network comparison</a:t>
            </a:r>
          </a:p>
          <a:p xmlns:a="http://schemas.openxmlformats.org/drawingml/2006/main">
            <a:r>
              <a:t/>
            </a:r>
          </a:p>
          <a:p xmlns:a="http://schemas.openxmlformats.org/drawingml/2006/main">
            <a:pPr>
              <a:defRPr sz="2100" b="1">
                <a:solidFill>
                  <a:srgbClr val="18202A"/>
                </a:solidFill>
                <a:latin typeface="Arial"/>
                <a:ea typeface="Arial"/>
                <a:cs typeface="Arial"/>
              </a:defRPr>
            </a:pPr>
            <a:r>
              <a:rPr sz="2100" b="1">
                <a:solidFill>
                  <a:srgbClr val="18202A"/>
                </a:solidFill>
                <a:latin typeface="Arial"/>
                <a:ea typeface="Arial"/>
                <a:cs typeface="Arial"/>
              </a:rPr>
              <a:t>Unfamiliar high angle</a:t>
            </a:r>
          </a:p>
        </p:txBody>
      </p:sp>
      <p:sp>
        <p:nvSpPr>
          <p:cNvPr id="4" name="">
            <a:extLst xmlns:a="http://schemas.openxmlformats.org/drawingml/2006/main">
              <a:ext uri="{FF2B5EF4-FFF2-40B4-BE49-F238E27FC236}">
                <a16:creationId xmlns:a16="http://schemas.microsoft.com/office/drawing/2014/main" id="{331F42E0-B024-44BC-8E98-77D527634774}"/>
              </a:ext>
            </a:extLst>
          </p:cNvPr>
          <p:cNvSpPr>
            <a:spLocks xmlns:a="http://schemas.openxmlformats.org/drawingml/2006/main" noGrp="1"/>
          </p:cNvSpPr>
          <p:nvPr/>
        </p:nvSpPr>
        <p:spPr>
          <a:xfrm xmlns:a="http://schemas.openxmlformats.org/drawingml/2006/main">
            <a:off x="666750" y="61150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8202A"/>
                </a:solidFill>
                <a:latin typeface="Arial"/>
                <a:ea typeface="Arial"/>
                <a:cs typeface="Arial"/>
              </a:defRPr>
            </a:defPPr>
            <a:lvl1pPr>
              <a:defRPr sz="1875" b="0">
                <a:solidFill>
                  <a:srgbClr val="18202A"/>
                </a:solidFill>
                <a:latin typeface="Arial"/>
                <a:ea typeface="Arial"/>
                <a:cs typeface="Arial"/>
              </a:defRPr>
            </a:lvl1pPr>
            <a:lvl2pPr>
              <a:defRPr sz="1875" b="0">
                <a:solidFill>
                  <a:srgbClr val="18202A"/>
                </a:solidFill>
                <a:latin typeface="Arial"/>
                <a:ea typeface="Arial"/>
                <a:cs typeface="Arial"/>
              </a:defRPr>
            </a:lvl2pPr>
            <a:lvl3pPr>
              <a:defRPr sz="1875" b="0">
                <a:solidFill>
                  <a:srgbClr val="18202A"/>
                </a:solidFill>
                <a:latin typeface="Arial"/>
                <a:ea typeface="Arial"/>
                <a:cs typeface="Arial"/>
              </a:defRPr>
            </a:lvl3pPr>
            <a:lvl4pPr>
              <a:defRPr sz="1875" b="0">
                <a:solidFill>
                  <a:srgbClr val="18202A"/>
                </a:solidFill>
                <a:latin typeface="Arial"/>
                <a:ea typeface="Arial"/>
                <a:cs typeface="Arial"/>
              </a:defRPr>
            </a:lvl4pPr>
            <a:lvl5pPr>
              <a:defRPr sz="1875" b="0">
                <a:solidFill>
                  <a:srgbClr val="18202A"/>
                </a:solidFill>
                <a:latin typeface="Arial"/>
                <a:ea typeface="Arial"/>
                <a:cs typeface="Arial"/>
              </a:defRPr>
            </a:lvl5pPr>
            <a:lvl6pPr>
              <a:defRPr sz="1875" b="0">
                <a:solidFill>
                  <a:srgbClr val="18202A"/>
                </a:solidFill>
                <a:latin typeface="Arial"/>
                <a:ea typeface="Arial"/>
                <a:cs typeface="Arial"/>
              </a:defRPr>
            </a:lvl6pPr>
            <a:lvl7pPr>
              <a:defRPr sz="1875" b="0">
                <a:solidFill>
                  <a:srgbClr val="18202A"/>
                </a:solidFill>
                <a:latin typeface="Arial"/>
                <a:ea typeface="Arial"/>
                <a:cs typeface="Arial"/>
              </a:defRPr>
            </a:lvl7pPr>
            <a:lvl8pPr>
              <a:defRPr sz="1875" b="0">
                <a:solidFill>
                  <a:srgbClr val="18202A"/>
                </a:solidFill>
                <a:latin typeface="Arial"/>
                <a:ea typeface="Arial"/>
                <a:cs typeface="Arial"/>
              </a:defRPr>
            </a:lvl8pPr>
            <a:lvl9pPr>
              <a:defRPr sz="1875" b="0">
                <a:solidFill>
                  <a:srgbClr val="18202A"/>
                </a:solidFill>
                <a:latin typeface="Arial"/>
                <a:ea typeface="Arial"/>
                <a:cs typeface="Arial"/>
              </a:defRPr>
            </a:lvl9pPr>
          </a:lstStyle>
          <a:p xmlns:a="http://schemas.openxmlformats.org/drawingml/2006/main">
            <a:pPr>
              <a:defRPr sz="1875" b="0">
                <a:solidFill>
                  <a:srgbClr val="18202A"/>
                </a:solidFill>
                <a:latin typeface="Arial"/>
                <a:ea typeface="Arial"/>
                <a:cs typeface="Arial"/>
              </a:defRPr>
            </a:pPr>
            <a:r>
              <a:rPr sz="1875" b="0">
                <a:solidFill>
                  <a:srgbClr val="18202A"/>
                </a:solidFill>
                <a:latin typeface="Arial"/>
                <a:ea typeface="Arial"/>
                <a:cs typeface="Arial"/>
              </a:rPr>
              <a:t>Useful local transition model. Long-horizon and range limits remain visible.</a:t>
            </a:r>
          </a:p>
        </p:txBody>
      </p:sp>
    </p:spTree>
    <p:extLst>
      <p:ext uri="{BB962C8B-B14F-4D97-AF65-F5344CB8AC3E}">
        <p14:creationId xmlns:p14="http://schemas.microsoft.com/office/powerpoint/2010/main" val="4177190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7AAD63-A54C-4C1C-8BB9-4A7EA7A8975C}"/>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02A"/>
                </a:solidFill>
                <a:latin typeface="Arial"/>
                <a:ea typeface="Arial"/>
                <a:cs typeface="Arial"/>
              </a:defRPr>
            </a:defPPr>
            <a:lvl1pPr>
              <a:defRPr sz="3300" b="1">
                <a:solidFill>
                  <a:srgbClr val="18202A"/>
                </a:solidFill>
                <a:latin typeface="Arial"/>
                <a:ea typeface="Arial"/>
                <a:cs typeface="Arial"/>
              </a:defRPr>
            </a:lvl1pPr>
            <a:lvl2pPr>
              <a:defRPr sz="3300" b="1">
                <a:solidFill>
                  <a:srgbClr val="18202A"/>
                </a:solidFill>
                <a:latin typeface="Arial"/>
                <a:ea typeface="Arial"/>
                <a:cs typeface="Arial"/>
              </a:defRPr>
            </a:lvl2pPr>
            <a:lvl3pPr>
              <a:defRPr sz="3300" b="1">
                <a:solidFill>
                  <a:srgbClr val="18202A"/>
                </a:solidFill>
                <a:latin typeface="Arial"/>
                <a:ea typeface="Arial"/>
                <a:cs typeface="Arial"/>
              </a:defRPr>
            </a:lvl3pPr>
            <a:lvl4pPr>
              <a:defRPr sz="3300" b="1">
                <a:solidFill>
                  <a:srgbClr val="18202A"/>
                </a:solidFill>
                <a:latin typeface="Arial"/>
                <a:ea typeface="Arial"/>
                <a:cs typeface="Arial"/>
              </a:defRPr>
            </a:lvl4pPr>
            <a:lvl5pPr>
              <a:defRPr sz="3300" b="1">
                <a:solidFill>
                  <a:srgbClr val="18202A"/>
                </a:solidFill>
                <a:latin typeface="Arial"/>
                <a:ea typeface="Arial"/>
                <a:cs typeface="Arial"/>
              </a:defRPr>
            </a:lvl5pPr>
            <a:lvl6pPr>
              <a:defRPr sz="3300" b="1">
                <a:solidFill>
                  <a:srgbClr val="18202A"/>
                </a:solidFill>
                <a:latin typeface="Arial"/>
                <a:ea typeface="Arial"/>
                <a:cs typeface="Arial"/>
              </a:defRPr>
            </a:lvl6pPr>
            <a:lvl7pPr>
              <a:defRPr sz="3300" b="1">
                <a:solidFill>
                  <a:srgbClr val="18202A"/>
                </a:solidFill>
                <a:latin typeface="Arial"/>
                <a:ea typeface="Arial"/>
                <a:cs typeface="Arial"/>
              </a:defRPr>
            </a:lvl7pPr>
            <a:lvl8pPr>
              <a:defRPr sz="3300" b="1">
                <a:solidFill>
                  <a:srgbClr val="18202A"/>
                </a:solidFill>
                <a:latin typeface="Arial"/>
                <a:ea typeface="Arial"/>
                <a:cs typeface="Arial"/>
              </a:defRPr>
            </a:lvl8pPr>
            <a:lvl9pPr>
              <a:defRPr sz="3300" b="1">
                <a:solidFill>
                  <a:srgbClr val="18202A"/>
                </a:solidFill>
                <a:latin typeface="Arial"/>
                <a:ea typeface="Arial"/>
                <a:cs typeface="Arial"/>
              </a:defRPr>
            </a:lvl9pPr>
          </a:lstStyle>
          <a:p xmlns:a="http://schemas.openxmlformats.org/drawingml/2006/main">
            <a:pPr>
              <a:defRPr sz="3300" b="1">
                <a:solidFill>
                  <a:srgbClr val="18202A"/>
                </a:solidFill>
                <a:latin typeface="Arial"/>
                <a:ea typeface="Arial"/>
                <a:cs typeface="Arial"/>
              </a:defRPr>
            </a:pPr>
            <a:r>
              <a:rPr sz="3300" b="1">
                <a:solidFill>
                  <a:srgbClr val="18202A"/>
                </a:solidFill>
                <a:latin typeface="Arial"/>
                <a:ea typeface="Arial"/>
                <a:cs typeface="Arial"/>
              </a:rPr>
              <a:t>Appendix A Gradient Details</a:t>
            </a:r>
          </a:p>
        </p:txBody>
      </p:sp>
      <p:graphicFrame>
        <p:nvGraphicFramePr>
          <p:cNvPr id="2" name="">
            <a:extLst xmlns:a="http://schemas.openxmlformats.org/drawingml/2006/main">
              <a:ext uri="{FF2B5EF4-FFF2-40B4-BE49-F238E27FC236}">
                <a16:creationId xmlns:a16="http://schemas.microsoft.com/office/drawing/2014/main" id="{CF8B94B2-33B2-4F23-BD52-ABE71994580C}"/>
              </a:ext>
            </a:extLst>
          </p:cNvPr>
          <p:cNvGraphicFramePr/>
          <p:nvPr/>
        </p:nvGraphicFramePr>
        <p:xfrm>
          <a:off xmlns:a="http://schemas.openxmlformats.org/drawingml/2006/main" x="647700" y="1428750"/>
          <a:ext xmlns:a="http://schemas.openxmlformats.org/drawingml/2006/main" cx="4762500" cy="3143250"/>
        </p:xfrm>
        <a:graphic xmlns:a="http://schemas.openxmlformats.org/drawingml/2006/main">
          <a:graphicData uri="http://schemas.openxmlformats.org/drawingml/2006/table">
            <a:tbl>
              <a:tblPr/>
              <a:tblGrid>
                <a:gridCol w="2381250"/>
                <a:gridCol w="2381250"/>
              </a:tblGrid>
              <a:tr h="628650">
                <a:tc>
                  <a:txBody>
                    <a:bodyPr/>
                    <a:lstStyle/>
                    <a:p>
                      <a:r>
                        <a:rPr sz="1725" b="1">
                          <a:solidFill>
                            <a:srgbClr val="18202A"/>
                          </a:solidFill>
                          <a:latin typeface="Arial"/>
                          <a:ea typeface="Arial"/>
                          <a:cs typeface="Arial"/>
                        </a:rPr>
                        <a:t>Quantity</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c>
                  <a:txBody>
                    <a:bodyPr/>
                    <a:lstStyle/>
                    <a:p>
                      <a:r>
                        <a:rPr sz="1725" b="1">
                          <a:solidFill>
                            <a:srgbClr val="18202A"/>
                          </a:solidFill>
                          <a:latin typeface="Arial"/>
                          <a:ea typeface="Arial"/>
                          <a:cs typeface="Arial"/>
                        </a:rPr>
                        <a:t>Shape</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E8EDF3"/>
                    </a:solidFill>
                  </a:tcPr>
                </a:tc>
              </a:tr>
              <a:tr h="628650">
                <a:tc>
                  <a:txBody>
                    <a:bodyPr/>
                    <a:lstStyle/>
                    <a:p>
                      <a:r>
                        <a:rPr sz="1725" b="0">
                          <a:solidFill>
                            <a:srgbClr val="18202A"/>
                          </a:solidFill>
                          <a:latin typeface="Arial"/>
                          <a:ea typeface="Arial"/>
                          <a:cs typeface="Arial"/>
                        </a:rPr>
                        <a:t>A(l-1)</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B x n(l-1)</a:t>
                      </a:r>
                    </a:p>
                  </a:txBody>
                  <a:tcPr marL="91440" marR="91440" marT="45720" marB="45720">
                    <a:lnR w="9525">
                      <a:solidFill>
                        <a:srgbClr val="D9D9D9"/>
                      </a:solidFill>
                      <a:prstDash val="solid"/>
                    </a:lnR>
                    <a:lnB w="9525">
                      <a:solidFill>
                        <a:srgbClr val="D9D9D9"/>
                      </a:solidFill>
                      <a:prstDash val="solid"/>
                    </a:lnB>
                    <a:solidFill>
                      <a:srgbClr val="FFFFFF"/>
                    </a:solidFill>
                  </a:tcPr>
                </a:tc>
              </a:tr>
              <a:tr h="628650">
                <a:tc>
                  <a:txBody>
                    <a:bodyPr/>
                    <a:lstStyle/>
                    <a:p>
                      <a:r>
                        <a:rPr sz="1725" b="0">
                          <a:solidFill>
                            <a:srgbClr val="18202A"/>
                          </a:solidFill>
                          <a:latin typeface="Arial"/>
                          <a:ea typeface="Arial"/>
                          <a:cs typeface="Arial"/>
                        </a:rPr>
                        <a:t>W(l)</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r>
                        <a:rPr sz="1725" b="0">
                          <a:solidFill>
                            <a:srgbClr val="18202A"/>
                          </a:solidFill>
                          <a:latin typeface="Arial"/>
                          <a:ea typeface="Arial"/>
                          <a:cs typeface="Arial"/>
                        </a:rPr>
                        <a:t>n(l-1) x n(l)</a:t>
                      </a:r>
                    </a:p>
                  </a:txBody>
                  <a:tcPr marL="91440" marR="91440" marT="45720" marB="45720">
                    <a:lnR w="9525">
                      <a:solidFill>
                        <a:srgbClr val="D9D9D9"/>
                      </a:solidFill>
                      <a:prstDash val="solid"/>
                    </a:lnR>
                    <a:lnB w="9525">
                      <a:solidFill>
                        <a:srgbClr val="D9D9D9"/>
                      </a:solidFill>
                      <a:prstDash val="solid"/>
                    </a:lnB>
                    <a:solidFill>
                      <a:srgbClr val="F5F7F9"/>
                    </a:solidFill>
                  </a:tcPr>
                </a:tc>
              </a:tr>
              <a:tr h="628650">
                <a:tc>
                  <a:txBody>
                    <a:bodyPr/>
                    <a:lstStyle/>
                    <a:p>
                      <a:r>
                        <a:rPr sz="1725" b="0">
                          <a:solidFill>
                            <a:srgbClr val="18202A"/>
                          </a:solidFill>
                          <a:latin typeface="Arial"/>
                          <a:ea typeface="Arial"/>
                          <a:cs typeface="Arial"/>
                        </a:rPr>
                        <a:t>delta(l)</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725" b="0">
                          <a:solidFill>
                            <a:srgbClr val="18202A"/>
                          </a:solidFill>
                          <a:latin typeface="Arial"/>
                          <a:ea typeface="Arial"/>
                          <a:cs typeface="Arial"/>
                        </a:rPr>
                        <a:t>B x n(l)</a:t>
                      </a:r>
                    </a:p>
                  </a:txBody>
                  <a:tcPr marL="91440" marR="91440" marT="45720" marB="45720">
                    <a:lnR w="9525">
                      <a:solidFill>
                        <a:srgbClr val="D9D9D9"/>
                      </a:solidFill>
                      <a:prstDash val="solid"/>
                    </a:lnR>
                    <a:lnB w="9525">
                      <a:solidFill>
                        <a:srgbClr val="D9D9D9"/>
                      </a:solidFill>
                      <a:prstDash val="solid"/>
                    </a:lnB>
                    <a:solidFill>
                      <a:srgbClr val="FFFFFF"/>
                    </a:solidFill>
                  </a:tcPr>
                </a:tc>
              </a:tr>
              <a:tr h="628650">
                <a:tc>
                  <a:txBody>
                    <a:bodyPr/>
                    <a:lstStyle/>
                    <a:p>
                      <a:r>
                        <a:rPr sz="1725" b="0">
                          <a:solidFill>
                            <a:srgbClr val="18202A"/>
                          </a:solidFill>
                          <a:latin typeface="Arial"/>
                          <a:ea typeface="Arial"/>
                          <a:cs typeface="Arial"/>
                        </a:rPr>
                        <a:t>dW(l)</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5F7F9"/>
                    </a:solidFill>
                  </a:tcPr>
                </a:tc>
                <a:tc>
                  <a:txBody>
                    <a:bodyPr/>
                    <a:lstStyle/>
                    <a:p>
                      <a:r>
                        <a:rPr sz="1725" b="0">
                          <a:solidFill>
                            <a:srgbClr val="18202A"/>
                          </a:solidFill>
                          <a:latin typeface="Arial"/>
                          <a:ea typeface="Arial"/>
                          <a:cs typeface="Arial"/>
                        </a:rPr>
                        <a:t>n(l-1) x n(l)</a:t>
                      </a:r>
                    </a:p>
                  </a:txBody>
                  <a:tcPr marL="91440" marR="91440" marT="45720" marB="45720">
                    <a:lnR w="9525">
                      <a:solidFill>
                        <a:srgbClr val="D9D9D9"/>
                      </a:solidFill>
                      <a:prstDash val="solid"/>
                    </a:lnR>
                    <a:lnB w="9525">
                      <a:solidFill>
                        <a:srgbClr val="D9D9D9"/>
                      </a:solidFill>
                      <a:prstDash val="solid"/>
                    </a:lnB>
                    <a:solidFill>
                      <a:srgbClr val="F5F7F9"/>
                    </a:solidFill>
                  </a:tcPr>
                </a:tc>
              </a:tr>
            </a:tbl>
          </a:graphicData>
        </a:graphic>
      </p:graphicFrame>
      <p:sp>
        <p:nvSpPr>
          <p:cNvPr id="3" name="">
            <a:extLst xmlns:a="http://schemas.openxmlformats.org/drawingml/2006/main">
              <a:ext uri="{FF2B5EF4-FFF2-40B4-BE49-F238E27FC236}">
                <a16:creationId xmlns:a16="http://schemas.microsoft.com/office/drawing/2014/main" id="{FE40345C-3169-4747-85DD-F11A178C5A1B}"/>
              </a:ext>
            </a:extLst>
          </p:cNvPr>
          <p:cNvSpPr>
            <a:spLocks xmlns:a="http://schemas.openxmlformats.org/drawingml/2006/main" noGrp="1"/>
          </p:cNvSpPr>
          <p:nvPr/>
        </p:nvSpPr>
        <p:spPr>
          <a:xfrm xmlns:a="http://schemas.openxmlformats.org/drawingml/2006/main">
            <a:off x="6096000" y="1666875"/>
            <a:ext cx="5334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8202A"/>
                </a:solidFill>
                <a:latin typeface="Cambria Math"/>
                <a:ea typeface="Cambria Math"/>
                <a:cs typeface="Cambria Math"/>
              </a:defRPr>
            </a:defPPr>
            <a:lvl1pPr>
              <a:defRPr sz="2325" b="0">
                <a:solidFill>
                  <a:srgbClr val="18202A"/>
                </a:solidFill>
                <a:latin typeface="Cambria Math"/>
                <a:ea typeface="Cambria Math"/>
                <a:cs typeface="Cambria Math"/>
              </a:defRPr>
            </a:lvl1pPr>
            <a:lvl2pPr>
              <a:defRPr sz="2325" b="0">
                <a:solidFill>
                  <a:srgbClr val="18202A"/>
                </a:solidFill>
                <a:latin typeface="Cambria Math"/>
                <a:ea typeface="Cambria Math"/>
                <a:cs typeface="Cambria Math"/>
              </a:defRPr>
            </a:lvl2pPr>
            <a:lvl3pPr>
              <a:defRPr sz="2325" b="0">
                <a:solidFill>
                  <a:srgbClr val="18202A"/>
                </a:solidFill>
                <a:latin typeface="Cambria Math"/>
                <a:ea typeface="Cambria Math"/>
                <a:cs typeface="Cambria Math"/>
              </a:defRPr>
            </a:lvl3pPr>
            <a:lvl4pPr>
              <a:defRPr sz="2325" b="0">
                <a:solidFill>
                  <a:srgbClr val="18202A"/>
                </a:solidFill>
                <a:latin typeface="Cambria Math"/>
                <a:ea typeface="Cambria Math"/>
                <a:cs typeface="Cambria Math"/>
              </a:defRPr>
            </a:lvl4pPr>
            <a:lvl5pPr>
              <a:defRPr sz="2325" b="0">
                <a:solidFill>
                  <a:srgbClr val="18202A"/>
                </a:solidFill>
                <a:latin typeface="Cambria Math"/>
                <a:ea typeface="Cambria Math"/>
                <a:cs typeface="Cambria Math"/>
              </a:defRPr>
            </a:lvl5pPr>
            <a:lvl6pPr>
              <a:defRPr sz="2325" b="0">
                <a:solidFill>
                  <a:srgbClr val="18202A"/>
                </a:solidFill>
                <a:latin typeface="Cambria Math"/>
                <a:ea typeface="Cambria Math"/>
                <a:cs typeface="Cambria Math"/>
              </a:defRPr>
            </a:lvl6pPr>
            <a:lvl7pPr>
              <a:defRPr sz="2325" b="0">
                <a:solidFill>
                  <a:srgbClr val="18202A"/>
                </a:solidFill>
                <a:latin typeface="Cambria Math"/>
                <a:ea typeface="Cambria Math"/>
                <a:cs typeface="Cambria Math"/>
              </a:defRPr>
            </a:lvl7pPr>
            <a:lvl8pPr>
              <a:defRPr sz="2325" b="0">
                <a:solidFill>
                  <a:srgbClr val="18202A"/>
                </a:solidFill>
                <a:latin typeface="Cambria Math"/>
                <a:ea typeface="Cambria Math"/>
                <a:cs typeface="Cambria Math"/>
              </a:defRPr>
            </a:lvl8pPr>
            <a:lvl9pPr>
              <a:defRPr sz="2325" b="0">
                <a:solidFill>
                  <a:srgbClr val="18202A"/>
                </a:solidFill>
                <a:latin typeface="Cambria Math"/>
                <a:ea typeface="Cambria Math"/>
                <a:cs typeface="Cambria Math"/>
              </a:defRPr>
            </a:lvl9pPr>
          </a:lstStyle>
          <a:p xmlns:a="http://schemas.openxmlformats.org/drawingml/2006/main">
            <a:pPr>
              <a:defRPr sz="2325" b="0">
                <a:solidFill>
                  <a:srgbClr val="18202A"/>
                </a:solidFill>
                <a:latin typeface="Cambria Math"/>
                <a:ea typeface="Cambria Math"/>
                <a:cs typeface="Cambria Math"/>
              </a:defRPr>
            </a:pPr>
            <a:r>
              <a:rPr sz="2325" b="0">
                <a:solidFill>
                  <a:srgbClr val="18202A"/>
                </a:solidFill>
                <a:latin typeface="Cambria Math"/>
                <a:ea typeface="Cambria Math"/>
                <a:cs typeface="Cambria Math"/>
              </a:rPr>
              <a:t>delta(l) =</a:t>
            </a:r>
          </a:p>
          <a:p xmlns:a="http://schemas.openxmlformats.org/drawingml/2006/main">
            <a:pPr>
              <a:defRPr sz="2325" b="0">
                <a:solidFill>
                  <a:srgbClr val="18202A"/>
                </a:solidFill>
                <a:latin typeface="Cambria Math"/>
                <a:ea typeface="Cambria Math"/>
                <a:cs typeface="Cambria Math"/>
              </a:defRPr>
            </a:pPr>
            <a:r>
              <a:rPr sz="2325" b="0">
                <a:solidFill>
                  <a:srgbClr val="18202A"/>
                </a:solidFill>
                <a:latin typeface="Cambria Math"/>
                <a:ea typeface="Cambria Math"/>
                <a:cs typeface="Cambria Math"/>
              </a:rPr>
              <a:t>(delta(l+1) W(l+1)^T)</a:t>
            </a:r>
          </a:p>
          <a:p xmlns:a="http://schemas.openxmlformats.org/drawingml/2006/main">
            <a:pPr>
              <a:defRPr sz="2325" b="0">
                <a:solidFill>
                  <a:srgbClr val="18202A"/>
                </a:solidFill>
                <a:latin typeface="Cambria Math"/>
                <a:ea typeface="Cambria Math"/>
                <a:cs typeface="Cambria Math"/>
              </a:defRPr>
            </a:pPr>
            <a:r>
              <a:rPr sz="2325" b="0">
                <a:solidFill>
                  <a:srgbClr val="18202A"/>
                </a:solidFill>
                <a:latin typeface="Cambria Math"/>
                <a:ea typeface="Cambria Math"/>
                <a:cs typeface="Cambria Math"/>
              </a:rPr>
              <a:t>.* phi′(Z(l))</a:t>
            </a:r>
          </a:p>
        </p:txBody>
      </p:sp>
      <p:sp>
        <p:nvSpPr>
          <p:cNvPr id="4" name="">
            <a:extLst xmlns:a="http://schemas.openxmlformats.org/drawingml/2006/main">
              <a:ext uri="{FF2B5EF4-FFF2-40B4-BE49-F238E27FC236}">
                <a16:creationId xmlns:a16="http://schemas.microsoft.com/office/drawing/2014/main" id="{392B1199-9E8F-4E7F-9530-F08DD0B43DD8}"/>
              </a:ext>
            </a:extLst>
          </p:cNvPr>
          <p:cNvSpPr>
            <a:spLocks xmlns:a="http://schemas.openxmlformats.org/drawingml/2006/main" noGrp="1"/>
          </p:cNvSpPr>
          <p:nvPr/>
        </p:nvSpPr>
        <p:spPr>
          <a:xfrm xmlns:a="http://schemas.openxmlformats.org/drawingml/2006/main">
            <a:off x="6096000" y="3905250"/>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18202A"/>
                </a:solidFill>
                <a:latin typeface="Cambria Math"/>
                <a:ea typeface="Cambria Math"/>
                <a:cs typeface="Cambria Math"/>
              </a:defRPr>
            </a:defPPr>
            <a:lvl1pPr>
              <a:defRPr sz="2100" b="0">
                <a:solidFill>
                  <a:srgbClr val="18202A"/>
                </a:solidFill>
                <a:latin typeface="Cambria Math"/>
                <a:ea typeface="Cambria Math"/>
                <a:cs typeface="Cambria Math"/>
              </a:defRPr>
            </a:lvl1pPr>
            <a:lvl2pPr>
              <a:defRPr sz="2100" b="0">
                <a:solidFill>
                  <a:srgbClr val="18202A"/>
                </a:solidFill>
                <a:latin typeface="Cambria Math"/>
                <a:ea typeface="Cambria Math"/>
                <a:cs typeface="Cambria Math"/>
              </a:defRPr>
            </a:lvl2pPr>
            <a:lvl3pPr>
              <a:defRPr sz="2100" b="0">
                <a:solidFill>
                  <a:srgbClr val="18202A"/>
                </a:solidFill>
                <a:latin typeface="Cambria Math"/>
                <a:ea typeface="Cambria Math"/>
                <a:cs typeface="Cambria Math"/>
              </a:defRPr>
            </a:lvl3pPr>
            <a:lvl4pPr>
              <a:defRPr sz="2100" b="0">
                <a:solidFill>
                  <a:srgbClr val="18202A"/>
                </a:solidFill>
                <a:latin typeface="Cambria Math"/>
                <a:ea typeface="Cambria Math"/>
                <a:cs typeface="Cambria Math"/>
              </a:defRPr>
            </a:lvl4pPr>
            <a:lvl5pPr>
              <a:defRPr sz="2100" b="0">
                <a:solidFill>
                  <a:srgbClr val="18202A"/>
                </a:solidFill>
                <a:latin typeface="Cambria Math"/>
                <a:ea typeface="Cambria Math"/>
                <a:cs typeface="Cambria Math"/>
              </a:defRPr>
            </a:lvl5pPr>
            <a:lvl6pPr>
              <a:defRPr sz="2100" b="0">
                <a:solidFill>
                  <a:srgbClr val="18202A"/>
                </a:solidFill>
                <a:latin typeface="Cambria Math"/>
                <a:ea typeface="Cambria Math"/>
                <a:cs typeface="Cambria Math"/>
              </a:defRPr>
            </a:lvl6pPr>
            <a:lvl7pPr>
              <a:defRPr sz="2100" b="0">
                <a:solidFill>
                  <a:srgbClr val="18202A"/>
                </a:solidFill>
                <a:latin typeface="Cambria Math"/>
                <a:ea typeface="Cambria Math"/>
                <a:cs typeface="Cambria Math"/>
              </a:defRPr>
            </a:lvl7pPr>
            <a:lvl8pPr>
              <a:defRPr sz="2100" b="0">
                <a:solidFill>
                  <a:srgbClr val="18202A"/>
                </a:solidFill>
                <a:latin typeface="Cambria Math"/>
                <a:ea typeface="Cambria Math"/>
                <a:cs typeface="Cambria Math"/>
              </a:defRPr>
            </a:lvl8pPr>
            <a:lvl9pPr>
              <a:defRPr sz="2100" b="0">
                <a:solidFill>
                  <a:srgbClr val="18202A"/>
                </a:solidFill>
                <a:latin typeface="Cambria Math"/>
                <a:ea typeface="Cambria Math"/>
                <a:cs typeface="Cambria Math"/>
              </a:defRPr>
            </a:lvl9pPr>
          </a:lstStyle>
          <a:p xmlns:a="http://schemas.openxmlformats.org/drawingml/2006/main">
            <a:pPr>
              <a:defRPr sz="2100" b="0">
                <a:solidFill>
                  <a:srgbClr val="18202A"/>
                </a:solidFill>
                <a:latin typeface="Cambria Math"/>
                <a:ea typeface="Cambria Math"/>
                <a:cs typeface="Cambria Math"/>
              </a:defRPr>
            </a:pPr>
            <a:r>
              <a:rPr sz="2100" b="0">
                <a:solidFill>
                  <a:srgbClr val="18202A"/>
                </a:solidFill>
                <a:latin typeface="Cambria Math"/>
                <a:ea typeface="Cambria Math"/>
                <a:cs typeface="Cambria Math"/>
              </a:rPr>
              <a:t>Central difference</a:t>
            </a:r>
          </a:p>
          <a:p xmlns:a="http://schemas.openxmlformats.org/drawingml/2006/main">
            <a:pPr>
              <a:defRPr sz="2100" b="0">
                <a:solidFill>
                  <a:srgbClr val="18202A"/>
                </a:solidFill>
                <a:latin typeface="Cambria Math"/>
                <a:ea typeface="Cambria Math"/>
                <a:cs typeface="Cambria Math"/>
              </a:defRPr>
            </a:pPr>
            <a:r>
              <a:rPr sz="2100" b="0">
                <a:solidFill>
                  <a:srgbClr val="18202A"/>
                </a:solidFill>
                <a:latin typeface="Cambria Math"/>
                <a:ea typeface="Cambria Math"/>
                <a:cs typeface="Cambria Math"/>
              </a:rPr>
              <a:t>[J(w + eps) - J(w - eps)] / (2 eps)</a:t>
            </a:r>
          </a:p>
        </p:txBody>
      </p:sp>
      <p:sp>
        <p:nvSpPr>
          <p:cNvPr id="5" name="">
            <a:extLst xmlns:a="http://schemas.openxmlformats.org/drawingml/2006/main">
              <a:ext uri="{FF2B5EF4-FFF2-40B4-BE49-F238E27FC236}">
                <a16:creationId xmlns:a16="http://schemas.microsoft.com/office/drawing/2014/main" id="{5541DD71-486C-4578-9052-132CF6BDC0B4}"/>
              </a:ext>
            </a:extLst>
          </p:cNvPr>
          <p:cNvSpPr>
            <a:spLocks xmlns:a="http://schemas.openxmlformats.org/drawingml/2006/main" noGrp="1"/>
          </p:cNvSpPr>
          <p:nvPr/>
        </p:nvSpPr>
        <p:spPr>
          <a:xfrm xmlns:a="http://schemas.openxmlformats.org/drawingml/2006/main">
            <a:off x="666750" y="56197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8202A"/>
                </a:solidFill>
                <a:latin typeface="Arial"/>
                <a:ea typeface="Arial"/>
                <a:cs typeface="Arial"/>
              </a:defRPr>
            </a:defPPr>
            <a:lvl1pPr>
              <a:defRPr sz="2025" b="0">
                <a:solidFill>
                  <a:srgbClr val="18202A"/>
                </a:solidFill>
                <a:latin typeface="Arial"/>
                <a:ea typeface="Arial"/>
                <a:cs typeface="Arial"/>
              </a:defRPr>
            </a:lvl1pPr>
            <a:lvl2pPr>
              <a:defRPr sz="2025" b="0">
                <a:solidFill>
                  <a:srgbClr val="18202A"/>
                </a:solidFill>
                <a:latin typeface="Arial"/>
                <a:ea typeface="Arial"/>
                <a:cs typeface="Arial"/>
              </a:defRPr>
            </a:lvl2pPr>
            <a:lvl3pPr>
              <a:defRPr sz="2025" b="0">
                <a:solidFill>
                  <a:srgbClr val="18202A"/>
                </a:solidFill>
                <a:latin typeface="Arial"/>
                <a:ea typeface="Arial"/>
                <a:cs typeface="Arial"/>
              </a:defRPr>
            </a:lvl3pPr>
            <a:lvl4pPr>
              <a:defRPr sz="2025" b="0">
                <a:solidFill>
                  <a:srgbClr val="18202A"/>
                </a:solidFill>
                <a:latin typeface="Arial"/>
                <a:ea typeface="Arial"/>
                <a:cs typeface="Arial"/>
              </a:defRPr>
            </a:lvl4pPr>
            <a:lvl5pPr>
              <a:defRPr sz="2025" b="0">
                <a:solidFill>
                  <a:srgbClr val="18202A"/>
                </a:solidFill>
                <a:latin typeface="Arial"/>
                <a:ea typeface="Arial"/>
                <a:cs typeface="Arial"/>
              </a:defRPr>
            </a:lvl5pPr>
            <a:lvl6pPr>
              <a:defRPr sz="2025" b="0">
                <a:solidFill>
                  <a:srgbClr val="18202A"/>
                </a:solidFill>
                <a:latin typeface="Arial"/>
                <a:ea typeface="Arial"/>
                <a:cs typeface="Arial"/>
              </a:defRPr>
            </a:lvl6pPr>
            <a:lvl7pPr>
              <a:defRPr sz="2025" b="0">
                <a:solidFill>
                  <a:srgbClr val="18202A"/>
                </a:solidFill>
                <a:latin typeface="Arial"/>
                <a:ea typeface="Arial"/>
                <a:cs typeface="Arial"/>
              </a:defRPr>
            </a:lvl7pPr>
            <a:lvl8pPr>
              <a:defRPr sz="2025" b="0">
                <a:solidFill>
                  <a:srgbClr val="18202A"/>
                </a:solidFill>
                <a:latin typeface="Arial"/>
                <a:ea typeface="Arial"/>
                <a:cs typeface="Arial"/>
              </a:defRPr>
            </a:lvl8pPr>
            <a:lvl9pPr>
              <a:defRPr sz="2025" b="0">
                <a:solidFill>
                  <a:srgbClr val="18202A"/>
                </a:solidFill>
                <a:latin typeface="Arial"/>
                <a:ea typeface="Arial"/>
                <a:cs typeface="Arial"/>
              </a:defRPr>
            </a:lvl9pPr>
          </a:lstStyle>
          <a:p xmlns:a="http://schemas.openxmlformats.org/drawingml/2006/main">
            <a:pPr>
              <a:defRPr sz="2025" b="0">
                <a:solidFill>
                  <a:srgbClr val="18202A"/>
                </a:solidFill>
                <a:latin typeface="Arial"/>
                <a:ea typeface="Arial"/>
                <a:cs typeface="Arial"/>
              </a:defRPr>
            </a:pPr>
            <a:r>
              <a:rPr sz="2025" b="0">
                <a:solidFill>
                  <a:srgbClr val="18202A"/>
                </a:solidFill>
                <a:latin typeface="Arial"/>
                <a:ea typeface="Arial"/>
                <a:cs typeface="Arial"/>
              </a:rPr>
              <a:t>eps = 1e-6. Check weights and biases. Avoid the ReLU kink.</a:t>
            </a:r>
          </a:p>
        </p:txBody>
      </p:sp>
    </p:spTree>
    <p:extLst>
      <p:ext uri="{BB962C8B-B14F-4D97-AF65-F5344CB8AC3E}">
        <p14:creationId xmlns:p14="http://schemas.microsoft.com/office/powerpoint/2010/main" val="79791189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05A2B70-F686-4131-8C9C-D0B2D371739B}"/>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18202A"/>
                </a:solidFill>
                <a:latin typeface="Arial"/>
                <a:ea typeface="Arial"/>
                <a:cs typeface="Arial"/>
              </a:defRPr>
            </a:defPPr>
            <a:lvl1pPr>
              <a:defRPr sz="3300" b="1">
                <a:solidFill>
                  <a:srgbClr val="18202A"/>
                </a:solidFill>
                <a:latin typeface="Arial"/>
                <a:ea typeface="Arial"/>
                <a:cs typeface="Arial"/>
              </a:defRPr>
            </a:lvl1pPr>
            <a:lvl2pPr>
              <a:defRPr sz="3300" b="1">
                <a:solidFill>
                  <a:srgbClr val="18202A"/>
                </a:solidFill>
                <a:latin typeface="Arial"/>
                <a:ea typeface="Arial"/>
                <a:cs typeface="Arial"/>
              </a:defRPr>
            </a:lvl2pPr>
            <a:lvl3pPr>
              <a:defRPr sz="3300" b="1">
                <a:solidFill>
                  <a:srgbClr val="18202A"/>
                </a:solidFill>
                <a:latin typeface="Arial"/>
                <a:ea typeface="Arial"/>
                <a:cs typeface="Arial"/>
              </a:defRPr>
            </a:lvl3pPr>
            <a:lvl4pPr>
              <a:defRPr sz="3300" b="1">
                <a:solidFill>
                  <a:srgbClr val="18202A"/>
                </a:solidFill>
                <a:latin typeface="Arial"/>
                <a:ea typeface="Arial"/>
                <a:cs typeface="Arial"/>
              </a:defRPr>
            </a:lvl4pPr>
            <a:lvl5pPr>
              <a:defRPr sz="3300" b="1">
                <a:solidFill>
                  <a:srgbClr val="18202A"/>
                </a:solidFill>
                <a:latin typeface="Arial"/>
                <a:ea typeface="Arial"/>
                <a:cs typeface="Arial"/>
              </a:defRPr>
            </a:lvl5pPr>
            <a:lvl6pPr>
              <a:defRPr sz="3300" b="1">
                <a:solidFill>
                  <a:srgbClr val="18202A"/>
                </a:solidFill>
                <a:latin typeface="Arial"/>
                <a:ea typeface="Arial"/>
                <a:cs typeface="Arial"/>
              </a:defRPr>
            </a:lvl6pPr>
            <a:lvl7pPr>
              <a:defRPr sz="3300" b="1">
                <a:solidFill>
                  <a:srgbClr val="18202A"/>
                </a:solidFill>
                <a:latin typeface="Arial"/>
                <a:ea typeface="Arial"/>
                <a:cs typeface="Arial"/>
              </a:defRPr>
            </a:lvl7pPr>
            <a:lvl8pPr>
              <a:defRPr sz="3300" b="1">
                <a:solidFill>
                  <a:srgbClr val="18202A"/>
                </a:solidFill>
                <a:latin typeface="Arial"/>
                <a:ea typeface="Arial"/>
                <a:cs typeface="Arial"/>
              </a:defRPr>
            </a:lvl8pPr>
            <a:lvl9pPr>
              <a:defRPr sz="3300" b="1">
                <a:solidFill>
                  <a:srgbClr val="18202A"/>
                </a:solidFill>
                <a:latin typeface="Arial"/>
                <a:ea typeface="Arial"/>
                <a:cs typeface="Arial"/>
              </a:defRPr>
            </a:lvl9pPr>
          </a:lstStyle>
          <a:p xmlns:a="http://schemas.openxmlformats.org/drawingml/2006/main">
            <a:pPr>
              <a:defRPr sz="3300" b="1">
                <a:solidFill>
                  <a:srgbClr val="18202A"/>
                </a:solidFill>
                <a:latin typeface="Arial"/>
                <a:ea typeface="Arial"/>
                <a:cs typeface="Arial"/>
              </a:defRPr>
            </a:pPr>
            <a:r>
              <a:rPr sz="3300" b="1">
                <a:solidFill>
                  <a:srgbClr val="18202A"/>
                </a:solidFill>
                <a:latin typeface="Arial"/>
                <a:ea typeface="Arial"/>
                <a:cs typeface="Arial"/>
              </a:rPr>
              <a:t>Appendix B Reproducibility and Limits</a:t>
            </a:r>
          </a:p>
        </p:txBody>
      </p:sp>
      <p:sp>
        <p:nvSpPr>
          <p:cNvPr id="2" name="">
            <a:extLst xmlns:a="http://schemas.openxmlformats.org/drawingml/2006/main">
              <a:ext uri="{FF2B5EF4-FFF2-40B4-BE49-F238E27FC236}">
                <a16:creationId xmlns:a16="http://schemas.microsoft.com/office/drawing/2014/main" id="{E58C56F9-6533-4532-B021-48FF4DE724A5}"/>
              </a:ext>
            </a:extLst>
          </p:cNvPr>
          <p:cNvSpPr>
            <a:spLocks xmlns:a="http://schemas.openxmlformats.org/drawingml/2006/main" noGrp="1"/>
          </p:cNvSpPr>
          <p:nvPr/>
        </p:nvSpPr>
        <p:spPr>
          <a:xfrm xmlns:a="http://schemas.openxmlformats.org/drawingml/2006/main">
            <a:off x="647700" y="14287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18202A"/>
                </a:solidFill>
                <a:latin typeface="Consolas"/>
                <a:ea typeface="Consolas"/>
                <a:cs typeface="Consolas"/>
              </a:defRPr>
            </a:defPPr>
            <a:lvl1pPr>
              <a:defRPr sz="1650" b="0">
                <a:solidFill>
                  <a:srgbClr val="18202A"/>
                </a:solidFill>
                <a:latin typeface="Consolas"/>
                <a:ea typeface="Consolas"/>
                <a:cs typeface="Consolas"/>
              </a:defRPr>
            </a:lvl1pPr>
            <a:lvl2pPr>
              <a:defRPr sz="1650" b="0">
                <a:solidFill>
                  <a:srgbClr val="18202A"/>
                </a:solidFill>
                <a:latin typeface="Consolas"/>
                <a:ea typeface="Consolas"/>
                <a:cs typeface="Consolas"/>
              </a:defRPr>
            </a:lvl2pPr>
            <a:lvl3pPr>
              <a:defRPr sz="1650" b="0">
                <a:solidFill>
                  <a:srgbClr val="18202A"/>
                </a:solidFill>
                <a:latin typeface="Consolas"/>
                <a:ea typeface="Consolas"/>
                <a:cs typeface="Consolas"/>
              </a:defRPr>
            </a:lvl3pPr>
            <a:lvl4pPr>
              <a:defRPr sz="1650" b="0">
                <a:solidFill>
                  <a:srgbClr val="18202A"/>
                </a:solidFill>
                <a:latin typeface="Consolas"/>
                <a:ea typeface="Consolas"/>
                <a:cs typeface="Consolas"/>
              </a:defRPr>
            </a:lvl4pPr>
            <a:lvl5pPr>
              <a:defRPr sz="1650" b="0">
                <a:solidFill>
                  <a:srgbClr val="18202A"/>
                </a:solidFill>
                <a:latin typeface="Consolas"/>
                <a:ea typeface="Consolas"/>
                <a:cs typeface="Consolas"/>
              </a:defRPr>
            </a:lvl5pPr>
            <a:lvl6pPr>
              <a:defRPr sz="1650" b="0">
                <a:solidFill>
                  <a:srgbClr val="18202A"/>
                </a:solidFill>
                <a:latin typeface="Consolas"/>
                <a:ea typeface="Consolas"/>
                <a:cs typeface="Consolas"/>
              </a:defRPr>
            </a:lvl6pPr>
            <a:lvl7pPr>
              <a:defRPr sz="1650" b="0">
                <a:solidFill>
                  <a:srgbClr val="18202A"/>
                </a:solidFill>
                <a:latin typeface="Consolas"/>
                <a:ea typeface="Consolas"/>
                <a:cs typeface="Consolas"/>
              </a:defRPr>
            </a:lvl7pPr>
            <a:lvl8pPr>
              <a:defRPr sz="1650" b="0">
                <a:solidFill>
                  <a:srgbClr val="18202A"/>
                </a:solidFill>
                <a:latin typeface="Consolas"/>
                <a:ea typeface="Consolas"/>
                <a:cs typeface="Consolas"/>
              </a:defRPr>
            </a:lvl8pPr>
            <a:lvl9pPr>
              <a:defRPr sz="1650" b="0">
                <a:solidFill>
                  <a:srgbClr val="18202A"/>
                </a:solidFill>
                <a:latin typeface="Consolas"/>
                <a:ea typeface="Consolas"/>
                <a:cs typeface="Consolas"/>
              </a:defRPr>
            </a:lvl9pPr>
          </a:lstStyle>
          <a:p xmlns:a="http://schemas.openxmlformats.org/drawingml/2006/main">
            <a:pPr>
              <a:defRPr sz="1650" b="0">
                <a:solidFill>
                  <a:srgbClr val="18202A"/>
                </a:solidFill>
                <a:latin typeface="Consolas"/>
                <a:ea typeface="Consolas"/>
                <a:cs typeface="Consolas"/>
              </a:defRPr>
            </a:pPr>
            <a:r>
              <a:rPr sz="1650" b="0">
                <a:solidFill>
                  <a:srgbClr val="18202A"/>
                </a:solidFill>
                <a:latin typeface="Consolas"/>
                <a:ea typeface="Consolas"/>
                <a:cs typeface="Consolas"/>
              </a:rPr>
              <a:t>cargo run --release --bin project11 -- reproduce --out experiment</a:t>
            </a:r>
          </a:p>
          <a:p xmlns:a="http://schemas.openxmlformats.org/drawingml/2006/main">
            <a:pPr>
              <a:defRPr sz="1650" b="0">
                <a:solidFill>
                  <a:srgbClr val="18202A"/>
                </a:solidFill>
                <a:latin typeface="Consolas"/>
                <a:ea typeface="Consolas"/>
                <a:cs typeface="Consolas"/>
              </a:defRPr>
            </a:pPr>
            <a:r>
              <a:rPr sz="1650" b="0">
                <a:solidFill>
                  <a:srgbClr val="18202A"/>
                </a:solidFill>
                <a:latin typeface="Consolas"/>
                <a:ea typeface="Consolas"/>
                <a:cs typeface="Consolas"/>
              </a:rPr>
              <a:t>cargo run --release --bin project11 -- benchmark --out experiment</a:t>
            </a:r>
          </a:p>
          <a:p xmlns:a="http://schemas.openxmlformats.org/drawingml/2006/main">
            <a:pPr>
              <a:defRPr sz="1650" b="0">
                <a:solidFill>
                  <a:srgbClr val="18202A"/>
                </a:solidFill>
                <a:latin typeface="Consolas"/>
                <a:ea typeface="Consolas"/>
                <a:cs typeface="Consolas"/>
              </a:defRPr>
            </a:pPr>
            <a:r>
              <a:rPr sz="1650" b="0">
                <a:solidFill>
                  <a:srgbClr val="18202A"/>
                </a:solidFill>
                <a:latin typeface="Consolas"/>
                <a:ea typeface="Consolas"/>
                <a:cs typeface="Consolas"/>
              </a:rPr>
              <a:t>python scripts/benchmark_numpy.py --root experiment</a:t>
            </a:r>
          </a:p>
        </p:txBody>
      </p:sp>
      <p:sp>
        <p:nvSpPr>
          <p:cNvPr id="3" name="">
            <a:extLst xmlns:a="http://schemas.openxmlformats.org/drawingml/2006/main">
              <a:ext uri="{FF2B5EF4-FFF2-40B4-BE49-F238E27FC236}">
                <a16:creationId xmlns:a16="http://schemas.microsoft.com/office/drawing/2014/main" id="{35032CA8-1ED7-4FC9-89B8-623EE269FF47}"/>
              </a:ext>
            </a:extLst>
          </p:cNvPr>
          <p:cNvSpPr>
            <a:spLocks xmlns:a="http://schemas.openxmlformats.org/drawingml/2006/main" noGrp="1"/>
          </p:cNvSpPr>
          <p:nvPr/>
        </p:nvSpPr>
        <p:spPr>
          <a:xfrm xmlns:a="http://schemas.openxmlformats.org/drawingml/2006/main">
            <a:off x="666750" y="3238500"/>
            <a:ext cx="10763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8202A"/>
                </a:solidFill>
                <a:latin typeface="Arial"/>
                <a:ea typeface="Arial"/>
                <a:cs typeface="Arial"/>
              </a:defRPr>
            </a:defPPr>
            <a:lvl1pPr>
              <a:defRPr sz="2175" b="0">
                <a:solidFill>
                  <a:srgbClr val="18202A"/>
                </a:solidFill>
                <a:latin typeface="Arial"/>
                <a:ea typeface="Arial"/>
                <a:cs typeface="Arial"/>
              </a:defRPr>
            </a:lvl1pPr>
            <a:lvl2pPr>
              <a:defRPr sz="2175" b="0">
                <a:solidFill>
                  <a:srgbClr val="18202A"/>
                </a:solidFill>
                <a:latin typeface="Arial"/>
                <a:ea typeface="Arial"/>
                <a:cs typeface="Arial"/>
              </a:defRPr>
            </a:lvl2pPr>
            <a:lvl3pPr>
              <a:defRPr sz="2175" b="0">
                <a:solidFill>
                  <a:srgbClr val="18202A"/>
                </a:solidFill>
                <a:latin typeface="Arial"/>
                <a:ea typeface="Arial"/>
                <a:cs typeface="Arial"/>
              </a:defRPr>
            </a:lvl3pPr>
            <a:lvl4pPr>
              <a:defRPr sz="2175" b="0">
                <a:solidFill>
                  <a:srgbClr val="18202A"/>
                </a:solidFill>
                <a:latin typeface="Arial"/>
                <a:ea typeface="Arial"/>
                <a:cs typeface="Arial"/>
              </a:defRPr>
            </a:lvl4pPr>
            <a:lvl5pPr>
              <a:defRPr sz="2175" b="0">
                <a:solidFill>
                  <a:srgbClr val="18202A"/>
                </a:solidFill>
                <a:latin typeface="Arial"/>
                <a:ea typeface="Arial"/>
                <a:cs typeface="Arial"/>
              </a:defRPr>
            </a:lvl5pPr>
            <a:lvl6pPr>
              <a:defRPr sz="2175" b="0">
                <a:solidFill>
                  <a:srgbClr val="18202A"/>
                </a:solidFill>
                <a:latin typeface="Arial"/>
                <a:ea typeface="Arial"/>
                <a:cs typeface="Arial"/>
              </a:defRPr>
            </a:lvl6pPr>
            <a:lvl7pPr>
              <a:defRPr sz="2175" b="0">
                <a:solidFill>
                  <a:srgbClr val="18202A"/>
                </a:solidFill>
                <a:latin typeface="Arial"/>
                <a:ea typeface="Arial"/>
                <a:cs typeface="Arial"/>
              </a:defRPr>
            </a:lvl7pPr>
            <a:lvl8pPr>
              <a:defRPr sz="2175" b="0">
                <a:solidFill>
                  <a:srgbClr val="18202A"/>
                </a:solidFill>
                <a:latin typeface="Arial"/>
                <a:ea typeface="Arial"/>
                <a:cs typeface="Arial"/>
              </a:defRPr>
            </a:lvl8pPr>
            <a:lvl9pPr>
              <a:defRPr sz="2175" b="0">
                <a:solidFill>
                  <a:srgbClr val="18202A"/>
                </a:solidFill>
                <a:latin typeface="Arial"/>
                <a:ea typeface="Arial"/>
                <a:cs typeface="Arial"/>
              </a:defRPr>
            </a:lvl9pPr>
          </a:lstStyle>
          <a:p xmlns:a="http://schemas.openxmlformats.org/drawingml/2006/main">
            <a:pPr>
              <a:defRPr sz="2175" b="0">
                <a:solidFill>
                  <a:srgbClr val="18202A"/>
                </a:solidFill>
                <a:latin typeface="Arial"/>
                <a:ea typeface="Arial"/>
                <a:cs typeface="Arial"/>
              </a:defRPr>
            </a:pPr>
            <a:r>
              <a:rPr sz="2175" b="0">
                <a:solidFill>
                  <a:srgbClr val="18202A"/>
                </a:solidFill>
                <a:latin typeface="Arial"/>
                <a:ea typeface="Arial"/>
                <a:cs typeface="Arial"/>
              </a:rPr>
              <a:t>Fixed time step and physical parameters</a:t>
            </a:r>
          </a:p>
          <a:p xmlns:a="http://schemas.openxmlformats.org/drawingml/2006/main">
            <a:r>
              <a:t/>
            </a:r>
          </a:p>
          <a:p xmlns:a="http://schemas.openxmlformats.org/drawingml/2006/main">
            <a:pPr>
              <a:defRPr sz="2175" b="0">
                <a:solidFill>
                  <a:srgbClr val="18202A"/>
                </a:solidFill>
                <a:latin typeface="Arial"/>
                <a:ea typeface="Arial"/>
                <a:cs typeface="Arial"/>
              </a:defRPr>
            </a:pPr>
            <a:r>
              <a:rPr sz="2175" b="0">
                <a:solidFill>
                  <a:srgbClr val="18202A"/>
                </a:solidFill>
                <a:latin typeface="Arial"/>
                <a:ea typeface="Arial"/>
                <a:cs typeface="Arial"/>
              </a:rPr>
              <a:t>One training seed and one OOD case</a:t>
            </a:r>
          </a:p>
          <a:p xmlns:a="http://schemas.openxmlformats.org/drawingml/2006/main">
            <a:r>
              <a:t/>
            </a:r>
          </a:p>
          <a:p xmlns:a="http://schemas.openxmlformats.org/drawingml/2006/main">
            <a:pPr>
              <a:defRPr sz="2175" b="0">
                <a:solidFill>
                  <a:srgbClr val="18202A"/>
                </a:solidFill>
                <a:latin typeface="Arial"/>
                <a:ea typeface="Arial"/>
                <a:cs typeface="Arial"/>
              </a:defRPr>
            </a:pPr>
            <a:r>
              <a:rPr sz="2175" b="0">
                <a:solidFill>
                  <a:srgbClr val="18202A"/>
                </a:solidFill>
                <a:latin typeface="Arial"/>
                <a:ea typeface="Arial"/>
                <a:cs typeface="Arial"/>
              </a:rPr>
              <a:t>No measured inference-speed advantage over RK4</a:t>
            </a:r>
          </a:p>
          <a:p xmlns:a="http://schemas.openxmlformats.org/drawingml/2006/main">
            <a:r>
              <a:t/>
            </a:r>
          </a:p>
          <a:p xmlns:a="http://schemas.openxmlformats.org/drawingml/2006/main">
            <a:pPr>
              <a:defRPr sz="2175" b="0">
                <a:solidFill>
                  <a:srgbClr val="18202A"/>
                </a:solidFill>
                <a:latin typeface="Arial"/>
                <a:ea typeface="Arial"/>
                <a:cs typeface="Arial"/>
              </a:defRPr>
            </a:pPr>
            <a:r>
              <a:rPr sz="2175" b="0">
                <a:solidFill>
                  <a:srgbClr val="18202A"/>
                </a:solidFill>
                <a:latin typeface="Arial"/>
                <a:ea typeface="Arial"/>
                <a:cs typeface="Arial"/>
              </a:rPr>
              <a:t>Discrete transition surrogate, not a PINN</a:t>
            </a:r>
          </a:p>
        </p:txBody>
      </p:sp>
    </p:spTree>
    <p:extLst>
      <p:ext uri="{BB962C8B-B14F-4D97-AF65-F5344CB8AC3E}">
        <p14:creationId xmlns:p14="http://schemas.microsoft.com/office/powerpoint/2010/main" val="5745093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2026-10-23T04:51:25.9900000Z</dcterms:created>
  <dcterms:modified xsi:type="dcterms:W3CDTF">2026-10-23T04:51:25.9900000Z</dcterms:modified>
</coreProperties>
</file>