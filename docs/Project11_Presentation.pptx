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slides/charts/chart1.xml" ContentType="application/vnd.openxmlformats-officedocument.drawingml.chart+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slides/charts/chart2.xml" ContentType="application/vnd.openxmlformats-officedocument.drawingml.chart+xml"/>
  <Override PartName="/ppt/slides/charts/chart3.xml" ContentType="application/vnd.openxmlformats-officedocument.drawingml.chart+xml"/>
  <Override PartName="/ppt/notesSlides/notesSlide8.xml" ContentType="application/vnd.openxmlformats-officedocument.presentationml.notesSlide+xml"/>
  <Override PartName="/ppt/slides/slide9.xml" ContentType="application/vnd.openxmlformats-officedocument.presentationml.slide+xml"/>
  <Override PartName="/ppt/slides/charts/chart4.xml" ContentType="application/vnd.openxmlformats-officedocument.drawingml.chart+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19cb43a5968541d8" /><Relationship Type="http://schemas.openxmlformats.org/officeDocument/2006/relationships/extended-properties" Target="/docProps/app.xml" Id="Rddac7e8ee9f74649" /><Relationship Type="http://schemas.openxmlformats.org/officeDocument/2006/relationships/officeDocument" Target="/ppt/presentation.xml" Id="Rbd7612d6bab5498e" /></Relationships>
</file>

<file path=ppt/presentation.xml><?xml version="1.0" encoding="utf-8"?>
<p:presentation xmlns:p="http://schemas.openxmlformats.org/presentationml/2006/main">
  <p:sldMasterIdLst>
    <p:sldMasterId xmlns:r="http://schemas.openxmlformats.org/officeDocument/2006/relationships" id="2147483648" r:id="Rabcb0c207a4940e5"/>
  </p:sldMasterIdLst>
  <p:notesMasterIdLst>
    <p:notesMasterId xmlns:r="http://schemas.openxmlformats.org/officeDocument/2006/relationships" r:id="R9db55f19b37a442d"/>
  </p:notesMasterIdLst>
  <p:sldIdLst>
    <p:sldId xmlns:r="http://schemas.openxmlformats.org/officeDocument/2006/relationships" id="256" r:id="R9baf482497d5406a"/>
    <p:sldId xmlns:r="http://schemas.openxmlformats.org/officeDocument/2006/relationships" id="257" r:id="R8472a3f897a5490f"/>
    <p:sldId xmlns:r="http://schemas.openxmlformats.org/officeDocument/2006/relationships" id="258" r:id="Rc69fe9c4705b4adc"/>
    <p:sldId xmlns:r="http://schemas.openxmlformats.org/officeDocument/2006/relationships" id="259" r:id="R5a8d97aeb7974890"/>
    <p:sldId xmlns:r="http://schemas.openxmlformats.org/officeDocument/2006/relationships" id="260" r:id="R167495d447bb4d2d"/>
    <p:sldId xmlns:r="http://schemas.openxmlformats.org/officeDocument/2006/relationships" id="261" r:id="R42caad58b66542d6"/>
    <p:sldId xmlns:r="http://schemas.openxmlformats.org/officeDocument/2006/relationships" id="262" r:id="R5762fb66895e43c8"/>
    <p:sldId xmlns:r="http://schemas.openxmlformats.org/officeDocument/2006/relationships" id="263" r:id="R688604a4cc0b4509"/>
    <p:sldId xmlns:r="http://schemas.openxmlformats.org/officeDocument/2006/relationships" id="264" r:id="R0fcecd919aa64219"/>
    <p:sldId xmlns:r="http://schemas.openxmlformats.org/officeDocument/2006/relationships" id="265" r:id="Rd249324b3ce84e9f"/>
    <p:sldId xmlns:r="http://schemas.openxmlformats.org/officeDocument/2006/relationships" id="266" r:id="Rddb85c7b465d4232"/>
    <p:sldId xmlns:r="http://schemas.openxmlformats.org/officeDocument/2006/relationships" id="267" r:id="R568859ee30f04668"/>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b8ed220c9a7843a1" /><Relationship Type="http://schemas.openxmlformats.org/officeDocument/2006/relationships/slideMaster" Target="/ppt/slideMasters/slideMaster1.xml" Id="Rabcb0c207a4940e5" /><Relationship Type="http://schemas.openxmlformats.org/officeDocument/2006/relationships/notesMaster" Target="/ppt/notesMasters/notesMaster1.xml" Id="R9db55f19b37a442d" /><Relationship Type="http://schemas.openxmlformats.org/officeDocument/2006/relationships/presProps" Target="/ppt/presProps.xml" Id="R6e7dc81d818c4b16" /><Relationship Type="http://schemas.openxmlformats.org/officeDocument/2006/relationships/tableStyles" Target="/ppt/tableStyles.xml" Id="Rf7a88c52508d46d6" /><Relationship Type="http://schemas.openxmlformats.org/officeDocument/2006/relationships/slide" Target="/ppt/slides/slide1.xml" Id="R9baf482497d5406a" /><Relationship Type="http://schemas.openxmlformats.org/officeDocument/2006/relationships/slide" Target="/ppt/slides/slide2.xml" Id="R8472a3f897a5490f" /><Relationship Type="http://schemas.openxmlformats.org/officeDocument/2006/relationships/slide" Target="/ppt/slides/slide3.xml" Id="Rc69fe9c4705b4adc" /><Relationship Type="http://schemas.openxmlformats.org/officeDocument/2006/relationships/slide" Target="/ppt/slides/slide4.xml" Id="R5a8d97aeb7974890" /><Relationship Type="http://schemas.openxmlformats.org/officeDocument/2006/relationships/slide" Target="/ppt/slides/slide5.xml" Id="R167495d447bb4d2d" /><Relationship Type="http://schemas.openxmlformats.org/officeDocument/2006/relationships/slide" Target="/ppt/slides/slide6.xml" Id="R42caad58b66542d6" /><Relationship Type="http://schemas.openxmlformats.org/officeDocument/2006/relationships/slide" Target="/ppt/slides/slide7.xml" Id="R5762fb66895e43c8" /><Relationship Type="http://schemas.openxmlformats.org/officeDocument/2006/relationships/slide" Target="/ppt/slides/slide8.xml" Id="R688604a4cc0b4509" /><Relationship Type="http://schemas.openxmlformats.org/officeDocument/2006/relationships/slide" Target="/ppt/slides/slide9.xml" Id="R0fcecd919aa64219" /><Relationship Type="http://schemas.openxmlformats.org/officeDocument/2006/relationships/slide" Target="/ppt/slides/slide10.xml" Id="Rd249324b3ce84e9f" /><Relationship Type="http://schemas.openxmlformats.org/officeDocument/2006/relationships/slide" Target="/ppt/slides/slide11.xml" Id="Rddb85c7b465d4232" /><Relationship Type="http://schemas.openxmlformats.org/officeDocument/2006/relationships/slide" Target="/ppt/slides/slide12.xml" Id="R568859ee30f04668"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b0b9b173da044491"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b93bc8f3c7d2424b" /><Relationship Type="http://schemas.openxmlformats.org/officeDocument/2006/relationships/notesMaster" Target="/ppt/notesMasters/notesMaster1.xml" Id="R5da7812f499c4625" /></Relationships>
</file>

<file path=ppt/notesSlides/_rels/notesSlide2.xml.rels>&#65279;<?xml version="1.0" encoding="utf-8"?><Relationships xmlns="http://schemas.openxmlformats.org/package/2006/relationships"><Relationship Type="http://schemas.openxmlformats.org/officeDocument/2006/relationships/slide" Target="/ppt/slides/slide2.xml" Id="R37eabe159e2a486f" /><Relationship Type="http://schemas.openxmlformats.org/officeDocument/2006/relationships/notesMaster" Target="/ppt/notesMasters/notesMaster1.xml" Id="Rd4336a3cbf494154" /></Relationships>
</file>

<file path=ppt/notesSlides/_rels/notesSlide3.xml.rels>&#65279;<?xml version="1.0" encoding="utf-8"?><Relationships xmlns="http://schemas.openxmlformats.org/package/2006/relationships"><Relationship Type="http://schemas.openxmlformats.org/officeDocument/2006/relationships/slide" Target="/ppt/slides/slide3.xml" Id="R5bcbde6ece184b40" /><Relationship Type="http://schemas.openxmlformats.org/officeDocument/2006/relationships/notesMaster" Target="/ppt/notesMasters/notesMaster1.xml" Id="R3d676af7e1624d1d" /></Relationships>
</file>

<file path=ppt/notesSlides/_rels/notesSlide4.xml.rels>&#65279;<?xml version="1.0" encoding="utf-8"?><Relationships xmlns="http://schemas.openxmlformats.org/package/2006/relationships"><Relationship Type="http://schemas.openxmlformats.org/officeDocument/2006/relationships/slide" Target="/ppt/slides/slide4.xml" Id="Rd5afffa7cef94a5b" /><Relationship Type="http://schemas.openxmlformats.org/officeDocument/2006/relationships/notesMaster" Target="/ppt/notesMasters/notesMaster1.xml" Id="R797ae37b8dd54232" /></Relationships>
</file>

<file path=ppt/notesSlides/_rels/notesSlide5.xml.rels>&#65279;<?xml version="1.0" encoding="utf-8"?><Relationships xmlns="http://schemas.openxmlformats.org/package/2006/relationships"><Relationship Type="http://schemas.openxmlformats.org/officeDocument/2006/relationships/slide" Target="/ppt/slides/slide5.xml" Id="R68c688e938da4b14" /><Relationship Type="http://schemas.openxmlformats.org/officeDocument/2006/relationships/notesMaster" Target="/ppt/notesMasters/notesMaster1.xml" Id="Rbfc86ab853c14a6f" /></Relationships>
</file>

<file path=ppt/notesSlides/_rels/notesSlide6.xml.rels>&#65279;<?xml version="1.0" encoding="utf-8"?><Relationships xmlns="http://schemas.openxmlformats.org/package/2006/relationships"><Relationship Type="http://schemas.openxmlformats.org/officeDocument/2006/relationships/slide" Target="/ppt/slides/slide6.xml" Id="R42fd143d21e04b3b" /><Relationship Type="http://schemas.openxmlformats.org/officeDocument/2006/relationships/notesMaster" Target="/ppt/notesMasters/notesMaster1.xml" Id="R5c71876f214b47bd" /></Relationships>
</file>

<file path=ppt/notesSlides/_rels/notesSlide7.xml.rels>&#65279;<?xml version="1.0" encoding="utf-8"?><Relationships xmlns="http://schemas.openxmlformats.org/package/2006/relationships"><Relationship Type="http://schemas.openxmlformats.org/officeDocument/2006/relationships/slide" Target="/ppt/slides/slide7.xml" Id="R067034a33420423a" /><Relationship Type="http://schemas.openxmlformats.org/officeDocument/2006/relationships/notesMaster" Target="/ppt/notesMasters/notesMaster1.xml" Id="R2460d2abd3e44b76" /></Relationships>
</file>

<file path=ppt/notesSlides/_rels/notesSlide8.xml.rels>&#65279;<?xml version="1.0" encoding="utf-8"?><Relationships xmlns="http://schemas.openxmlformats.org/package/2006/relationships"><Relationship Type="http://schemas.openxmlformats.org/officeDocument/2006/relationships/slide" Target="/ppt/slides/slide8.xml" Id="Red11105166664458" /><Relationship Type="http://schemas.openxmlformats.org/officeDocument/2006/relationships/notesMaster" Target="/ppt/notesMasters/notesMaster1.xml" Id="Rade75e3d59a445e5" /></Relationships>
</file>

<file path=ppt/notesSlides/_rels/notesSlide9.xml.rels>&#65279;<?xml version="1.0" encoding="utf-8"?><Relationships xmlns="http://schemas.openxmlformats.org/package/2006/relationships"><Relationship Type="http://schemas.openxmlformats.org/officeDocument/2006/relationships/slide" Target="/ppt/slides/slide9.xml" Id="R0305a3eaf93944cd" /><Relationship Type="http://schemas.openxmlformats.org/officeDocument/2006/relationships/notesMaster" Target="/ppt/notesMasters/notesMaster1.xml" Id="Rad566e51ce674d8c"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c6db7597813d49af" /><Relationship Type="http://schemas.openxmlformats.org/officeDocument/2006/relationships/notesMaster" Target="/ppt/notesMasters/notesMaster1.xml" Id="R08f8b2daec7b4137"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9b6e68fa5be34147" /><Relationship Type="http://schemas.openxmlformats.org/officeDocument/2006/relationships/notesMaster" Target="/ppt/notesMasters/notesMaster1.xml" Id="Rd70728c204f445bd"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454b9b1749d245b4" /><Relationship Type="http://schemas.openxmlformats.org/officeDocument/2006/relationships/notesMaster" Target="/ppt/notesMasters/notesMaster1.xml" Id="R5a349cfadb084d5d"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Hello, we are Team 11. Our project asks whether a small neural network, implemented from first principles in Rust, can learn the motion of a pendulum. We wrote the dense layers, activations, loss, gradients and training loop ourselves. The main result is a large reduction in one-step prediction error compared with predicting no movement. However, we also show accumulated error and an unfamiliar initial condition, because a good local fit alone does not establish a reliable dynamical model.</a:t>
            </a:r>
          </a:p>
          <a:p xmlns:a="http://schemas.openxmlformats.org/drawingml/2006/main">
            <a:r>
              <a:t>Source: results/evaluation.json. Screenshot: native eframe framebuffer, results/figures/gui_native.png.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use a damped nonlinear pendulum with angle and angular velocity as its two state coordinates. Gravity is 9.81, length is one metre, and damping is 0.1 per second. The network predicts the state after 0.02 seconds. To generate labels, our fourth-order Runge-Kutta implementation takes ten smaller steps of 0.002 seconds. We call this the numerical reference rather than an exact truth. Equilibrium, convergence, the small-angle analytical limit and decreasing damped energy are checked independently.</a:t>
            </a:r>
          </a:p>
          <a:p xmlns:a="http://schemas.openxmlformats.org/drawingml/2006/main">
            <a:r>
              <a:t/>
            </a:r>
          </a:p>
          <a:p xmlns:a="http://schemas.openxmlformats.org/drawingml/2006/main">
            <a:r>
              <a:t>Sources: Project 11 assignment brief and the repository experiment files. Dataset and models: results/dataset.json and models/*.json. Raw evaluation: results/evaluation.json, results/rollouts.csv. Timing: results/benchmark_rust.json and results/benchmark_numpy.json. API references: https://docs.rs/ndarray/0.17.2/ndarray/ ; https://docs.rs/eframe/0.33.3/eframe/ ; https://numpy.org/doc/stable/reference/global_state.html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fixed seed generates eighty initial conditions. Each produces five hundred transitions over ten seconds, giving forty thousand samples. We split by complete trajectory: fifty-six for training, twelve for validation and twelve for final testing. Randomly splitting individual rows would leak almost neighbouring states between partitions. Input and target means and standard deviations are therefore fitted on training trajectories only. The output target is the next-state increment. The stored checkpoint includes every normalization statistic needed to convert its predictions back to physical units.</a:t>
            </a:r>
          </a:p>
          <a:p xmlns:a="http://schemas.openxmlformats.org/drawingml/2006/main">
            <a:r>
              <a:t/>
            </a:r>
          </a:p>
          <a:p xmlns:a="http://schemas.openxmlformats.org/drawingml/2006/main">
            <a:r>
              <a:t>Sources: Project 11 assignment brief and the repository experiment files. Dataset and models: results/dataset.json and models/*.json. Raw evaluation: results/evaluation.json, results/rollouts.csv. Timing: results/benchmark_rust.json and results/benchmark_numpy.json. API references: https://docs.rs/ndarray/0.17.2/ndarray/ ; https://docs.rs/eframe/0.33.3/eframe/ ; https://numpy.org/doc/stable/reference/global_state.html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main architecture has two inputs, two hidden layers with thirty-two Tanh neurons each, and two linear outputs. It contains 1,218 trainable parameters. We also retain a deliberately small two-three-two Sigmoid baseline with seventeen parameters, following the assignment's suggested starting point. ReLU is implemented and tested as well. ndarray performs matrix arithmetic only. There is no automatic differentiation or high-level training framework. At inference, the learned increment is decoded and added to the network's current state, without calling the pendulum equation.</a:t>
            </a:r>
          </a:p>
          <a:p xmlns:a="http://schemas.openxmlformats.org/drawingml/2006/main">
            <a:r>
              <a:t/>
            </a:r>
          </a:p>
          <a:p xmlns:a="http://schemas.openxmlformats.org/drawingml/2006/main">
            <a:r>
              <a:t>Sources: Project 11 assignment brief and the repository experiment files. Dataset and models: results/dataset.json and models/*.json. Raw evaluation: results/evaluation.json, results/rollouts.csv. Timing: results/benchmark_rust.json and results/benchmark_numpy.json. API references: https://docs.rs/ndarray/0.17.2/ndarray/ ; https://docs.rs/eframe/0.33.3/eframe/ ; https://numpy.org/doc/stable/reference/global_state.html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Our loss averages squared error over both samples and output coordinates. That makes its output derivative two times the residual divided by batch size times output width. We propagate this derivative through activation functions and transposed weight matrices. Weight gradients are the previous activations transposed times the local derivative; bias gradients sum over samples. We compute all gradients before changing any weights. Central differences check every parameter of a small network, and an independent NumPy implementation checks forward values, gradients and one update.</a:t>
            </a:r>
          </a:p>
          <a:p xmlns:a="http://schemas.openxmlformats.org/drawingml/2006/main">
            <a:r>
              <a:t/>
            </a:r>
          </a:p>
          <a:p xmlns:a="http://schemas.openxmlformats.org/drawingml/2006/main">
            <a:r>
              <a:t>Sources: Project 11 assignment brief and the repository experiment files. Dataset and models: results/dataset.json and models/*.json. Raw evaluation: results/evaluation.json, results/rollouts.csv. Timing: results/benchmark_rust.json and results/benchmark_numpy.json. API references: https://docs.rs/ndarray/0.17.2/ndarray/ ; https://docs.rs/eframe/0.33.3/eframe/ ; https://numpy.org/doc/stable/reference/global_state.html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Both models use mini-batch gradient descent with batch size 128, learning rate 0.01 and two hundred epochs. The checkpoint with the lowest validation loss is retained. The test partition never enters this selection. This plot shows the base-ten logarithm of validation MSE, so changes across several orders of magnitude remain visible. The larger model achieves a much lower validation error. We did not use the proposed fallback hyperparameter sweep, because the default configuration already passed the predefined acceptance condition.</a:t>
            </a:r>
          </a:p>
          <a:p xmlns:a="http://schemas.openxmlformats.org/drawingml/2006/main">
            <a:r>
              <a:t/>
            </a:r>
          </a:p>
          <a:p xmlns:a="http://schemas.openxmlformats.org/drawingml/2006/main">
            <a:r>
              <a:t>Sources: Project 11 assignment brief and the repository experiment files. Dataset and models: results/dataset.json and models/*.json. Raw evaluation: results/evaluation.json, results/rollouts.csv. Timing: results/benchmark_rust.json and results/benchmark_numpy.json. API references: https://docs.rs/ndarray/0.17.2/ndarray/ ; https://docs.rs/eframe/0.33.3/eframe/ ; https://numpy.org/doc/stable/reference/global_state.html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frozen main model is evaluated on six thousand held-out transitions. Its angle RMSE is about 0.000274 radians and velocity RMSE about 0.000765 radians per second. Standardized error improves by 99.10 percent over persistence, exceeding our fifty-percent target. The main network also improves on Euler for this experiment. Nevertheless, RK4 is much more accurate, because it directly uses the known physical equation. These are local predictions from the real current state, so we must still test an autonomous rollout.</a:t>
            </a:r>
          </a:p>
          <a:p xmlns:a="http://schemas.openxmlformats.org/drawingml/2006/main">
            <a:r>
              <a:t/>
            </a:r>
          </a:p>
          <a:p xmlns:a="http://schemas.openxmlformats.org/drawingml/2006/main">
            <a:r>
              <a:t>Sources: Project 11 assignment brief and the repository experiment files. Dataset and models: results/dataset.json and models/*.json. Raw evaluation: results/evaluation.json, results/rollouts.csv. Timing: results/benchmark_rust.json and results/benchmark_numpy.json. API references: https://docs.rs/ndarray/0.17.2/ndarray/ ; https://docs.rs/eframe/0.33.3/eframe/ ; https://numpy.org/doc/stable/reference/global_state.html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 these plots the network receives the same initial state as the reference, then uses only its own previous output for five hundred steps. There is no teacher forcing or hidden reset. The left plot shows an unseen test trajectory within the initial-condition range. The right starts at 2.5 radians, outside that range. Its larger phase and amplitude discrepancy is a genuine failure of generalization. The GUI preserves this error and labels the unfamiliar initial state rather than correcting the model using reference physics.</a:t>
            </a:r>
          </a:p>
          <a:p xmlns:a="http://schemas.openxmlformats.org/drawingml/2006/main">
            <a:r>
              <a:t/>
            </a:r>
          </a:p>
          <a:p xmlns:a="http://schemas.openxmlformats.org/drawingml/2006/main">
            <a:r>
              <a:t>Sources: Project 11 assignment brief and the repository experiment files. Dataset and models: results/dataset.json and models/*.json. Raw evaluation: results/evaluation.json, results/rollouts.csv. Timing: results/benchmark_rust.json and results/benchmark_numpy.json. API references: https://docs.rs/ndarray/0.17.2/ndarray/ ; https://docs.rs/eframe/0.33.3/eframe/ ; https://numpy.org/doc/stable/reference/global_state.html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For the timing comparison, Rust and NumPy share the same float64 dataset, initial parameters and every batch permutation for fifty epochs. Each process warms up once, then runs five timed trials. Startup, data loading and validation are excluded. Median times are 1.056 seconds for Rust and 2.469 seconds for NumPy on this machine. Numerical parity agrees near floating-point roundoff. We report backend differences explicitly, including NumPy's OpenBLAS implementation, so this result is specific to the workload and does not prove a universal language-speed advantage.</a:t>
            </a:r>
          </a:p>
          <a:p xmlns:a="http://schemas.openxmlformats.org/drawingml/2006/main">
            <a:r>
              <a:t/>
            </a:r>
          </a:p>
          <a:p xmlns:a="http://schemas.openxmlformats.org/drawingml/2006/main">
            <a:r>
              <a:t>Sources: Project 11 assignment brief and the repository experiment files. Dataset and models: results/dataset.json and models/*.json. Raw evaluation: results/evaluation.json, results/rollouts.csv. Timing: results/benchmark_rust.json and results/benchmark_numpy.json. API references: https://docs.rs/ndarray/0.17.2/ndarray/ ; https://docs.rs/eframe/0.33.3/eframe/ ; https://numpy.org/doc/stable/reference/global_state.html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will now demonstrate the offline desktop lab. We will begin with a held-out initial state, pause and step through the motion, and inspect the time and phase plots. Next we will switch to the smaller network and compare its error. Finally, the high-angle preset shows where generalization deteriorates. Our conclusion is that a handwritten Rust network can learn a useful local transition map, while classical numerical solvers and explicit long-horizon tests remain essential. The next three minutes show these comparisons directly.</a:t>
            </a:r>
          </a:p>
          <a:p xmlns:a="http://schemas.openxmlformats.org/drawingml/2006/main">
            <a:r>
              <a:t/>
            </a:r>
          </a:p>
          <a:p xmlns:a="http://schemas.openxmlformats.org/drawingml/2006/main">
            <a:r>
              <a:t>Sources: Project 11 assignment brief and the repository experiment files. Dataset and models: results/dataset.json and models/*.json. Raw evaluation: results/evaluation.json, results/rollouts.csv. Timing: results/benchmark_rust.json and results/benchmark_numpy.json. API references: https://docs.rs/ndarray/0.17.2/ndarray/ ; https://docs.rs/eframe/0.33.3/eframe/ ; https://numpy.org/doc/stable/reference/global_state.html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this appendix for questions about shapes and loss scaling. Samples are rows. The factor 2/(B D) normalizes all scalar outputs. ReLU uses derivative zero at zero and is checked away from the kink. Both weights and biases pass central differences with epsilon 1e-6 and absolute tolerance 1e-7.</a:t>
            </a:r>
          </a:p>
          <a:p xmlns:a="http://schemas.openxmlformats.org/drawingml/2006/main">
            <a:r>
              <a:t/>
            </a:r>
          </a:p>
          <a:p xmlns:a="http://schemas.openxmlformats.org/drawingml/2006/main">
            <a:r>
              <a:t>Sources: Project 11 assignment brief and the repository experiment files. Dataset and models: results/dataset.json and models/*.json. Raw evaluation: results/evaluation.json, results/rollouts.csv. Timing: results/benchmark_rust.json and results/benchmark_numpy.json. API references: https://docs.rs/ndarray/0.17.2/ndarray/ ; https://docs.rs/eframe/0.33.3/eframe/ ; https://numpy.org/doc/stable/reference/global_state.html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this appendix for reproduction and scope questions. The model is a fixed-step discrete state-transition surrogate, not a PINN or a continuous learned vector field. Physical parameters are fixed. One seed and one OOD example do not establish broad generalization. No inference-speed advantage over RK4 was measured.</a:t>
            </a:r>
          </a:p>
          <a:p xmlns:a="http://schemas.openxmlformats.org/drawingml/2006/main">
            <a:r>
              <a:t/>
            </a:r>
          </a:p>
          <a:p xmlns:a="http://schemas.openxmlformats.org/drawingml/2006/main">
            <a:r>
              <a:t>Sources: Project 11 assignment brief and the repository experiment files. Dataset and models: results/dataset.json and models/*.json. Raw evaluation: results/evaluation.json, results/rollouts.csv. Timing: results/benchmark_rust.json and results/benchmark_numpy.json. API references: https://docs.rs/ndarray/0.17.2/ndarray/ ; https://docs.rs/eframe/0.33.3/eframe/ ; https://numpy.org/doc/stable/reference/global_state.html</a:t>
            </a:r>
          </a:p>
          <a:p xmlns:a="http://schemas.openxmlformats.org/drawingml/2006/main">
            <a:r>
              <a:t>Related primary research: Lagaris et al. (1998), doi:10.1109/72.712178; Chen et al. (2018), https://arxiv.org/abs/1806.07366 . These are distinct approaches, not the method implemented here.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ac08018f0b5c40af"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a2dbb6a8da734fdc"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f09d8e5f7216475b"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50507cc62d3c43a0"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ed88de01115b490d"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0c938fdef7434759"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9593A3F5-3D56-4AE4-BA79-5D2E6FB38F73}"/>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D2D019FA-7A57-4831-85E3-3FE04DD2A4A5}"/>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E431E062-414F-4EA8-9AB5-F05D0EAD2963}"/>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1F96D547-B358-4EB9-9963-1E73AE20D1A0}"/>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F9F7C92A-9F5D-444B-BBE4-60094B9147C0}"/>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4DE42435-D9F9-4ACB-BF9E-DD6BB7E0A0C5}"/>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0E7D40C3-5A66-438A-9600-EF04208EF0D6}"/>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CE5A0359-CD45-44EE-8E35-16FA525ED9B1}"/>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7A8A9969-AFCF-41E6-B1F2-9673CC6CBD5B}"/>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E5710723-DA01-40BE-8B38-077DF3F53943}"/>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066e92a9e0464a26" /><Relationship Type="http://schemas.openxmlformats.org/officeDocument/2006/relationships/slideLayout" Target="/ppt/slideLayouts/slideLayout1.xml" Id="Rf96871e0f67f40fd" /><Relationship Type="http://schemas.openxmlformats.org/officeDocument/2006/relationships/slideLayout" Target="/ppt/slideLayouts/slideLayout2.xml" Id="R0153f47588064a2b" /><Relationship Type="http://schemas.openxmlformats.org/officeDocument/2006/relationships/slideLayout" Target="/ppt/slideLayouts/slideLayout3.xml" Id="R9411a57e43d24eee" /><Relationship Type="http://schemas.openxmlformats.org/officeDocument/2006/relationships/slideLayout" Target="/ppt/slideLayouts/slideLayout4.xml" Id="R86ee0304a10a4cbc" /><Relationship Type="http://schemas.openxmlformats.org/officeDocument/2006/relationships/slideLayout" Target="/ppt/slideLayouts/slideLayout5.xml" Id="R2483b1904f3745d8" /><Relationship Type="http://schemas.openxmlformats.org/officeDocument/2006/relationships/slideLayout" Target="/ppt/slideLayouts/slideLayout6.xml" Id="R76f7e27be161419e"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f96871e0f67f40fd"/>
    <p:sldLayoutId xmlns:r="http://schemas.openxmlformats.org/officeDocument/2006/relationships" id="2147483650" r:id="R0153f47588064a2b"/>
    <p:sldLayoutId xmlns:r="http://schemas.openxmlformats.org/officeDocument/2006/relationships" id="2147483651" r:id="R9411a57e43d24eee"/>
    <p:sldLayoutId xmlns:r="http://schemas.openxmlformats.org/officeDocument/2006/relationships" id="2147483652" r:id="R86ee0304a10a4cbc"/>
    <p:sldLayoutId xmlns:r="http://schemas.openxmlformats.org/officeDocument/2006/relationships" id="2147483653" r:id="R2483b1904f3745d8"/>
    <p:sldLayoutId xmlns:r="http://schemas.openxmlformats.org/officeDocument/2006/relationships" id="2147483654" r:id="R76f7e27be161419e"/>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4febce61ec204047" /><Relationship Type="http://schemas.openxmlformats.org/officeDocument/2006/relationships/image" Target="/ppt/media/image.png" Id="R76f96aea077341ab" /><Relationship Type="http://schemas.openxmlformats.org/officeDocument/2006/relationships/notesSlide" Target="/ppt/notesSlides/notesSlide1.xml" Id="R7abdcecfd1f34146"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78c1f87972144c91" /><Relationship Type="http://schemas.openxmlformats.org/officeDocument/2006/relationships/notesSlide" Target="/ppt/notesSlides/notesSlide2.xml" Id="R8acd2bc0cb154183"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69f64f1443384b4a" /><Relationship Type="http://schemas.openxmlformats.org/officeDocument/2006/relationships/notesSlide" Target="/ppt/notesSlides/notesSlide3.xml" Id="Rd746b0763ccc419b"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15b1e68c586a4718" /><Relationship Type="http://schemas.openxmlformats.org/officeDocument/2006/relationships/notesSlide" Target="/ppt/notesSlides/notesSlide4.xml" Id="Ra511971f6bb54326"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4b0a5f316d844b51" /><Relationship Type="http://schemas.openxmlformats.org/officeDocument/2006/relationships/notesSlide" Target="/ppt/notesSlides/notesSlide5.xml" Id="Rd9472a5c0e77463e"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384c484bfde64822" /><Relationship Type="http://schemas.openxmlformats.org/officeDocument/2006/relationships/chart" Target="/ppt/slides/charts/chart1.xml" Id="Rb246c9c1b5364b33" /><Relationship Type="http://schemas.openxmlformats.org/officeDocument/2006/relationships/notesSlide" Target="/ppt/notesSlides/notesSlide6.xml" Id="Rfa832d7acf4f427b"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264eb9c022714322" /><Relationship Type="http://schemas.openxmlformats.org/officeDocument/2006/relationships/notesSlide" Target="/ppt/notesSlides/notesSlide7.xml" Id="R255553c0c1714f2d"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abeeab78612d4b30" /><Relationship Type="http://schemas.openxmlformats.org/officeDocument/2006/relationships/chart" Target="/ppt/slides/charts/chart2.xml" Id="R015b00ee62fa4b5a" /><Relationship Type="http://schemas.openxmlformats.org/officeDocument/2006/relationships/chart" Target="/ppt/slides/charts/chart3.xml" Id="R67a890b8e2244c10" /><Relationship Type="http://schemas.openxmlformats.org/officeDocument/2006/relationships/notesSlide" Target="/ppt/notesSlides/notesSlide8.xml" Id="R3a03c9ea81554711"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0d7f6a6aba4942d1" /><Relationship Type="http://schemas.openxmlformats.org/officeDocument/2006/relationships/chart" Target="/ppt/slides/charts/chart4.xml" Id="R634ec96fba1b44f5" /><Relationship Type="http://schemas.openxmlformats.org/officeDocument/2006/relationships/notesSlide" Target="/ppt/notesSlides/notesSlide9.xml" Id="R02821c804164473c"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28b3b3b534ee49f0" /><Relationship Type="http://schemas.openxmlformats.org/officeDocument/2006/relationships/image" Target="/ppt/media/image2.png" Id="Re0fb23e5f13f469c" /><Relationship Type="http://schemas.openxmlformats.org/officeDocument/2006/relationships/notesSlide" Target="/ppt/notesSlides/notesSlide10.xml" Id="Ra27f9d886a97473b"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d29fcfa2812a4b34" /><Relationship Type="http://schemas.openxmlformats.org/officeDocument/2006/relationships/notesSlide" Target="/ppt/notesSlides/notesSlide11.xml" Id="R89de1dea31a04768"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5b38df2b16fd4a87" /><Relationship Type="http://schemas.openxmlformats.org/officeDocument/2006/relationships/notesSlide" Target="/ppt/notesSlides/notesSlide12.xml" Id="R6e347c4529ea481a" /></Relationships>
</file>

<file path=ppt/slides/charts/chart1.xml><?xml version="1.0" encoding="utf-8"?>
<c:chartSpace xmlns:c="http://schemas.openxmlformats.org/drawingml/2006/chart">
  <c:lang val="en-US"/>
  <c:chart>
    <c:title>
      <c:tx>
        <c:rich>
          <a:bodyPr xmlns:a="http://schemas.openxmlformats.org/drawingml/2006/main"/>
          <a:lstStyle xmlns:a="http://schemas.openxmlformats.org/drawingml/2006/main"/>
          <a:p xmlns:a="http://schemas.openxmlformats.org/drawingml/2006/main">
            <a:r>
              <a:rPr sz="1800" b="1">
                <a:solidFill>
                  <a:srgbClr val="18202A"/>
                </a:solidFill>
                <a:latin typeface="Arial"/>
                <a:ea typeface="Arial"/>
                <a:cs typeface="Arial"/>
              </a:rPr>
              <a:t>Validation error</a:t>
            </a:r>
          </a:p>
        </c:rich>
      </c:tx>
      <c:overlay val="0"/>
      <c:txPr>
        <a:bodyPr xmlns:a="http://schemas.openxmlformats.org/drawingml/2006/main" anchorCtr="1"/>
        <a:lstStyle xmlns:a="http://schemas.openxmlformats.org/drawingml/2006/main"/>
        <a:p xmlns:a="http://schemas.openxmlformats.org/drawingml/2006/main">
          <a:pPr>
            <a:defRPr sz="1800" b="1">
              <a:solidFill>
                <a:srgbClr val="18202A"/>
              </a:solidFill>
              <a:latin typeface="Arial"/>
              <a:ea typeface="Arial"/>
              <a:cs typeface="Arial"/>
            </a:defRPr>
          </a:pPr>
        </a:p>
      </c:txPr>
    </c:title>
    <c:plotArea>
      <c:scatterChart>
        <c:scatterStyle val="line"/>
        <c:varyColors val="0"/>
        <c:ser>
          <c:idx val="0"/>
          <c:order val="0"/>
          <c:tx>
            <c:v>Main Tanh</c:v>
          </c:tx>
          <c:spPr>
            <a:ln xmlns:a="http://schemas.openxmlformats.org/drawingml/2006/main" w="23813">
              <a:solidFill>
                <a:srgbClr val="CB532C"/>
              </a:solidFill>
            </a:ln>
          </c:spPr>
          <c:marker>
            <c:symbol val="none"/>
          </c:marker>
          <c:xVal>
            <c:numLit>
              <c:formatCode>General</c:formatCode>
              <c:ptCount val="41"/>
              <c:pt idx="0">
                <c:v>0</c:v>
              </c:pt>
              <c:pt idx="1">
                <c:v>5</c:v>
              </c:pt>
              <c:pt idx="2">
                <c:v>10</c:v>
              </c:pt>
              <c:pt idx="3">
                <c:v>15</c:v>
              </c:pt>
              <c:pt idx="4">
                <c:v>20</c:v>
              </c:pt>
              <c:pt idx="5">
                <c:v>25</c:v>
              </c:pt>
              <c:pt idx="6">
                <c:v>30</c:v>
              </c:pt>
              <c:pt idx="7">
                <c:v>35</c:v>
              </c:pt>
              <c:pt idx="8">
                <c:v>40</c:v>
              </c:pt>
              <c:pt idx="9">
                <c:v>45</c:v>
              </c:pt>
              <c:pt idx="10">
                <c:v>50</c:v>
              </c:pt>
              <c:pt idx="11">
                <c:v>55</c:v>
              </c:pt>
              <c:pt idx="12">
                <c:v>60</c:v>
              </c:pt>
              <c:pt idx="13">
                <c:v>65</c:v>
              </c:pt>
              <c:pt idx="14">
                <c:v>70</c:v>
              </c:pt>
              <c:pt idx="15">
                <c:v>75</c:v>
              </c:pt>
              <c:pt idx="16">
                <c:v>80</c:v>
              </c:pt>
              <c:pt idx="17">
                <c:v>85</c:v>
              </c:pt>
              <c:pt idx="18">
                <c:v>90</c:v>
              </c:pt>
              <c:pt idx="19">
                <c:v>95</c:v>
              </c:pt>
              <c:pt idx="20">
                <c:v>100</c:v>
              </c:pt>
              <c:pt idx="21">
                <c:v>105</c:v>
              </c:pt>
              <c:pt idx="22">
                <c:v>110</c:v>
              </c:pt>
              <c:pt idx="23">
                <c:v>115</c:v>
              </c:pt>
              <c:pt idx="24">
                <c:v>120</c:v>
              </c:pt>
              <c:pt idx="25">
                <c:v>125</c:v>
              </c:pt>
              <c:pt idx="26">
                <c:v>130</c:v>
              </c:pt>
              <c:pt idx="27">
                <c:v>135</c:v>
              </c:pt>
              <c:pt idx="28">
                <c:v>140</c:v>
              </c:pt>
              <c:pt idx="29">
                <c:v>145</c:v>
              </c:pt>
              <c:pt idx="30">
                <c:v>150</c:v>
              </c:pt>
              <c:pt idx="31">
                <c:v>155</c:v>
              </c:pt>
              <c:pt idx="32">
                <c:v>160</c:v>
              </c:pt>
              <c:pt idx="33">
                <c:v>165</c:v>
              </c:pt>
              <c:pt idx="34">
                <c:v>170</c:v>
              </c:pt>
              <c:pt idx="35">
                <c:v>175</c:v>
              </c:pt>
              <c:pt idx="36">
                <c:v>180</c:v>
              </c:pt>
              <c:pt idx="37">
                <c:v>185</c:v>
              </c:pt>
              <c:pt idx="38">
                <c:v>190</c:v>
              </c:pt>
              <c:pt idx="39">
                <c:v>195</c:v>
              </c:pt>
              <c:pt idx="40">
                <c:v>200</c:v>
              </c:pt>
            </c:numLit>
          </c:xVal>
          <c:yVal>
            <c:numLit>
              <c:formatCode>General</c:formatCode>
              <c:ptCount val="41"/>
              <c:pt idx="0">
                <c:v>0.2533340008627097</c:v>
              </c:pt>
              <c:pt idx="1">
                <c:v>-2.5596479082543575</c:v>
              </c:pt>
              <c:pt idx="2">
                <c:v>-2.737153758944062</c:v>
              </c:pt>
              <c:pt idx="3">
                <c:v>-2.8686917360268613</c:v>
              </c:pt>
              <c:pt idx="4">
                <c:v>-2.9582077606448225</c:v>
              </c:pt>
              <c:pt idx="5">
                <c:v>-3.036112139845584</c:v>
              </c:pt>
              <c:pt idx="6">
                <c:v>-3.1009782972684032</c:v>
              </c:pt>
              <c:pt idx="7">
                <c:v>-3.167164668834245</c:v>
              </c:pt>
              <c:pt idx="8">
                <c:v>-3.2115334398956987</c:v>
              </c:pt>
              <c:pt idx="9">
                <c:v>-3.277224125092158</c:v>
              </c:pt>
              <c:pt idx="10">
                <c:v>-3.313249299015853</c:v>
              </c:pt>
              <c:pt idx="11">
                <c:v>-3.355588525290716</c:v>
              </c:pt>
              <c:pt idx="12">
                <c:v>-3.389901382909902</c:v>
              </c:pt>
              <c:pt idx="13">
                <c:v>-3.460239595267692</c:v>
              </c:pt>
              <c:pt idx="14">
                <c:v>-3.484990997786827</c:v>
              </c:pt>
              <c:pt idx="15">
                <c:v>-3.517894450767721</c:v>
              </c:pt>
              <c:pt idx="16">
                <c:v>-3.5624529281428097</c:v>
              </c:pt>
              <c:pt idx="17">
                <c:v>-3.588525124949182</c:v>
              </c:pt>
              <c:pt idx="18">
                <c:v>-3.622571725354636</c:v>
              </c:pt>
              <c:pt idx="19">
                <c:v>-3.666568734236867</c:v>
              </c:pt>
              <c:pt idx="20">
                <c:v>-3.675106800163195</c:v>
              </c:pt>
              <c:pt idx="21">
                <c:v>-3.729234857568784</c:v>
              </c:pt>
              <c:pt idx="22">
                <c:v>-3.7556906396033023</c:v>
              </c:pt>
              <c:pt idx="23">
                <c:v>-3.7955969307626085</c:v>
              </c:pt>
              <c:pt idx="24">
                <c:v>-3.8370177395193372</c:v>
              </c:pt>
              <c:pt idx="25">
                <c:v>-3.86522626881715</c:v>
              </c:pt>
              <c:pt idx="26">
                <c:v>-3.910112522543581</c:v>
              </c:pt>
              <c:pt idx="27">
                <c:v>-3.9519794988602097</c:v>
              </c:pt>
              <c:pt idx="28">
                <c:v>-3.9945250667547176</c:v>
              </c:pt>
              <c:pt idx="29">
                <c:v>-4.050023108329014</c:v>
              </c:pt>
              <c:pt idx="30">
                <c:v>-4.09189278734095</c:v>
              </c:pt>
              <c:pt idx="31">
                <c:v>-4.146796905552328</c:v>
              </c:pt>
              <c:pt idx="32">
                <c:v>-4.170305588154825</c:v>
              </c:pt>
              <c:pt idx="33">
                <c:v>-4.217542503036264</c:v>
              </c:pt>
              <c:pt idx="34">
                <c:v>-4.25540287153705</c:v>
              </c:pt>
              <c:pt idx="35">
                <c:v>-4.2919401347647375</c:v>
              </c:pt>
              <c:pt idx="36">
                <c:v>-4.340141213086078</c:v>
              </c:pt>
              <c:pt idx="37">
                <c:v>-4.3804689274368815</c:v>
              </c:pt>
              <c:pt idx="38">
                <c:v>-4.435661939393874</c:v>
              </c:pt>
              <c:pt idx="39">
                <c:v>-4.457759724004111</c:v>
              </c:pt>
              <c:pt idx="40">
                <c:v>-4.490834912892801</c:v>
              </c:pt>
            </c:numLit>
          </c:yVal>
        </c:ser>
        <c:ser>
          <c:idx val="1"/>
          <c:order val="1"/>
          <c:tx>
            <c:v>Tiny Sigmoid</c:v>
          </c:tx>
          <c:spPr>
            <a:ln xmlns:a="http://schemas.openxmlformats.org/drawingml/2006/main" w="23813">
              <a:solidFill>
                <a:srgbClr val="8B5AA4"/>
              </a:solidFill>
            </a:ln>
          </c:spPr>
          <c:marker>
            <c:symbol val="none"/>
          </c:marker>
          <c:xVal>
            <c:numLit>
              <c:formatCode>General</c:formatCode>
              <c:ptCount val="41"/>
              <c:pt idx="0">
                <c:v>0</c:v>
              </c:pt>
              <c:pt idx="1">
                <c:v>5</c:v>
              </c:pt>
              <c:pt idx="2">
                <c:v>10</c:v>
              </c:pt>
              <c:pt idx="3">
                <c:v>15</c:v>
              </c:pt>
              <c:pt idx="4">
                <c:v>20</c:v>
              </c:pt>
              <c:pt idx="5">
                <c:v>25</c:v>
              </c:pt>
              <c:pt idx="6">
                <c:v>30</c:v>
              </c:pt>
              <c:pt idx="7">
                <c:v>35</c:v>
              </c:pt>
              <c:pt idx="8">
                <c:v>40</c:v>
              </c:pt>
              <c:pt idx="9">
                <c:v>45</c:v>
              </c:pt>
              <c:pt idx="10">
                <c:v>50</c:v>
              </c:pt>
              <c:pt idx="11">
                <c:v>55</c:v>
              </c:pt>
              <c:pt idx="12">
                <c:v>60</c:v>
              </c:pt>
              <c:pt idx="13">
                <c:v>65</c:v>
              </c:pt>
              <c:pt idx="14">
                <c:v>70</c:v>
              </c:pt>
              <c:pt idx="15">
                <c:v>75</c:v>
              </c:pt>
              <c:pt idx="16">
                <c:v>80</c:v>
              </c:pt>
              <c:pt idx="17">
                <c:v>85</c:v>
              </c:pt>
              <c:pt idx="18">
                <c:v>90</c:v>
              </c:pt>
              <c:pt idx="19">
                <c:v>95</c:v>
              </c:pt>
              <c:pt idx="20">
                <c:v>100</c:v>
              </c:pt>
              <c:pt idx="21">
                <c:v>105</c:v>
              </c:pt>
              <c:pt idx="22">
                <c:v>110</c:v>
              </c:pt>
              <c:pt idx="23">
                <c:v>115</c:v>
              </c:pt>
              <c:pt idx="24">
                <c:v>120</c:v>
              </c:pt>
              <c:pt idx="25">
                <c:v>125</c:v>
              </c:pt>
              <c:pt idx="26">
                <c:v>130</c:v>
              </c:pt>
              <c:pt idx="27">
                <c:v>135</c:v>
              </c:pt>
              <c:pt idx="28">
                <c:v>140</c:v>
              </c:pt>
              <c:pt idx="29">
                <c:v>145</c:v>
              </c:pt>
              <c:pt idx="30">
                <c:v>150</c:v>
              </c:pt>
              <c:pt idx="31">
                <c:v>155</c:v>
              </c:pt>
              <c:pt idx="32">
                <c:v>160</c:v>
              </c:pt>
              <c:pt idx="33">
                <c:v>165</c:v>
              </c:pt>
              <c:pt idx="34">
                <c:v>170</c:v>
              </c:pt>
              <c:pt idx="35">
                <c:v>175</c:v>
              </c:pt>
              <c:pt idx="36">
                <c:v>180</c:v>
              </c:pt>
              <c:pt idx="37">
                <c:v>185</c:v>
              </c:pt>
              <c:pt idx="38">
                <c:v>190</c:v>
              </c:pt>
              <c:pt idx="39">
                <c:v>195</c:v>
              </c:pt>
              <c:pt idx="40">
                <c:v>200</c:v>
              </c:pt>
            </c:numLit>
          </c:xVal>
          <c:yVal>
            <c:numLit>
              <c:formatCode>General</c:formatCode>
              <c:ptCount val="41"/>
              <c:pt idx="0">
                <c:v>-0.03616533065213815</c:v>
              </c:pt>
              <c:pt idx="1">
                <c:v>-0.6269497555881327</c:v>
              </c:pt>
              <c:pt idx="2">
                <c:v>-1.3233371462088104</c:v>
              </c:pt>
              <c:pt idx="3">
                <c:v>-1.6049788276414672</c:v>
              </c:pt>
              <c:pt idx="4">
                <c:v>-1.6910065167200135</c:v>
              </c:pt>
              <c:pt idx="5">
                <c:v>-1.7753311185056053</c:v>
              </c:pt>
              <c:pt idx="6">
                <c:v>-1.8577337649485728</c:v>
              </c:pt>
              <c:pt idx="7">
                <c:v>-1.9339484521219</c:v>
              </c:pt>
              <c:pt idx="8">
                <c:v>-2.003996356292758</c:v>
              </c:pt>
              <c:pt idx="9">
                <c:v>-2.0677602499617325</c:v>
              </c:pt>
              <c:pt idx="10">
                <c:v>-2.126128634891775</c:v>
              </c:pt>
              <c:pt idx="11">
                <c:v>-2.1801824573056674</c:v>
              </c:pt>
              <c:pt idx="12">
                <c:v>-2.230108389878284</c:v>
              </c:pt>
              <c:pt idx="13">
                <c:v>-2.276196673669487</c:v>
              </c:pt>
              <c:pt idx="14">
                <c:v>-2.3186398457344652</c:v>
              </c:pt>
              <c:pt idx="15">
                <c:v>-2.357563368980115</c:v>
              </c:pt>
              <c:pt idx="16">
                <c:v>-2.3932160313086532</c:v>
              </c:pt>
              <c:pt idx="17">
                <c:v>-2.425845995402378</c:v>
              </c:pt>
              <c:pt idx="18">
                <c:v>-2.4558678639365157</c:v>
              </c:pt>
              <c:pt idx="19">
                <c:v>-2.483283347332742</c:v>
              </c:pt>
              <c:pt idx="20">
                <c:v>-2.507307895174833</c:v>
              </c:pt>
              <c:pt idx="21">
                <c:v>-2.5308029968052805</c:v>
              </c:pt>
              <c:pt idx="22">
                <c:v>-2.5505701009664947</c:v>
              </c:pt>
              <c:pt idx="23">
                <c:v>-2.5698997617734</c:v>
              </c:pt>
              <c:pt idx="24">
                <c:v>-2.5870477109484127</c:v>
              </c:pt>
              <c:pt idx="25">
                <c:v>-2.602594392648064</c:v>
              </c:pt>
              <c:pt idx="26">
                <c:v>-2.6169016301140196</c:v>
              </c:pt>
              <c:pt idx="27">
                <c:v>-2.6307937070323133</c:v>
              </c:pt>
              <c:pt idx="28">
                <c:v>-2.643272436678362</c:v>
              </c:pt>
              <c:pt idx="29">
                <c:v>-2.6555754712682513</c:v>
              </c:pt>
              <c:pt idx="30">
                <c:v>-2.666297161521322</c:v>
              </c:pt>
              <c:pt idx="31">
                <c:v>-2.6772617120922053</c:v>
              </c:pt>
              <c:pt idx="32">
                <c:v>-2.6867133509491916</c:v>
              </c:pt>
              <c:pt idx="33">
                <c:v>-2.696614192017593</c:v>
              </c:pt>
              <c:pt idx="34">
                <c:v>-2.7056130283717077</c:v>
              </c:pt>
              <c:pt idx="35">
                <c:v>-2.714167613176463</c:v>
              </c:pt>
              <c:pt idx="36">
                <c:v>-2.7235023506204623</c:v>
              </c:pt>
              <c:pt idx="37">
                <c:v>-2.730689590795301</c:v>
              </c:pt>
              <c:pt idx="38">
                <c:v>-2.740157125603485</c:v>
              </c:pt>
              <c:pt idx="39">
                <c:v>-2.746863421936574</c:v>
              </c:pt>
              <c:pt idx="40">
                <c:v>-2.755564684015878</c:v>
              </c:pt>
            </c:numLit>
          </c:y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1"/>
          <c:min val="-5"/>
        </c:scaling>
        <c:delete val="0"/>
        <c:axPos val="l"/>
        <c:majorGridlines>
          <c:spPr>
            <a:ln xmlns:a="http://schemas.openxmlformats.org/drawingml/2006/main" w="9525">
              <a:solidFill>
                <a:srgbClr val="E4E8EC"/>
              </a:solidFill>
            </a:ln>
          </c:spPr>
        </c:majorGridlines>
        <c:title>
          <c:tx>
            <c:rich>
              <a:bodyPr xmlns:a="http://schemas.openxmlformats.org/drawingml/2006/main"/>
              <a:lstStyle xmlns:a="http://schemas.openxmlformats.org/drawingml/2006/main"/>
              <a:p xmlns:a="http://schemas.openxmlformats.org/drawingml/2006/main">
                <a:r>
                  <a:rPr sz="1500">
                    <a:solidFill>
                      <a:srgbClr val="18202A"/>
                    </a:solidFill>
                    <a:latin typeface="Arial"/>
                    <a:ea typeface="Arial"/>
                    <a:cs typeface="Arial"/>
                  </a:rPr>
                  <a:t>Log10 standardized MSE</a:t>
                </a:r>
              </a:p>
            </c:rich>
          </c:tx>
          <c:overlay val="0"/>
          <c:txPr>
            <a:bodyPr xmlns:a="http://schemas.openxmlformats.org/drawingml/2006/main" anchorCtr="1"/>
            <a:lstStyle xmlns:a="http://schemas.openxmlformats.org/drawingml/2006/main"/>
            <a:p xmlns:a="http://schemas.openxmlformats.org/drawingml/2006/main">
              <a:pPr>
                <a:defRPr sz="1500">
                  <a:solidFill>
                    <a:srgbClr val="18202A"/>
                  </a:solidFill>
                  <a:latin typeface="Arial"/>
                  <a:ea typeface="Arial"/>
                  <a:cs typeface="Arial"/>
                </a:defRPr>
              </a:pPr>
            </a:p>
          </c:txPr>
        </c:title>
        <c:numFmt formatCode="General"/>
        <c:majorTickMark val="none"/>
        <c:minorTickMark val="none"/>
        <c:spPr>
          <a:ln xmlns:a="http://schemas.openxmlformats.org/drawingml/2006/main" w="9525">
            <a:solidFill>
              <a:srgbClr val="A6AFB9"/>
            </a:solidFill>
          </a:ln>
        </c:spPr>
        <c:txPr>
          <a:bodyPr xmlns:a="http://schemas.openxmlformats.org/drawingml/2006/main" anchorCtr="1"/>
          <a:lstStyle xmlns:a="http://schemas.openxmlformats.org/drawingml/2006/main"/>
          <a:p xmlns:a="http://schemas.openxmlformats.org/drawingml/2006/main">
            <a:pPr>
              <a:defRPr sz="1350">
                <a:solidFill>
                  <a:srgbClr val="535E6C"/>
                </a:solidFill>
                <a:latin typeface="Arial"/>
                <a:ea typeface="Arial"/>
                <a:cs typeface="Arial"/>
              </a:defRPr>
            </a:pPr>
          </a:p>
        </c:txPr>
        <c:crossAx val="48650112"/>
        <c:majorUnit val="1"/>
      </c:valAx>
      <c:valAx>
        <c:axId val="48650112"/>
        <c:scaling>
          <c:orientation val="minMax"/>
          <c:max val="200"/>
          <c:min val="0"/>
        </c:scaling>
        <c:delete val="0"/>
        <c:axPos val="b"/>
        <c:majorGridlines>
          <c:spPr>
            <a:ln xmlns:a="http://schemas.openxmlformats.org/drawingml/2006/main" w="9525">
              <a:solidFill>
                <a:srgbClr val="E4E8EC"/>
              </a:solidFill>
            </a:ln>
          </c:spPr>
        </c:majorGridlines>
        <c:title>
          <c:tx>
            <c:rich>
              <a:bodyPr xmlns:a="http://schemas.openxmlformats.org/drawingml/2006/main"/>
              <a:lstStyle xmlns:a="http://schemas.openxmlformats.org/drawingml/2006/main"/>
              <a:p xmlns:a="http://schemas.openxmlformats.org/drawingml/2006/main">
                <a:r>
                  <a:rPr sz="1500">
                    <a:solidFill>
                      <a:srgbClr val="18202A"/>
                    </a:solidFill>
                    <a:latin typeface="Arial"/>
                    <a:ea typeface="Arial"/>
                    <a:cs typeface="Arial"/>
                  </a:rPr>
                  <a:t>Epoch</a:t>
                </a:r>
              </a:p>
            </c:rich>
          </c:tx>
          <c:overlay val="0"/>
          <c:txPr>
            <a:bodyPr xmlns:a="http://schemas.openxmlformats.org/drawingml/2006/main" anchorCtr="1"/>
            <a:lstStyle xmlns:a="http://schemas.openxmlformats.org/drawingml/2006/main"/>
            <a:p xmlns:a="http://schemas.openxmlformats.org/drawingml/2006/main">
              <a:pPr>
                <a:defRPr sz="1500">
                  <a:solidFill>
                    <a:srgbClr val="18202A"/>
                  </a:solidFill>
                  <a:latin typeface="Arial"/>
                  <a:ea typeface="Arial"/>
                  <a:cs typeface="Arial"/>
                </a:defRPr>
              </a:pPr>
            </a:p>
          </c:txPr>
        </c:title>
        <c:numFmt formatCode="General"/>
        <c:majorTickMark val="none"/>
        <c:minorTickMark val="none"/>
        <c:tickLblPos val="low"/>
        <c:spPr>
          <a:ln xmlns:a="http://schemas.openxmlformats.org/drawingml/2006/main" w="9525">
            <a:solidFill>
              <a:srgbClr val="A6AFB9"/>
            </a:solidFill>
          </a:ln>
        </c:spPr>
        <c:txPr>
          <a:bodyPr xmlns:a="http://schemas.openxmlformats.org/drawingml/2006/main" anchorCtr="1"/>
          <a:lstStyle xmlns:a="http://schemas.openxmlformats.org/drawingml/2006/main"/>
          <a:p xmlns:a="http://schemas.openxmlformats.org/drawingml/2006/main">
            <a:pPr>
              <a:defRPr sz="1350">
                <a:solidFill>
                  <a:srgbClr val="535E6C"/>
                </a:solidFill>
                <a:latin typeface="Arial"/>
                <a:ea typeface="Arial"/>
                <a:cs typeface="Arial"/>
              </a:defRPr>
            </a:pPr>
          </a:p>
        </c:txPr>
        <c:crossAx val="48672768"/>
        <c:majorUnit val="40"/>
      </c:valAx>
      <c:spPr>
        <a:solidFill xmlns:a="http://schemas.openxmlformats.org/drawingml/2006/main">
          <a:srgbClr val="FFFFFF"/>
        </a:solidFill>
      </c:spPr>
    </c:plotArea>
    <c:legend>
      <c:legendPos val="b"/>
      <c:overlay val="0"/>
      <c:txPr>
        <a:bodyPr xmlns:a="http://schemas.openxmlformats.org/drawingml/2006/main" anchorCtr="1"/>
        <a:lstStyle xmlns:a="http://schemas.openxmlformats.org/drawingml/2006/main"/>
        <a:p xmlns:a="http://schemas.openxmlformats.org/drawingml/2006/main">
          <a:pPr>
            <a:defRPr sz="1425">
              <a:solidFill>
                <a:srgbClr val="18202A"/>
              </a:solidFill>
              <a:latin typeface="Arial"/>
              <a:ea typeface="Arial"/>
              <a:cs typeface="Arial"/>
            </a:defRPr>
          </a:pPr>
        </a:p>
      </c:txPr>
    </c:legend>
    <c:plotVisOnly val="1"/>
  </c:chart>
  <c:spPr>
    <a:solidFill xmlns:a="http://schemas.openxmlformats.org/drawingml/2006/main">
      <a:srgbClr val="FFFFFF"/>
    </a:solidFill>
  </c:spPr>
</c:chartSpace>
</file>

<file path=ppt/slides/charts/chart2.xml><?xml version="1.0" encoding="utf-8"?>
<c:chartSpace xmlns:c="http://schemas.openxmlformats.org/drawingml/2006/chart">
  <c:lang val="en-US"/>
  <c:chart>
    <c:title>
      <c:tx>
        <c:rich>
          <a:bodyPr xmlns:a="http://schemas.openxmlformats.org/drawingml/2006/main"/>
          <a:lstStyle xmlns:a="http://schemas.openxmlformats.org/drawingml/2006/main"/>
          <a:p xmlns:a="http://schemas.openxmlformats.org/drawingml/2006/main">
            <a:r>
              <a:rPr sz="1800" b="1">
                <a:solidFill>
                  <a:srgbClr val="18202A"/>
                </a:solidFill>
                <a:latin typeface="Arial"/>
                <a:ea typeface="Arial"/>
                <a:cs typeface="Arial"/>
              </a:rPr>
              <a:t>Held-out trajectory 74</a:t>
            </a:r>
          </a:p>
        </c:rich>
      </c:tx>
      <c:overlay val="0"/>
      <c:txPr>
        <a:bodyPr xmlns:a="http://schemas.openxmlformats.org/drawingml/2006/main" anchorCtr="1"/>
        <a:lstStyle xmlns:a="http://schemas.openxmlformats.org/drawingml/2006/main"/>
        <a:p xmlns:a="http://schemas.openxmlformats.org/drawingml/2006/main">
          <a:pPr>
            <a:defRPr sz="1800" b="1">
              <a:solidFill>
                <a:srgbClr val="18202A"/>
              </a:solidFill>
              <a:latin typeface="Arial"/>
              <a:ea typeface="Arial"/>
              <a:cs typeface="Arial"/>
            </a:defRPr>
          </a:pPr>
        </a:p>
      </c:txPr>
    </c:title>
    <c:plotArea>
      <c:scatterChart>
        <c:scatterStyle val="line"/>
        <c:varyColors val="0"/>
        <c:ser>
          <c:idx val="0"/>
          <c:order val="0"/>
          <c:tx>
            <c:v>RK4 reference</c:v>
          </c:tx>
          <c:spPr>
            <a:ln xmlns:a="http://schemas.openxmlformats.org/drawingml/2006/main" w="23813">
              <a:solidFill>
                <a:srgbClr val="245BC2"/>
              </a:solidFill>
            </a:ln>
          </c:spPr>
          <c:marker>
            <c:symbol val="none"/>
          </c:marker>
          <c:xVal>
            <c:numLit>
              <c:formatCode>General</c:formatCode>
              <c:ptCount val="101"/>
              <c:pt idx="0">
                <c:v>0</c:v>
              </c:pt>
              <c:pt idx="1">
                <c:v>0.1</c:v>
              </c:pt>
              <c:pt idx="2">
                <c:v>0.2</c:v>
              </c:pt>
              <c:pt idx="3">
                <c:v>0.3</c:v>
              </c:pt>
              <c:pt idx="4">
                <c:v>0.4</c:v>
              </c:pt>
              <c:pt idx="5">
                <c:v>0.5</c:v>
              </c:pt>
              <c:pt idx="6">
                <c:v>0.6</c:v>
              </c:pt>
              <c:pt idx="7">
                <c:v>0.7000000000000001</c:v>
              </c:pt>
              <c:pt idx="8">
                <c:v>0.8</c:v>
              </c:pt>
              <c:pt idx="9">
                <c:v>0.9</c:v>
              </c:pt>
              <c:pt idx="10">
                <c:v>1</c:v>
              </c:pt>
              <c:pt idx="11">
                <c:v>1.1</c:v>
              </c:pt>
              <c:pt idx="12">
                <c:v>1.2</c:v>
              </c:pt>
              <c:pt idx="13">
                <c:v>1.3</c:v>
              </c:pt>
              <c:pt idx="14">
                <c:v>1.4000000000000001</c:v>
              </c:pt>
              <c:pt idx="15">
                <c:v>1.5</c:v>
              </c:pt>
              <c:pt idx="16">
                <c:v>1.6</c:v>
              </c:pt>
              <c:pt idx="17">
                <c:v>1.7</c:v>
              </c:pt>
              <c:pt idx="18">
                <c:v>1.8</c:v>
              </c:pt>
              <c:pt idx="19">
                <c:v>1.9000000000000001</c:v>
              </c:pt>
              <c:pt idx="20">
                <c:v>2</c:v>
              </c:pt>
              <c:pt idx="21">
                <c:v>2.1</c:v>
              </c:pt>
              <c:pt idx="22">
                <c:v>2.2</c:v>
              </c:pt>
              <c:pt idx="23">
                <c:v>2.3000000000000003</c:v>
              </c:pt>
              <c:pt idx="24">
                <c:v>2.4</c:v>
              </c:pt>
              <c:pt idx="25">
                <c:v>2.5</c:v>
              </c:pt>
              <c:pt idx="26">
                <c:v>2.6</c:v>
              </c:pt>
              <c:pt idx="27">
                <c:v>2.7</c:v>
              </c:pt>
              <c:pt idx="28">
                <c:v>2.8000000000000003</c:v>
              </c:pt>
              <c:pt idx="29">
                <c:v>2.9</c:v>
              </c:pt>
              <c:pt idx="30">
                <c:v>3</c:v>
              </c:pt>
              <c:pt idx="31">
                <c:v>3.1</c:v>
              </c:pt>
              <c:pt idx="32">
                <c:v>3.2</c:v>
              </c:pt>
              <c:pt idx="33">
                <c:v>3.3000000000000003</c:v>
              </c:pt>
              <c:pt idx="34">
                <c:v>3.4</c:v>
              </c:pt>
              <c:pt idx="35">
                <c:v>3.5</c:v>
              </c:pt>
              <c:pt idx="36">
                <c:v>3.6</c:v>
              </c:pt>
              <c:pt idx="37">
                <c:v>3.7</c:v>
              </c:pt>
              <c:pt idx="38">
                <c:v>3.8000000000000003</c:v>
              </c:pt>
              <c:pt idx="39">
                <c:v>3.9</c:v>
              </c:pt>
              <c:pt idx="40">
                <c:v>4</c:v>
              </c:pt>
              <c:pt idx="41">
                <c:v>4.1</c:v>
              </c:pt>
              <c:pt idx="42">
                <c:v>4.2</c:v>
              </c:pt>
              <c:pt idx="43">
                <c:v>4.3</c:v>
              </c:pt>
              <c:pt idx="44">
                <c:v>4.4</c:v>
              </c:pt>
              <c:pt idx="45">
                <c:v>4.5</c:v>
              </c:pt>
              <c:pt idx="46">
                <c:v>4.6000000000000005</c:v>
              </c:pt>
              <c:pt idx="47">
                <c:v>4.7</c:v>
              </c:pt>
              <c:pt idx="48">
                <c:v>4.8</c:v>
              </c:pt>
              <c:pt idx="49">
                <c:v>4.9</c:v>
              </c:pt>
              <c:pt idx="50">
                <c:v>5</c:v>
              </c:pt>
              <c:pt idx="51">
                <c:v>5.1000000000000005</c:v>
              </c:pt>
              <c:pt idx="52">
                <c:v>5.2</c:v>
              </c:pt>
              <c:pt idx="53">
                <c:v>5.3</c:v>
              </c:pt>
              <c:pt idx="54">
                <c:v>5.4</c:v>
              </c:pt>
              <c:pt idx="55">
                <c:v>5.5</c:v>
              </c:pt>
              <c:pt idx="56">
                <c:v>5.6000000000000005</c:v>
              </c:pt>
              <c:pt idx="57">
                <c:v>5.7</c:v>
              </c:pt>
              <c:pt idx="58">
                <c:v>5.8</c:v>
              </c:pt>
              <c:pt idx="59">
                <c:v>5.9</c:v>
              </c:pt>
              <c:pt idx="60">
                <c:v>6</c:v>
              </c:pt>
              <c:pt idx="61">
                <c:v>6.1000000000000005</c:v>
              </c:pt>
              <c:pt idx="62">
                <c:v>6.2</c:v>
              </c:pt>
              <c:pt idx="63">
                <c:v>6.3</c:v>
              </c:pt>
              <c:pt idx="64">
                <c:v>6.4</c:v>
              </c:pt>
              <c:pt idx="65">
                <c:v>6.5</c:v>
              </c:pt>
              <c:pt idx="66">
                <c:v>6.6000000000000005</c:v>
              </c:pt>
              <c:pt idx="67">
                <c:v>6.7</c:v>
              </c:pt>
              <c:pt idx="68">
                <c:v>6.8</c:v>
              </c:pt>
              <c:pt idx="69">
                <c:v>6.9</c:v>
              </c:pt>
              <c:pt idx="70">
                <c:v>7</c:v>
              </c:pt>
              <c:pt idx="71">
                <c:v>7.1000000000000005</c:v>
              </c:pt>
              <c:pt idx="72">
                <c:v>7.2</c:v>
              </c:pt>
              <c:pt idx="73">
                <c:v>7.3</c:v>
              </c:pt>
              <c:pt idx="74">
                <c:v>7.4</c:v>
              </c:pt>
              <c:pt idx="75">
                <c:v>7.5</c:v>
              </c:pt>
              <c:pt idx="76">
                <c:v>7.6000000000000005</c:v>
              </c:pt>
              <c:pt idx="77">
                <c:v>7.7</c:v>
              </c:pt>
              <c:pt idx="78">
                <c:v>7.8</c:v>
              </c:pt>
              <c:pt idx="79">
                <c:v>7.9</c:v>
              </c:pt>
              <c:pt idx="80">
                <c:v>8</c:v>
              </c:pt>
              <c:pt idx="81">
                <c:v>8.1</c:v>
              </c:pt>
              <c:pt idx="82">
                <c:v>8.2</c:v>
              </c:pt>
              <c:pt idx="83">
                <c:v>8.3</c:v>
              </c:pt>
              <c:pt idx="84">
                <c:v>8.4</c:v>
              </c:pt>
              <c:pt idx="85">
                <c:v>8.5</c:v>
              </c:pt>
              <c:pt idx="86">
                <c:v>8.6</c:v>
              </c:pt>
              <c:pt idx="87">
                <c:v>8.700000000000001</c:v>
              </c:pt>
              <c:pt idx="88">
                <c:v>8.8</c:v>
              </c:pt>
              <c:pt idx="89">
                <c:v>8.9</c:v>
              </c:pt>
              <c:pt idx="90">
                <c:v>9</c:v>
              </c:pt>
              <c:pt idx="91">
                <c:v>9.1</c:v>
              </c:pt>
              <c:pt idx="92">
                <c:v>9.200000000000001</c:v>
              </c:pt>
              <c:pt idx="93">
                <c:v>9.3</c:v>
              </c:pt>
              <c:pt idx="94">
                <c:v>9.4</c:v>
              </c:pt>
              <c:pt idx="95">
                <c:v>9.5</c:v>
              </c:pt>
              <c:pt idx="96">
                <c:v>9.6</c:v>
              </c:pt>
              <c:pt idx="97">
                <c:v>9.700000000000001</c:v>
              </c:pt>
              <c:pt idx="98">
                <c:v>9.8</c:v>
              </c:pt>
              <c:pt idx="99">
                <c:v>9.9</c:v>
              </c:pt>
              <c:pt idx="100">
                <c:v>10</c:v>
              </c:pt>
            </c:numLit>
          </c:xVal>
          <c:yVal>
            <c:numLit>
              <c:formatCode>General</c:formatCode>
              <c:ptCount val="101"/>
              <c:pt idx="0">
                <c:v>1.4007262261434965</c:v>
              </c:pt>
              <c:pt idx="1">
                <c:v>1.209545695181269</c:v>
              </c:pt>
              <c:pt idx="2">
                <c:v>0.9296477218691152</c:v>
              </c:pt>
              <c:pt idx="3">
                <c:v>0.5753465709163106</c:v>
              </c:pt>
              <c:pt idx="4">
                <c:v>0.1724528910198669</c:v>
              </c:pt>
              <c:pt idx="5">
                <c:v>-0.24281515150925714</c:v>
              </c:pt>
              <c:pt idx="6">
                <c:v>-0.630979888589777</c:v>
              </c:pt>
              <c:pt idx="7">
                <c:v>-0.9586886028134849</c:v>
              </c:pt>
              <c:pt idx="8">
                <c:v>-1.2041704671960078</c:v>
              </c:pt>
              <c:pt idx="9">
                <c:v>-1.356658303126102</c:v>
              </c:pt>
              <c:pt idx="10">
                <c:v>-1.412506028203087</c:v>
              </c:pt>
              <c:pt idx="11">
                <c:v>-1.3715393352855145</c:v>
              </c:pt>
              <c:pt idx="12">
                <c:v>-1.2355250638774358</c:v>
              </c:pt>
              <c:pt idx="13">
                <c:v>-1.009193984374174</c:v>
              </c:pt>
              <c:pt idx="14">
                <c:v>-0.7033462286656489</c:v>
              </c:pt>
              <c:pt idx="15">
                <c:v>-0.3383928146347807</c:v>
              </c:pt>
              <c:pt idx="16">
                <c:v>0.054698485004412906</c:v>
              </c:pt>
              <c:pt idx="17">
                <c:v>0.4386512858973681</c:v>
              </c:pt>
              <c:pt idx="18">
                <c:v>0.7780809773448092</c:v>
              </c:pt>
              <c:pt idx="19">
                <c:v>1.046543516853524</c:v>
              </c:pt>
              <c:pt idx="20">
                <c:v>1.2285389837844818</c:v>
              </c:pt>
              <c:pt idx="21">
                <c:v>1.3171722937318002</c:v>
              </c:pt>
              <c:pt idx="22">
                <c:v>1.3106491110578848</c:v>
              </c:pt>
              <c:pt idx="23">
                <c:v>1.2100919148866998</c:v>
              </c:pt>
              <c:pt idx="24">
                <c:v>1.0196361997298449</c:v>
              </c:pt>
              <c:pt idx="25">
                <c:v>0.7486470293807181</c:v>
              </c:pt>
              <c:pt idx="26">
                <c:v>0.41481880007007793</c:v>
              </c:pt>
              <c:pt idx="27">
                <c:v>0.04566917895636411</c:v>
              </c:pt>
              <c:pt idx="28">
                <c:v>-0.32417648101736013</c:v>
              </c:pt>
              <c:pt idx="29">
                <c:v>-0.6598101760939658</c:v>
              </c:pt>
              <c:pt idx="30">
                <c:v>-0.9331182766245548</c:v>
              </c:pt>
              <c:pt idx="31">
                <c:v>-1.1260167462412054</c:v>
              </c:pt>
              <c:pt idx="32">
                <c:v>-1.2293574874226143</c:v>
              </c:pt>
              <c:pt idx="33">
                <c:v>-1.239976329845057</c:v>
              </c:pt>
              <c:pt idx="34">
                <c:v>-1.1584323938650694</c:v>
              </c:pt>
              <c:pt idx="35">
                <c:v>-0.9886870585950176</c:v>
              </c:pt>
              <c:pt idx="36">
                <c:v>-0.7397630423785317</c:v>
              </c:pt>
              <c:pt idx="37">
                <c:v>-0.4283423048459784</c:v>
              </c:pt>
              <c:pt idx="38">
                <c:v>-0.08014284668417329</c:v>
              </c:pt>
              <c:pt idx="39">
                <c:v>0.27226316068825757</c:v>
              </c:pt>
              <c:pt idx="40">
                <c:v>0.5953673995034932</c:v>
              </c:pt>
              <c:pt idx="41">
                <c:v>0.8612790480014929</c:v>
              </c:pt>
              <c:pt idx="42">
                <c:v>1.0512055501398283</c:v>
              </c:pt>
              <c:pt idx="43">
                <c:v>1.1550137841788322</c:v>
              </c:pt>
              <c:pt idx="44">
                <c:v>1.1688204143147984</c:v>
              </c:pt>
              <c:pt idx="45">
                <c:v>1.0929593812127347</c:v>
              </c:pt>
              <c:pt idx="46">
                <c:v>0.9316076675543006</c:v>
              </c:pt>
              <c:pt idx="47">
                <c:v>0.6941649591568634</c:v>
              </c:pt>
              <c:pt idx="48">
                <c:v>0.39740189576932144</c:v>
              </c:pt>
              <c:pt idx="49">
                <c:v>0.06640676043374318</c:v>
              </c:pt>
              <c:pt idx="50">
                <c:v>-0.26765985278462145</c:v>
              </c:pt>
              <c:pt idx="51">
                <c:v>-0.573007802349991</c:v>
              </c:pt>
              <c:pt idx="52">
                <c:v>-0.8230982134188137</c:v>
              </c:pt>
              <c:pt idx="53">
                <c:v>-0.9997965867605872</c:v>
              </c:pt>
              <c:pt idx="54">
                <c:v>-1.0931016839897318</c:v>
              </c:pt>
              <c:pt idx="55">
                <c:v>-1.0991425826275771</c:v>
              </c:pt>
              <c:pt idx="56">
                <c:v>-1.0185077074948474</c:v>
              </c:pt>
              <c:pt idx="57">
                <c:v>-0.8560390758399008</c:v>
              </c:pt>
              <c:pt idx="58">
                <c:v>-0.6221042293116656</c:v>
              </c:pt>
              <c:pt idx="59">
                <c:v>-0.3343142243037959</c:v>
              </c:pt>
              <c:pt idx="60">
                <c:v>-0.01784878794858668</c:v>
              </c:pt>
              <c:pt idx="61">
                <c:v>0.297180994242179</c:v>
              </c:pt>
              <c:pt idx="62">
                <c:v>0.5809278937897532</c:v>
              </c:pt>
              <c:pt idx="63">
                <c:v>0.8089394174244369</c:v>
              </c:pt>
              <c:pt idx="64">
                <c:v>0.9646713976994143</c:v>
              </c:pt>
              <c:pt idx="65">
                <c:v>1.039096374718404</c:v>
              </c:pt>
              <c:pt idx="66">
                <c:v>1.0290055521525767</c:v>
              </c:pt>
              <c:pt idx="67">
                <c:v>0.9357586990978835</c:v>
              </c:pt>
              <c:pt idx="68">
                <c:v>0.7653559292951799</c:v>
              </c:pt>
              <c:pt idx="69">
                <c:v>0.5296563078658965</c:v>
              </c:pt>
              <c:pt idx="70">
                <c:v>0.24760743030237561</c:v>
              </c:pt>
              <c:pt idx="71">
                <c:v>-0.05519918027939744</c:v>
              </c:pt>
              <c:pt idx="72">
                <c:v>-0.3496907939449752</c:v>
              </c:pt>
              <c:pt idx="73">
                <c:v>-0.6082778953363661</c:v>
              </c:pt>
              <c:pt idx="74">
                <c:v>-0.8091302624828645</c:v>
              </c:pt>
              <c:pt idx="75">
                <c:v>-0.9379039778826095</c:v>
              </c:pt>
              <c:pt idx="76">
                <c:v>-0.9871261851875833</c:v>
              </c:pt>
              <c:pt idx="77">
                <c:v>-0.954778697808102</c:v>
              </c:pt>
              <c:pt idx="78">
                <c:v>-0.8434983005016035</c:v>
              </c:pt>
              <c:pt idx="79">
                <c:v>-0.6609418106429207</c:v>
              </c:pt>
              <c:pt idx="80">
                <c:v>-0.4208918820478012</c:v>
              </c:pt>
              <c:pt idx="81">
                <c:v>-0.14386749571265856</c:v>
              </c:pt>
              <c:pt idx="82">
                <c:v>0.14418944262568953</c:v>
              </c:pt>
              <c:pt idx="83">
                <c:v>0.41555818136662925</c:v>
              </c:pt>
              <c:pt idx="84">
                <c:v>0.6453203214857974</c:v>
              </c:pt>
              <c:pt idx="85">
                <c:v>0.8146656261322777</c:v>
              </c:pt>
              <c:pt idx="86">
                <c:v>0.9118192145003975</c:v>
              </c:pt>
              <c:pt idx="87">
                <c:v>0.9312439917865273</c:v>
              </c:pt>
              <c:pt idx="88">
                <c:v>0.8725438429083765</c:v>
              </c:pt>
              <c:pt idx="89">
                <c:v>0.7401133351191138</c:v>
              </c:pt>
              <c:pt idx="90">
                <c:v>0.5437210595570512</c:v>
              </c:pt>
              <c:pt idx="91">
                <c:v>0.2993433683679384</c:v>
              </c:pt>
              <c:pt idx="92">
                <c:v>0.028995047389207048</c:v>
              </c:pt>
              <c:pt idx="93">
                <c:v>-0.24145269490094626</c:v>
              </c:pt>
              <c:pt idx="94">
                <c:v>-0.4861822453348598</c:v>
              </c:pt>
              <c:pt idx="95">
                <c:v>-0.6833815469448487</c:v>
              </c:pt>
              <c:pt idx="96">
                <c:v>-0.817517173641717</c:v>
              </c:pt>
              <c:pt idx="97">
                <c:v>-0.8795728466587627</c:v>
              </c:pt>
              <c:pt idx="98">
                <c:v>-0.8662032665049769</c:v>
              </c:pt>
              <c:pt idx="99">
                <c:v>-0.7790112682408967</c:v>
              </c:pt>
              <c:pt idx="100">
                <c:v>-0.6245915715340739</c:v>
              </c:pt>
            </c:numLit>
          </c:yVal>
        </c:ser>
        <c:ser>
          <c:idx val="1"/>
          <c:order val="1"/>
          <c:tx>
            <c:v>Neural prediction</c:v>
          </c:tx>
          <c:spPr>
            <a:ln xmlns:a="http://schemas.openxmlformats.org/drawingml/2006/main" w="23813">
              <a:solidFill>
                <a:srgbClr val="CB532C"/>
              </a:solidFill>
            </a:ln>
          </c:spPr>
          <c:marker>
            <c:symbol val="none"/>
          </c:marker>
          <c:xVal>
            <c:numLit>
              <c:formatCode>General</c:formatCode>
              <c:ptCount val="101"/>
              <c:pt idx="0">
                <c:v>0</c:v>
              </c:pt>
              <c:pt idx="1">
                <c:v>0.1</c:v>
              </c:pt>
              <c:pt idx="2">
                <c:v>0.2</c:v>
              </c:pt>
              <c:pt idx="3">
                <c:v>0.3</c:v>
              </c:pt>
              <c:pt idx="4">
                <c:v>0.4</c:v>
              </c:pt>
              <c:pt idx="5">
                <c:v>0.5</c:v>
              </c:pt>
              <c:pt idx="6">
                <c:v>0.6</c:v>
              </c:pt>
              <c:pt idx="7">
                <c:v>0.7000000000000001</c:v>
              </c:pt>
              <c:pt idx="8">
                <c:v>0.8</c:v>
              </c:pt>
              <c:pt idx="9">
                <c:v>0.9</c:v>
              </c:pt>
              <c:pt idx="10">
                <c:v>1</c:v>
              </c:pt>
              <c:pt idx="11">
                <c:v>1.1</c:v>
              </c:pt>
              <c:pt idx="12">
                <c:v>1.2</c:v>
              </c:pt>
              <c:pt idx="13">
                <c:v>1.3</c:v>
              </c:pt>
              <c:pt idx="14">
                <c:v>1.4000000000000001</c:v>
              </c:pt>
              <c:pt idx="15">
                <c:v>1.5</c:v>
              </c:pt>
              <c:pt idx="16">
                <c:v>1.6</c:v>
              </c:pt>
              <c:pt idx="17">
                <c:v>1.7</c:v>
              </c:pt>
              <c:pt idx="18">
                <c:v>1.8</c:v>
              </c:pt>
              <c:pt idx="19">
                <c:v>1.9000000000000001</c:v>
              </c:pt>
              <c:pt idx="20">
                <c:v>2</c:v>
              </c:pt>
              <c:pt idx="21">
                <c:v>2.1</c:v>
              </c:pt>
              <c:pt idx="22">
                <c:v>2.2</c:v>
              </c:pt>
              <c:pt idx="23">
                <c:v>2.3000000000000003</c:v>
              </c:pt>
              <c:pt idx="24">
                <c:v>2.4</c:v>
              </c:pt>
              <c:pt idx="25">
                <c:v>2.5</c:v>
              </c:pt>
              <c:pt idx="26">
                <c:v>2.6</c:v>
              </c:pt>
              <c:pt idx="27">
                <c:v>2.7</c:v>
              </c:pt>
              <c:pt idx="28">
                <c:v>2.8000000000000003</c:v>
              </c:pt>
              <c:pt idx="29">
                <c:v>2.9</c:v>
              </c:pt>
              <c:pt idx="30">
                <c:v>3</c:v>
              </c:pt>
              <c:pt idx="31">
                <c:v>3.1</c:v>
              </c:pt>
              <c:pt idx="32">
                <c:v>3.2</c:v>
              </c:pt>
              <c:pt idx="33">
                <c:v>3.3000000000000003</c:v>
              </c:pt>
              <c:pt idx="34">
                <c:v>3.4</c:v>
              </c:pt>
              <c:pt idx="35">
                <c:v>3.5</c:v>
              </c:pt>
              <c:pt idx="36">
                <c:v>3.6</c:v>
              </c:pt>
              <c:pt idx="37">
                <c:v>3.7</c:v>
              </c:pt>
              <c:pt idx="38">
                <c:v>3.8000000000000003</c:v>
              </c:pt>
              <c:pt idx="39">
                <c:v>3.9</c:v>
              </c:pt>
              <c:pt idx="40">
                <c:v>4</c:v>
              </c:pt>
              <c:pt idx="41">
                <c:v>4.1</c:v>
              </c:pt>
              <c:pt idx="42">
                <c:v>4.2</c:v>
              </c:pt>
              <c:pt idx="43">
                <c:v>4.3</c:v>
              </c:pt>
              <c:pt idx="44">
                <c:v>4.4</c:v>
              </c:pt>
              <c:pt idx="45">
                <c:v>4.5</c:v>
              </c:pt>
              <c:pt idx="46">
                <c:v>4.6000000000000005</c:v>
              </c:pt>
              <c:pt idx="47">
                <c:v>4.7</c:v>
              </c:pt>
              <c:pt idx="48">
                <c:v>4.8</c:v>
              </c:pt>
              <c:pt idx="49">
                <c:v>4.9</c:v>
              </c:pt>
              <c:pt idx="50">
                <c:v>5</c:v>
              </c:pt>
              <c:pt idx="51">
                <c:v>5.1000000000000005</c:v>
              </c:pt>
              <c:pt idx="52">
                <c:v>5.2</c:v>
              </c:pt>
              <c:pt idx="53">
                <c:v>5.3</c:v>
              </c:pt>
              <c:pt idx="54">
                <c:v>5.4</c:v>
              </c:pt>
              <c:pt idx="55">
                <c:v>5.5</c:v>
              </c:pt>
              <c:pt idx="56">
                <c:v>5.6000000000000005</c:v>
              </c:pt>
              <c:pt idx="57">
                <c:v>5.7</c:v>
              </c:pt>
              <c:pt idx="58">
                <c:v>5.8</c:v>
              </c:pt>
              <c:pt idx="59">
                <c:v>5.9</c:v>
              </c:pt>
              <c:pt idx="60">
                <c:v>6</c:v>
              </c:pt>
              <c:pt idx="61">
                <c:v>6.1000000000000005</c:v>
              </c:pt>
              <c:pt idx="62">
                <c:v>6.2</c:v>
              </c:pt>
              <c:pt idx="63">
                <c:v>6.3</c:v>
              </c:pt>
              <c:pt idx="64">
                <c:v>6.4</c:v>
              </c:pt>
              <c:pt idx="65">
                <c:v>6.5</c:v>
              </c:pt>
              <c:pt idx="66">
                <c:v>6.6000000000000005</c:v>
              </c:pt>
              <c:pt idx="67">
                <c:v>6.7</c:v>
              </c:pt>
              <c:pt idx="68">
                <c:v>6.8</c:v>
              </c:pt>
              <c:pt idx="69">
                <c:v>6.9</c:v>
              </c:pt>
              <c:pt idx="70">
                <c:v>7</c:v>
              </c:pt>
              <c:pt idx="71">
                <c:v>7.1000000000000005</c:v>
              </c:pt>
              <c:pt idx="72">
                <c:v>7.2</c:v>
              </c:pt>
              <c:pt idx="73">
                <c:v>7.3</c:v>
              </c:pt>
              <c:pt idx="74">
                <c:v>7.4</c:v>
              </c:pt>
              <c:pt idx="75">
                <c:v>7.5</c:v>
              </c:pt>
              <c:pt idx="76">
                <c:v>7.6000000000000005</c:v>
              </c:pt>
              <c:pt idx="77">
                <c:v>7.7</c:v>
              </c:pt>
              <c:pt idx="78">
                <c:v>7.8</c:v>
              </c:pt>
              <c:pt idx="79">
                <c:v>7.9</c:v>
              </c:pt>
              <c:pt idx="80">
                <c:v>8</c:v>
              </c:pt>
              <c:pt idx="81">
                <c:v>8.1</c:v>
              </c:pt>
              <c:pt idx="82">
                <c:v>8.2</c:v>
              </c:pt>
              <c:pt idx="83">
                <c:v>8.3</c:v>
              </c:pt>
              <c:pt idx="84">
                <c:v>8.4</c:v>
              </c:pt>
              <c:pt idx="85">
                <c:v>8.5</c:v>
              </c:pt>
              <c:pt idx="86">
                <c:v>8.6</c:v>
              </c:pt>
              <c:pt idx="87">
                <c:v>8.700000000000001</c:v>
              </c:pt>
              <c:pt idx="88">
                <c:v>8.8</c:v>
              </c:pt>
              <c:pt idx="89">
                <c:v>8.9</c:v>
              </c:pt>
              <c:pt idx="90">
                <c:v>9</c:v>
              </c:pt>
              <c:pt idx="91">
                <c:v>9.1</c:v>
              </c:pt>
              <c:pt idx="92">
                <c:v>9.200000000000001</c:v>
              </c:pt>
              <c:pt idx="93">
                <c:v>9.3</c:v>
              </c:pt>
              <c:pt idx="94">
                <c:v>9.4</c:v>
              </c:pt>
              <c:pt idx="95">
                <c:v>9.5</c:v>
              </c:pt>
              <c:pt idx="96">
                <c:v>9.6</c:v>
              </c:pt>
              <c:pt idx="97">
                <c:v>9.700000000000001</c:v>
              </c:pt>
              <c:pt idx="98">
                <c:v>9.8</c:v>
              </c:pt>
              <c:pt idx="99">
                <c:v>9.9</c:v>
              </c:pt>
              <c:pt idx="100">
                <c:v>10</c:v>
              </c:pt>
            </c:numLit>
          </c:xVal>
          <c:yVal>
            <c:numLit>
              <c:formatCode>General</c:formatCode>
              <c:ptCount val="101"/>
              <c:pt idx="0">
                <c:v>1.4007262261434965</c:v>
              </c:pt>
              <c:pt idx="1">
                <c:v>1.21539363453009</c:v>
              </c:pt>
              <c:pt idx="2">
                <c:v>0.9417937394372956</c:v>
              </c:pt>
              <c:pt idx="3">
                <c:v>0.5927056967904817</c:v>
              </c:pt>
              <c:pt idx="4">
                <c:v>0.19422288292970885</c:v>
              </c:pt>
              <c:pt idx="5">
                <c:v>-0.21675853623932795</c:v>
              </c:pt>
              <c:pt idx="6">
                <c:v>-0.6032497082189563</c:v>
              </c:pt>
              <c:pt idx="7">
                <c:v>-0.9348381971988375</c:v>
              </c:pt>
              <c:pt idx="8">
                <c:v>-1.1891606701627073</c:v>
              </c:pt>
              <c:pt idx="9">
                <c:v>-1.3520197398155196</c:v>
              </c:pt>
              <c:pt idx="10">
                <c:v>-1.417179447259125</c:v>
              </c:pt>
              <c:pt idx="11">
                <c:v>-1.384475577835291</c:v>
              </c:pt>
              <c:pt idx="12">
                <c:v>-1.2569423339151544</c:v>
              </c:pt>
              <c:pt idx="13">
                <c:v>-1.0394444790136685</c:v>
              </c:pt>
              <c:pt idx="14">
                <c:v>-0.740956799580969</c:v>
              </c:pt>
              <c:pt idx="15">
                <c:v>-0.38042013666690366</c:v>
              </c:pt>
              <c:pt idx="16">
                <c:v>0.010695011780541691</c:v>
              </c:pt>
              <c:pt idx="17">
                <c:v>0.39567952850856064</c:v>
              </c:pt>
              <c:pt idx="18">
                <c:v>0.7415029362265004</c:v>
              </c:pt>
              <c:pt idx="19">
                <c:v>1.0222163125580874</c:v>
              </c:pt>
              <c:pt idx="20">
                <c:v>1.219642267611406</c:v>
              </c:pt>
              <c:pt idx="21">
                <c:v>1.3237067892890675</c:v>
              </c:pt>
              <c:pt idx="22">
                <c:v>1.3315427768173418</c:v>
              </c:pt>
              <c:pt idx="23">
                <c:v>1.2449613561632844</c:v>
              </c:pt>
              <c:pt idx="24">
                <c:v>1.0683366637177496</c:v>
              </c:pt>
              <c:pt idx="25">
                <c:v>0.8092404386396468</c:v>
              </c:pt>
              <c:pt idx="26">
                <c:v>0.4827865654513172</c:v>
              </c:pt>
              <c:pt idx="27">
                <c:v>0.11573186274137374</c:v>
              </c:pt>
              <c:pt idx="28">
                <c:v>-0.25730501229957686</c:v>
              </c:pt>
              <c:pt idx="29">
                <c:v>-0.6026602756845695</c:v>
              </c:pt>
              <c:pt idx="30">
                <c:v>-0.892611996915435</c:v>
              </c:pt>
              <c:pt idx="31">
                <c:v>-1.1067085707128346</c:v>
              </c:pt>
              <c:pt idx="32">
                <c:v>-1.2323654408580138</c:v>
              </c:pt>
              <c:pt idx="33">
                <c:v>-1.264564907689056</c:v>
              </c:pt>
              <c:pt idx="34">
                <c:v>-1.2038479485204878</c:v>
              </c:pt>
              <c:pt idx="35">
                <c:v>-1.054065684933627</c:v>
              </c:pt>
              <c:pt idx="36">
                <c:v>-0.8222595869063599</c:v>
              </c:pt>
              <c:pt idx="37">
                <c:v>-0.5219315666566315</c:v>
              </c:pt>
              <c:pt idx="38">
                <c:v>-0.17704479285372943</c:v>
              </c:pt>
              <c:pt idx="39">
                <c:v>0.1800203864956556</c:v>
              </c:pt>
              <c:pt idx="40">
                <c:v>0.5162713331937154</c:v>
              </c:pt>
              <c:pt idx="41">
                <c:v>0.8036027812684335</c:v>
              </c:pt>
              <c:pt idx="42">
                <c:v>1.020578116697962</c:v>
              </c:pt>
              <c:pt idx="43">
                <c:v>1.1533055763904132</c:v>
              </c:pt>
              <c:pt idx="44">
                <c:v>1.1955159200676906</c:v>
              </c:pt>
              <c:pt idx="45">
                <c:v>1.1469456672664686</c:v>
              </c:pt>
              <c:pt idx="46">
                <c:v>1.0112063563826035</c:v>
              </c:pt>
              <c:pt idx="47">
                <c:v>0.7953970282699737</c:v>
              </c:pt>
              <c:pt idx="48">
                <c:v>0.5127238557434488</c:v>
              </c:pt>
              <c:pt idx="49">
                <c:v>0.18593106962628114</c:v>
              </c:pt>
              <c:pt idx="50">
                <c:v>-0.15428026488579444</c:v>
              </c:pt>
              <c:pt idx="51">
                <c:v>-0.47614272602309476</c:v>
              </c:pt>
              <c:pt idx="52">
                <c:v>-0.7521625006065272</c:v>
              </c:pt>
              <c:pt idx="53">
                <c:v>-0.9611067288655651</c:v>
              </c:pt>
              <c:pt idx="54">
                <c:v>-1.0890052253175595</c:v>
              </c:pt>
              <c:pt idx="55">
                <c:v>-1.1293265934789531</c:v>
              </c:pt>
              <c:pt idx="56">
                <c:v>-1.0815658488089013</c:v>
              </c:pt>
              <c:pt idx="57">
                <c:v>-0.9493547124382357</c:v>
              </c:pt>
              <c:pt idx="58">
                <c:v>-0.7402085159277088</c:v>
              </c:pt>
              <c:pt idx="59">
                <c:v>-0.467912500515442</c:v>
              </c:pt>
              <c:pt idx="60">
                <c:v>-0.15518437555746278</c:v>
              </c:pt>
              <c:pt idx="61">
                <c:v>0.16835836626982603</c:v>
              </c:pt>
              <c:pt idx="62">
                <c:v>0.47248062041449124</c:v>
              </c:pt>
              <c:pt idx="63">
                <c:v>0.7309976773062606</c:v>
              </c:pt>
              <c:pt idx="64">
                <c:v>0.9236659907648567</c:v>
              </c:pt>
              <c:pt idx="65">
                <c:v>1.0372902233069836</c:v>
              </c:pt>
              <c:pt idx="66">
                <c:v>1.065893298035528</c:v>
              </c:pt>
              <c:pt idx="67">
                <c:v>1.0093726620448973</c:v>
              </c:pt>
              <c:pt idx="68">
                <c:v>0.871899334450453</c:v>
              </c:pt>
              <c:pt idx="69">
                <c:v>0.661981471099711</c:v>
              </c:pt>
              <c:pt idx="70">
                <c:v>0.39470635470951687</c:v>
              </c:pt>
              <c:pt idx="71">
                <c:v>0.0934305518172771</c:v>
              </c:pt>
              <c:pt idx="72">
                <c:v>-0.21304933975607476</c:v>
              </c:pt>
              <c:pt idx="73">
                <c:v>-0.496230652159297</c:v>
              </c:pt>
              <c:pt idx="74">
                <c:v>-0.7317607208735446</c:v>
              </c:pt>
              <c:pt idx="75">
                <c:v>-0.9011543094626348</c:v>
              </c:pt>
              <c:pt idx="76">
                <c:v>-0.9928368283139367</c:v>
              </c:pt>
              <c:pt idx="77">
                <c:v>-1.0020849601287172</c:v>
              </c:pt>
              <c:pt idx="78">
                <c:v>-0.9296841676368052</c:v>
              </c:pt>
              <c:pt idx="79">
                <c:v>-0.780739181400881</c:v>
              </c:pt>
              <c:pt idx="80">
                <c:v>-0.5652359533456817</c:v>
              </c:pt>
              <c:pt idx="81">
                <c:v>-0.30009721413744517</c:v>
              </c:pt>
              <c:pt idx="82">
                <c:v>-0.00959183451290297</c:v>
              </c:pt>
              <c:pt idx="83">
                <c:v>0.2783955118172965</c:v>
              </c:pt>
              <c:pt idx="84">
                <c:v>0.537387531314937</c:v>
              </c:pt>
              <c:pt idx="85">
                <c:v>0.7452661537078571</c:v>
              </c:pt>
              <c:pt idx="86">
                <c:v>0.8858017346894969</c:v>
              </c:pt>
              <c:pt idx="87">
                <c:v>0.9495573716009018</c:v>
              </c:pt>
              <c:pt idx="88">
                <c:v>0.9335381827251396</c:v>
              </c:pt>
              <c:pt idx="89">
                <c:v>0.839902874841166</c:v>
              </c:pt>
              <c:pt idx="90">
                <c:v>0.675284958309366</c:v>
              </c:pt>
              <c:pt idx="91">
                <c:v>0.45177862405126706</c:v>
              </c:pt>
              <c:pt idx="92">
                <c:v>0.1884343885328886</c:v>
              </c:pt>
              <c:pt idx="93">
                <c:v>-0.08980647995857335</c:v>
              </c:pt>
              <c:pt idx="94">
                <c:v>-0.3563594380281302</c:v>
              </c:pt>
              <c:pt idx="95">
                <c:v>-0.5870935384552247</c:v>
              </c:pt>
              <c:pt idx="96">
                <c:v>-0.7625724895955754</c:v>
              </c:pt>
              <c:pt idx="97">
                <c:v>-0.8693933958114954</c:v>
              </c:pt>
              <c:pt idx="98">
                <c:v>-0.9007171129766838</c:v>
              </c:pt>
              <c:pt idx="99">
                <c:v>-0.85558372820047</c:v>
              </c:pt>
              <c:pt idx="100">
                <c:v>-0.737851008119301</c:v>
              </c:pt>
            </c:numLit>
          </c:y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1.7"/>
          <c:min val="-1.7"/>
        </c:scaling>
        <c:delete val="0"/>
        <c:axPos val="l"/>
        <c:majorGridlines>
          <c:spPr>
            <a:ln xmlns:a="http://schemas.openxmlformats.org/drawingml/2006/main" w="9525">
              <a:solidFill>
                <a:srgbClr val="E4E8EC"/>
              </a:solidFill>
            </a:ln>
          </c:spPr>
        </c:majorGridlines>
        <c:title>
          <c:tx>
            <c:rich>
              <a:bodyPr xmlns:a="http://schemas.openxmlformats.org/drawingml/2006/main"/>
              <a:lstStyle xmlns:a="http://schemas.openxmlformats.org/drawingml/2006/main"/>
              <a:p xmlns:a="http://schemas.openxmlformats.org/drawingml/2006/main">
                <a:r>
                  <a:rPr sz="1500">
                    <a:solidFill>
                      <a:srgbClr val="18202A"/>
                    </a:solidFill>
                    <a:latin typeface="Arial"/>
                    <a:ea typeface="Arial"/>
                    <a:cs typeface="Arial"/>
                  </a:rPr>
                  <a:t>Angle / rad</a:t>
                </a:r>
              </a:p>
            </c:rich>
          </c:tx>
          <c:overlay val="0"/>
          <c:txPr>
            <a:bodyPr xmlns:a="http://schemas.openxmlformats.org/drawingml/2006/main" anchorCtr="1"/>
            <a:lstStyle xmlns:a="http://schemas.openxmlformats.org/drawingml/2006/main"/>
            <a:p xmlns:a="http://schemas.openxmlformats.org/drawingml/2006/main">
              <a:pPr>
                <a:defRPr sz="1500">
                  <a:solidFill>
                    <a:srgbClr val="18202A"/>
                  </a:solidFill>
                  <a:latin typeface="Arial"/>
                  <a:ea typeface="Arial"/>
                  <a:cs typeface="Arial"/>
                </a:defRPr>
              </a:pPr>
            </a:p>
          </c:txPr>
        </c:title>
        <c:numFmt formatCode="General"/>
        <c:majorTickMark val="none"/>
        <c:minorTickMark val="none"/>
        <c:spPr>
          <a:ln xmlns:a="http://schemas.openxmlformats.org/drawingml/2006/main" w="9525">
            <a:solidFill>
              <a:srgbClr val="A6AFB9"/>
            </a:solidFill>
          </a:ln>
        </c:spPr>
        <c:txPr>
          <a:bodyPr xmlns:a="http://schemas.openxmlformats.org/drawingml/2006/main" anchorCtr="1"/>
          <a:lstStyle xmlns:a="http://schemas.openxmlformats.org/drawingml/2006/main"/>
          <a:p xmlns:a="http://schemas.openxmlformats.org/drawingml/2006/main">
            <a:pPr>
              <a:defRPr sz="1350">
                <a:solidFill>
                  <a:srgbClr val="535E6C"/>
                </a:solidFill>
                <a:latin typeface="Arial"/>
                <a:ea typeface="Arial"/>
                <a:cs typeface="Arial"/>
              </a:defRPr>
            </a:pPr>
          </a:p>
        </c:txPr>
        <c:crossAx val="48650112"/>
        <c:majorUnit val="1.7"/>
      </c:valAx>
      <c:valAx>
        <c:axId val="48650112"/>
        <c:scaling>
          <c:orientation val="minMax"/>
          <c:max val="10"/>
          <c:min val="0"/>
        </c:scaling>
        <c:delete val="0"/>
        <c:axPos val="b"/>
        <c:majorGridlines>
          <c:spPr>
            <a:ln xmlns:a="http://schemas.openxmlformats.org/drawingml/2006/main" w="9525">
              <a:solidFill>
                <a:srgbClr val="E4E8EC"/>
              </a:solidFill>
            </a:ln>
          </c:spPr>
        </c:majorGridlines>
        <c:title>
          <c:tx>
            <c:rich>
              <a:bodyPr xmlns:a="http://schemas.openxmlformats.org/drawingml/2006/main"/>
              <a:lstStyle xmlns:a="http://schemas.openxmlformats.org/drawingml/2006/main"/>
              <a:p xmlns:a="http://schemas.openxmlformats.org/drawingml/2006/main">
                <a:r>
                  <a:rPr sz="1500">
                    <a:solidFill>
                      <a:srgbClr val="18202A"/>
                    </a:solidFill>
                    <a:latin typeface="Arial"/>
                    <a:ea typeface="Arial"/>
                    <a:cs typeface="Arial"/>
                  </a:rPr>
                  <a:t>Time / s</a:t>
                </a:r>
              </a:p>
            </c:rich>
          </c:tx>
          <c:overlay val="0"/>
          <c:txPr>
            <a:bodyPr xmlns:a="http://schemas.openxmlformats.org/drawingml/2006/main" anchorCtr="1"/>
            <a:lstStyle xmlns:a="http://schemas.openxmlformats.org/drawingml/2006/main"/>
            <a:p xmlns:a="http://schemas.openxmlformats.org/drawingml/2006/main">
              <a:pPr>
                <a:defRPr sz="1500">
                  <a:solidFill>
                    <a:srgbClr val="18202A"/>
                  </a:solidFill>
                  <a:latin typeface="Arial"/>
                  <a:ea typeface="Arial"/>
                  <a:cs typeface="Arial"/>
                </a:defRPr>
              </a:pPr>
            </a:p>
          </c:txPr>
        </c:title>
        <c:numFmt formatCode="General"/>
        <c:majorTickMark val="none"/>
        <c:minorTickMark val="none"/>
        <c:tickLblPos val="low"/>
        <c:spPr>
          <a:ln xmlns:a="http://schemas.openxmlformats.org/drawingml/2006/main" w="9525">
            <a:solidFill>
              <a:srgbClr val="A6AFB9"/>
            </a:solidFill>
          </a:ln>
        </c:spPr>
        <c:txPr>
          <a:bodyPr xmlns:a="http://schemas.openxmlformats.org/drawingml/2006/main" anchorCtr="1"/>
          <a:lstStyle xmlns:a="http://schemas.openxmlformats.org/drawingml/2006/main"/>
          <a:p xmlns:a="http://schemas.openxmlformats.org/drawingml/2006/main">
            <a:pPr>
              <a:defRPr sz="1350">
                <a:solidFill>
                  <a:srgbClr val="535E6C"/>
                </a:solidFill>
                <a:latin typeface="Arial"/>
                <a:ea typeface="Arial"/>
                <a:cs typeface="Arial"/>
              </a:defRPr>
            </a:pPr>
          </a:p>
        </c:txPr>
        <c:crossAx val="48672768"/>
        <c:majorUnit val="2"/>
      </c:valAx>
      <c:spPr>
        <a:solidFill xmlns:a="http://schemas.openxmlformats.org/drawingml/2006/main">
          <a:srgbClr val="FFFFFF"/>
        </a:solidFill>
      </c:spPr>
    </c:plotArea>
    <c:legend>
      <c:legendPos val="b"/>
      <c:overlay val="0"/>
      <c:txPr>
        <a:bodyPr xmlns:a="http://schemas.openxmlformats.org/drawingml/2006/main" anchorCtr="1"/>
        <a:lstStyle xmlns:a="http://schemas.openxmlformats.org/drawingml/2006/main"/>
        <a:p xmlns:a="http://schemas.openxmlformats.org/drawingml/2006/main">
          <a:pPr>
            <a:defRPr sz="1425">
              <a:solidFill>
                <a:srgbClr val="18202A"/>
              </a:solidFill>
              <a:latin typeface="Arial"/>
              <a:ea typeface="Arial"/>
              <a:cs typeface="Arial"/>
            </a:defRPr>
          </a:pPr>
        </a:p>
      </c:txPr>
    </c:legend>
    <c:plotVisOnly val="1"/>
  </c:chart>
  <c:spPr>
    <a:solidFill xmlns:a="http://schemas.openxmlformats.org/drawingml/2006/main">
      <a:srgbClr val="FFFFFF"/>
    </a:solidFill>
  </c:spPr>
</c:chartSpace>
</file>

<file path=ppt/slides/charts/chart3.xml><?xml version="1.0" encoding="utf-8"?>
<c:chartSpace xmlns:c="http://schemas.openxmlformats.org/drawingml/2006/chart">
  <c:lang val="en-US"/>
  <c:chart>
    <c:title>
      <c:tx>
        <c:rich>
          <a:bodyPr xmlns:a="http://schemas.openxmlformats.org/drawingml/2006/main"/>
          <a:lstStyle xmlns:a="http://schemas.openxmlformats.org/drawingml/2006/main"/>
          <a:p xmlns:a="http://schemas.openxmlformats.org/drawingml/2006/main">
            <a:r>
              <a:rPr sz="1800" b="1">
                <a:solidFill>
                  <a:srgbClr val="18202A"/>
                </a:solidFill>
                <a:latin typeface="Arial"/>
                <a:ea typeface="Arial"/>
                <a:cs typeface="Arial"/>
              </a:rPr>
              <a:t>Outside training range</a:t>
            </a:r>
          </a:p>
        </c:rich>
      </c:tx>
      <c:overlay val="0"/>
      <c:txPr>
        <a:bodyPr xmlns:a="http://schemas.openxmlformats.org/drawingml/2006/main" anchorCtr="1"/>
        <a:lstStyle xmlns:a="http://schemas.openxmlformats.org/drawingml/2006/main"/>
        <a:p xmlns:a="http://schemas.openxmlformats.org/drawingml/2006/main">
          <a:pPr>
            <a:defRPr sz="1800" b="1">
              <a:solidFill>
                <a:srgbClr val="18202A"/>
              </a:solidFill>
              <a:latin typeface="Arial"/>
              <a:ea typeface="Arial"/>
              <a:cs typeface="Arial"/>
            </a:defRPr>
          </a:pPr>
        </a:p>
      </c:txPr>
    </c:title>
    <c:plotArea>
      <c:scatterChart>
        <c:scatterStyle val="line"/>
        <c:varyColors val="0"/>
        <c:ser>
          <c:idx val="0"/>
          <c:order val="0"/>
          <c:tx>
            <c:v>RK4 reference</c:v>
          </c:tx>
          <c:spPr>
            <a:ln xmlns:a="http://schemas.openxmlformats.org/drawingml/2006/main" w="23813">
              <a:solidFill>
                <a:srgbClr val="245BC2"/>
              </a:solidFill>
            </a:ln>
          </c:spPr>
          <c:marker>
            <c:symbol val="none"/>
          </c:marker>
          <c:xVal>
            <c:numLit>
              <c:formatCode>General</c:formatCode>
              <c:ptCount val="101"/>
              <c:pt idx="0">
                <c:v>0</c:v>
              </c:pt>
              <c:pt idx="1">
                <c:v>0.1</c:v>
              </c:pt>
              <c:pt idx="2">
                <c:v>0.2</c:v>
              </c:pt>
              <c:pt idx="3">
                <c:v>0.3</c:v>
              </c:pt>
              <c:pt idx="4">
                <c:v>0.4</c:v>
              </c:pt>
              <c:pt idx="5">
                <c:v>0.5</c:v>
              </c:pt>
              <c:pt idx="6">
                <c:v>0.6</c:v>
              </c:pt>
              <c:pt idx="7">
                <c:v>0.7000000000000001</c:v>
              </c:pt>
              <c:pt idx="8">
                <c:v>0.8</c:v>
              </c:pt>
              <c:pt idx="9">
                <c:v>0.9</c:v>
              </c:pt>
              <c:pt idx="10">
                <c:v>1</c:v>
              </c:pt>
              <c:pt idx="11">
                <c:v>1.1</c:v>
              </c:pt>
              <c:pt idx="12">
                <c:v>1.2</c:v>
              </c:pt>
              <c:pt idx="13">
                <c:v>1.3</c:v>
              </c:pt>
              <c:pt idx="14">
                <c:v>1.4000000000000001</c:v>
              </c:pt>
              <c:pt idx="15">
                <c:v>1.5</c:v>
              </c:pt>
              <c:pt idx="16">
                <c:v>1.6</c:v>
              </c:pt>
              <c:pt idx="17">
                <c:v>1.7</c:v>
              </c:pt>
              <c:pt idx="18">
                <c:v>1.8</c:v>
              </c:pt>
              <c:pt idx="19">
                <c:v>1.9000000000000001</c:v>
              </c:pt>
              <c:pt idx="20">
                <c:v>2</c:v>
              </c:pt>
              <c:pt idx="21">
                <c:v>2.1</c:v>
              </c:pt>
              <c:pt idx="22">
                <c:v>2.2</c:v>
              </c:pt>
              <c:pt idx="23">
                <c:v>2.3000000000000003</c:v>
              </c:pt>
              <c:pt idx="24">
                <c:v>2.4</c:v>
              </c:pt>
              <c:pt idx="25">
                <c:v>2.5</c:v>
              </c:pt>
              <c:pt idx="26">
                <c:v>2.6</c:v>
              </c:pt>
              <c:pt idx="27">
                <c:v>2.7</c:v>
              </c:pt>
              <c:pt idx="28">
                <c:v>2.8000000000000003</c:v>
              </c:pt>
              <c:pt idx="29">
                <c:v>2.9</c:v>
              </c:pt>
              <c:pt idx="30">
                <c:v>3</c:v>
              </c:pt>
              <c:pt idx="31">
                <c:v>3.1</c:v>
              </c:pt>
              <c:pt idx="32">
                <c:v>3.2</c:v>
              </c:pt>
              <c:pt idx="33">
                <c:v>3.3000000000000003</c:v>
              </c:pt>
              <c:pt idx="34">
                <c:v>3.4</c:v>
              </c:pt>
              <c:pt idx="35">
                <c:v>3.5</c:v>
              </c:pt>
              <c:pt idx="36">
                <c:v>3.6</c:v>
              </c:pt>
              <c:pt idx="37">
                <c:v>3.7</c:v>
              </c:pt>
              <c:pt idx="38">
                <c:v>3.8000000000000003</c:v>
              </c:pt>
              <c:pt idx="39">
                <c:v>3.9</c:v>
              </c:pt>
              <c:pt idx="40">
                <c:v>4</c:v>
              </c:pt>
              <c:pt idx="41">
                <c:v>4.1</c:v>
              </c:pt>
              <c:pt idx="42">
                <c:v>4.2</c:v>
              </c:pt>
              <c:pt idx="43">
                <c:v>4.3</c:v>
              </c:pt>
              <c:pt idx="44">
                <c:v>4.4</c:v>
              </c:pt>
              <c:pt idx="45">
                <c:v>4.5</c:v>
              </c:pt>
              <c:pt idx="46">
                <c:v>4.6000000000000005</c:v>
              </c:pt>
              <c:pt idx="47">
                <c:v>4.7</c:v>
              </c:pt>
              <c:pt idx="48">
                <c:v>4.8</c:v>
              </c:pt>
              <c:pt idx="49">
                <c:v>4.9</c:v>
              </c:pt>
              <c:pt idx="50">
                <c:v>5</c:v>
              </c:pt>
              <c:pt idx="51">
                <c:v>5.1000000000000005</c:v>
              </c:pt>
              <c:pt idx="52">
                <c:v>5.2</c:v>
              </c:pt>
              <c:pt idx="53">
                <c:v>5.3</c:v>
              </c:pt>
              <c:pt idx="54">
                <c:v>5.4</c:v>
              </c:pt>
              <c:pt idx="55">
                <c:v>5.5</c:v>
              </c:pt>
              <c:pt idx="56">
                <c:v>5.6000000000000005</c:v>
              </c:pt>
              <c:pt idx="57">
                <c:v>5.7</c:v>
              </c:pt>
              <c:pt idx="58">
                <c:v>5.8</c:v>
              </c:pt>
              <c:pt idx="59">
                <c:v>5.9</c:v>
              </c:pt>
              <c:pt idx="60">
                <c:v>6</c:v>
              </c:pt>
              <c:pt idx="61">
                <c:v>6.1000000000000005</c:v>
              </c:pt>
              <c:pt idx="62">
                <c:v>6.2</c:v>
              </c:pt>
              <c:pt idx="63">
                <c:v>6.3</c:v>
              </c:pt>
              <c:pt idx="64">
                <c:v>6.4</c:v>
              </c:pt>
              <c:pt idx="65">
                <c:v>6.5</c:v>
              </c:pt>
              <c:pt idx="66">
                <c:v>6.6000000000000005</c:v>
              </c:pt>
              <c:pt idx="67">
                <c:v>6.7</c:v>
              </c:pt>
              <c:pt idx="68">
                <c:v>6.8</c:v>
              </c:pt>
              <c:pt idx="69">
                <c:v>6.9</c:v>
              </c:pt>
              <c:pt idx="70">
                <c:v>7</c:v>
              </c:pt>
              <c:pt idx="71">
                <c:v>7.1000000000000005</c:v>
              </c:pt>
              <c:pt idx="72">
                <c:v>7.2</c:v>
              </c:pt>
              <c:pt idx="73">
                <c:v>7.3</c:v>
              </c:pt>
              <c:pt idx="74">
                <c:v>7.4</c:v>
              </c:pt>
              <c:pt idx="75">
                <c:v>7.5</c:v>
              </c:pt>
              <c:pt idx="76">
                <c:v>7.6000000000000005</c:v>
              </c:pt>
              <c:pt idx="77">
                <c:v>7.7</c:v>
              </c:pt>
              <c:pt idx="78">
                <c:v>7.8</c:v>
              </c:pt>
              <c:pt idx="79">
                <c:v>7.9</c:v>
              </c:pt>
              <c:pt idx="80">
                <c:v>8</c:v>
              </c:pt>
              <c:pt idx="81">
                <c:v>8.1</c:v>
              </c:pt>
              <c:pt idx="82">
                <c:v>8.2</c:v>
              </c:pt>
              <c:pt idx="83">
                <c:v>8.3</c:v>
              </c:pt>
              <c:pt idx="84">
                <c:v>8.4</c:v>
              </c:pt>
              <c:pt idx="85">
                <c:v>8.5</c:v>
              </c:pt>
              <c:pt idx="86">
                <c:v>8.6</c:v>
              </c:pt>
              <c:pt idx="87">
                <c:v>8.700000000000001</c:v>
              </c:pt>
              <c:pt idx="88">
                <c:v>8.8</c:v>
              </c:pt>
              <c:pt idx="89">
                <c:v>8.9</c:v>
              </c:pt>
              <c:pt idx="90">
                <c:v>9</c:v>
              </c:pt>
              <c:pt idx="91">
                <c:v>9.1</c:v>
              </c:pt>
              <c:pt idx="92">
                <c:v>9.200000000000001</c:v>
              </c:pt>
              <c:pt idx="93">
                <c:v>9.3</c:v>
              </c:pt>
              <c:pt idx="94">
                <c:v>9.4</c:v>
              </c:pt>
              <c:pt idx="95">
                <c:v>9.5</c:v>
              </c:pt>
              <c:pt idx="96">
                <c:v>9.6</c:v>
              </c:pt>
              <c:pt idx="97">
                <c:v>9.700000000000001</c:v>
              </c:pt>
              <c:pt idx="98">
                <c:v>9.8</c:v>
              </c:pt>
              <c:pt idx="99">
                <c:v>9.9</c:v>
              </c:pt>
              <c:pt idx="100">
                <c:v>10</c:v>
              </c:pt>
            </c:numLit>
          </c:xVal>
          <c:yVal>
            <c:numLit>
              <c:formatCode>General</c:formatCode>
              <c:ptCount val="101"/>
              <c:pt idx="0">
                <c:v>2.5</c:v>
              </c:pt>
              <c:pt idx="1">
                <c:v>2.4705514067378704</c:v>
              </c:pt>
              <c:pt idx="2">
                <c:v>2.3803315616456637</c:v>
              </c:pt>
              <c:pt idx="3">
                <c:v>2.223362943194581</c:v>
              </c:pt>
              <c:pt idx="4">
                <c:v>1.99026580552361</c:v>
              </c:pt>
              <c:pt idx="5">
                <c:v>1.670615120040211</c:v>
              </c:pt>
              <c:pt idx="6">
                <c:v>1.258029294699422</c:v>
              </c:pt>
              <c:pt idx="7">
                <c:v>0.7585111328000537</c:v>
              </c:pt>
              <c:pt idx="8">
                <c:v>0.19877478706523682</c:v>
              </c:pt>
              <c:pt idx="9">
                <c:v>-0.3740033461235894</c:v>
              </c:pt>
              <c:pt idx="10">
                <c:v>-0.9065853081202428</c:v>
              </c:pt>
              <c:pt idx="11">
                <c:v>-1.3589353168489349</c:v>
              </c:pt>
              <c:pt idx="12">
                <c:v>-1.7128105397312432</c:v>
              </c:pt>
              <c:pt idx="13">
                <c:v>-1.9671743162986932</c:v>
              </c:pt>
              <c:pt idx="14">
                <c:v>-2.129010524623024</c:v>
              </c:pt>
              <c:pt idx="15">
                <c:v>-2.206186679914169</c:v>
              </c:pt>
              <c:pt idx="16">
                <c:v>-2.203664893755287</c:v>
              </c:pt>
              <c:pt idx="17">
                <c:v>-2.1220955188409967</c:v>
              </c:pt>
              <c:pt idx="18">
                <c:v>-1.9579413301253736</c:v>
              </c:pt>
              <c:pt idx="19">
                <c:v>-1.7050880808366864</c:v>
              </c:pt>
              <c:pt idx="20">
                <c:v>-1.3586425813049194</c:v>
              </c:pt>
              <c:pt idx="21">
                <c:v>-0.9216069847126757</c:v>
              </c:pt>
              <c:pt idx="22">
                <c:v>-0.41298894411394904</c:v>
              </c:pt>
              <c:pt idx="23">
                <c:v>0.12856074611184465</c:v>
              </c:pt>
              <c:pt idx="24">
                <c:v>0.6525992633411312</c:v>
              </c:pt>
              <c:pt idx="25">
                <c:v>1.1137188537540024</c:v>
              </c:pt>
              <c:pt idx="26">
                <c:v>1.4842325125336042</c:v>
              </c:pt>
              <c:pt idx="27">
                <c:v>1.7547191051795035</c:v>
              </c:pt>
              <c:pt idx="28">
                <c:v>1.9268042842227928</c:v>
              </c:pt>
              <c:pt idx="29">
                <c:v>2.0055520383468886</c:v>
              </c:pt>
              <c:pt idx="30">
                <c:v>1.9946946881049044</c:v>
              </c:pt>
              <c:pt idx="31">
                <c:v>1.894702846217032</c:v>
              </c:pt>
              <c:pt idx="32">
                <c:v>1.7031005194892561</c:v>
              </c:pt>
              <c:pt idx="33">
                <c:v>1.4170095212633</c:v>
              </c:pt>
              <c:pt idx="34">
                <c:v>1.0383192575655125</c:v>
              </c:pt>
              <c:pt idx="35">
                <c:v>0.5808699228476872</c:v>
              </c:pt>
              <c:pt idx="36">
                <c:v>0.07579860578943996</c:v>
              </c:pt>
              <c:pt idx="37">
                <c:v>-0.43142146477788146</c:v>
              </c:pt>
              <c:pt idx="38">
                <c:v>-0.8938696862208293</c:v>
              </c:pt>
              <c:pt idx="39">
                <c:v>-1.277144704316907</c:v>
              </c:pt>
              <c:pt idx="40">
                <c:v>-1.5642711837694718</c:v>
              </c:pt>
              <c:pt idx="41">
                <c:v>-1.751400823190549</c:v>
              </c:pt>
              <c:pt idx="42">
                <c:v>-1.8406639775158502</c:v>
              </c:pt>
              <c:pt idx="43">
                <c:v>-1.8347761336977397</c:v>
              </c:pt>
              <c:pt idx="44">
                <c:v>-1.7345451828669156</c:v>
              </c:pt>
              <c:pt idx="45">
                <c:v>-1.5390609224456506</c:v>
              </c:pt>
              <c:pt idx="46">
                <c:v>-1.2484725149458298</c:v>
              </c:pt>
              <c:pt idx="47">
                <c:v>-0.8692990265117153</c:v>
              </c:pt>
              <c:pt idx="48">
                <c:v>-0.4207881963741764</c:v>
              </c:pt>
              <c:pt idx="49">
                <c:v>0.062120542843101395</c:v>
              </c:pt>
              <c:pt idx="50">
                <c:v>0.534326502335646</c:v>
              </c:pt>
              <c:pt idx="51">
                <c:v>0.9532877654433521</c:v>
              </c:pt>
              <c:pt idx="52">
                <c:v>1.2898151168431393</c:v>
              </c:pt>
              <c:pt idx="53">
                <c:v>1.530077204228388</c:v>
              </c:pt>
              <c:pt idx="54">
                <c:v>1.6707528317232667</c:v>
              </c:pt>
              <c:pt idx="55">
                <c:v>1.7129007669402725</c:v>
              </c:pt>
              <c:pt idx="56">
                <c:v>1.657898128530805</c:v>
              </c:pt>
              <c:pt idx="57">
                <c:v>1.506226952525586</c:v>
              </c:pt>
              <c:pt idx="58">
                <c:v>1.2590390168603833</c:v>
              </c:pt>
              <c:pt idx="59">
                <c:v>0.9223021144897686</c:v>
              </c:pt>
              <c:pt idx="60">
                <c:v>0.5124057908899494</c:v>
              </c:pt>
              <c:pt idx="61">
                <c:v>0.05980842763579733</c:v>
              </c:pt>
              <c:pt idx="62">
                <c:v>-0.39397268438981675</c:v>
              </c:pt>
              <c:pt idx="63">
                <c:v>-0.8066316676087871</c:v>
              </c:pt>
              <c:pt idx="64">
                <c:v>-1.1459375159100236</c:v>
              </c:pt>
              <c:pt idx="65">
                <c:v>-1.393874895912022</c:v>
              </c:pt>
              <c:pt idx="66">
                <c:v>-1.543719259592824</c:v>
              </c:pt>
              <c:pt idx="67">
                <c:v>-1.5946084211430385</c:v>
              </c:pt>
              <c:pt idx="68">
                <c:v>-1.5473966214429735</c:v>
              </c:pt>
              <c:pt idx="69">
                <c:v>-1.4031712901425282</c:v>
              </c:pt>
              <c:pt idx="70">
                <c:v>-1.1645703509604348</c:v>
              </c:pt>
              <c:pt idx="71">
                <c:v>-0.8395629580943781</c:v>
              </c:pt>
              <c:pt idx="72">
                <c:v>-0.4463079172143192</c:v>
              </c:pt>
              <c:pt idx="73">
                <c:v>-0.015734941578372352</c:v>
              </c:pt>
              <c:pt idx="74">
                <c:v>0.4120528718890734</c:v>
              </c:pt>
              <c:pt idx="75">
                <c:v>0.7973171764001867</c:v>
              </c:pt>
              <c:pt idx="76">
                <c:v>1.1100132665582936</c:v>
              </c:pt>
              <c:pt idx="77">
                <c:v>1.3330104260880713</c:v>
              </c:pt>
              <c:pt idx="78">
                <c:v>1.4593543599048393</c:v>
              </c:pt>
              <c:pt idx="79">
                <c:v>1.4875794855707973</c:v>
              </c:pt>
              <c:pt idx="80">
                <c:v>1.418327678065079</c:v>
              </c:pt>
              <c:pt idx="81">
                <c:v>1.2535236341367035</c:v>
              </c:pt>
              <c:pt idx="82">
                <c:v>0.9982035329468111</c:v>
              </c:pt>
              <c:pt idx="83">
                <c:v>0.6643402338795599</c:v>
              </c:pt>
              <c:pt idx="84">
                <c:v>0.27465836530983195</c:v>
              </c:pt>
              <c:pt idx="85">
                <c:v>-0.13706027848398952</c:v>
              </c:pt>
              <c:pt idx="86">
                <c:v>-0.5316315034570547</c:v>
              </c:pt>
              <c:pt idx="87">
                <c:v>-0.8736970281358974</c:v>
              </c:pt>
              <c:pt idx="88">
                <c:v>-1.1384859238373</c:v>
              </c:pt>
              <c:pt idx="89">
                <c:v>-1.3126725869424876</c:v>
              </c:pt>
              <c:pt idx="90">
                <c:v>-1.391077635251927</c:v>
              </c:pt>
              <c:pt idx="91">
                <c:v>-1.3728184091786177</c:v>
              </c:pt>
              <c:pt idx="92">
                <c:v>-1.2592323101090848</c:v>
              </c:pt>
              <c:pt idx="93">
                <c:v>-1.0543003170490253</c:v>
              </c:pt>
              <c:pt idx="94">
                <c:v>-0.7673031364975664</c:v>
              </c:pt>
              <c:pt idx="95">
                <c:v>-0.4163723577840731</c:v>
              </c:pt>
              <c:pt idx="96">
                <c:v>-0.030193906200927344</c:v>
              </c:pt>
              <c:pt idx="97">
                <c:v>0.3550279578077682</c:v>
              </c:pt>
              <c:pt idx="98">
                <c:v>0.7031218477669957</c:v>
              </c:pt>
              <c:pt idx="99">
                <c:v>0.9855505066345271</c:v>
              </c:pt>
              <c:pt idx="100">
                <c:v>1.1845649825804019</c:v>
              </c:pt>
            </c:numLit>
          </c:yVal>
        </c:ser>
        <c:ser>
          <c:idx val="1"/>
          <c:order val="1"/>
          <c:tx>
            <c:v>Neural prediction</c:v>
          </c:tx>
          <c:spPr>
            <a:ln xmlns:a="http://schemas.openxmlformats.org/drawingml/2006/main" w="23813">
              <a:solidFill>
                <a:srgbClr val="CB532C"/>
              </a:solidFill>
            </a:ln>
          </c:spPr>
          <c:marker>
            <c:symbol val="none"/>
          </c:marker>
          <c:xVal>
            <c:numLit>
              <c:formatCode>General</c:formatCode>
              <c:ptCount val="101"/>
              <c:pt idx="0">
                <c:v>0</c:v>
              </c:pt>
              <c:pt idx="1">
                <c:v>0.1</c:v>
              </c:pt>
              <c:pt idx="2">
                <c:v>0.2</c:v>
              </c:pt>
              <c:pt idx="3">
                <c:v>0.3</c:v>
              </c:pt>
              <c:pt idx="4">
                <c:v>0.4</c:v>
              </c:pt>
              <c:pt idx="5">
                <c:v>0.5</c:v>
              </c:pt>
              <c:pt idx="6">
                <c:v>0.6</c:v>
              </c:pt>
              <c:pt idx="7">
                <c:v>0.7000000000000001</c:v>
              </c:pt>
              <c:pt idx="8">
                <c:v>0.8</c:v>
              </c:pt>
              <c:pt idx="9">
                <c:v>0.9</c:v>
              </c:pt>
              <c:pt idx="10">
                <c:v>1</c:v>
              </c:pt>
              <c:pt idx="11">
                <c:v>1.1</c:v>
              </c:pt>
              <c:pt idx="12">
                <c:v>1.2</c:v>
              </c:pt>
              <c:pt idx="13">
                <c:v>1.3</c:v>
              </c:pt>
              <c:pt idx="14">
                <c:v>1.4000000000000001</c:v>
              </c:pt>
              <c:pt idx="15">
                <c:v>1.5</c:v>
              </c:pt>
              <c:pt idx="16">
                <c:v>1.6</c:v>
              </c:pt>
              <c:pt idx="17">
                <c:v>1.7</c:v>
              </c:pt>
              <c:pt idx="18">
                <c:v>1.8</c:v>
              </c:pt>
              <c:pt idx="19">
                <c:v>1.9000000000000001</c:v>
              </c:pt>
              <c:pt idx="20">
                <c:v>2</c:v>
              </c:pt>
              <c:pt idx="21">
                <c:v>2.1</c:v>
              </c:pt>
              <c:pt idx="22">
                <c:v>2.2</c:v>
              </c:pt>
              <c:pt idx="23">
                <c:v>2.3000000000000003</c:v>
              </c:pt>
              <c:pt idx="24">
                <c:v>2.4</c:v>
              </c:pt>
              <c:pt idx="25">
                <c:v>2.5</c:v>
              </c:pt>
              <c:pt idx="26">
                <c:v>2.6</c:v>
              </c:pt>
              <c:pt idx="27">
                <c:v>2.7</c:v>
              </c:pt>
              <c:pt idx="28">
                <c:v>2.8000000000000003</c:v>
              </c:pt>
              <c:pt idx="29">
                <c:v>2.9</c:v>
              </c:pt>
              <c:pt idx="30">
                <c:v>3</c:v>
              </c:pt>
              <c:pt idx="31">
                <c:v>3.1</c:v>
              </c:pt>
              <c:pt idx="32">
                <c:v>3.2</c:v>
              </c:pt>
              <c:pt idx="33">
                <c:v>3.3000000000000003</c:v>
              </c:pt>
              <c:pt idx="34">
                <c:v>3.4</c:v>
              </c:pt>
              <c:pt idx="35">
                <c:v>3.5</c:v>
              </c:pt>
              <c:pt idx="36">
                <c:v>3.6</c:v>
              </c:pt>
              <c:pt idx="37">
                <c:v>3.7</c:v>
              </c:pt>
              <c:pt idx="38">
                <c:v>3.8000000000000003</c:v>
              </c:pt>
              <c:pt idx="39">
                <c:v>3.9</c:v>
              </c:pt>
              <c:pt idx="40">
                <c:v>4</c:v>
              </c:pt>
              <c:pt idx="41">
                <c:v>4.1</c:v>
              </c:pt>
              <c:pt idx="42">
                <c:v>4.2</c:v>
              </c:pt>
              <c:pt idx="43">
                <c:v>4.3</c:v>
              </c:pt>
              <c:pt idx="44">
                <c:v>4.4</c:v>
              </c:pt>
              <c:pt idx="45">
                <c:v>4.5</c:v>
              </c:pt>
              <c:pt idx="46">
                <c:v>4.6000000000000005</c:v>
              </c:pt>
              <c:pt idx="47">
                <c:v>4.7</c:v>
              </c:pt>
              <c:pt idx="48">
                <c:v>4.8</c:v>
              </c:pt>
              <c:pt idx="49">
                <c:v>4.9</c:v>
              </c:pt>
              <c:pt idx="50">
                <c:v>5</c:v>
              </c:pt>
              <c:pt idx="51">
                <c:v>5.1000000000000005</c:v>
              </c:pt>
              <c:pt idx="52">
                <c:v>5.2</c:v>
              </c:pt>
              <c:pt idx="53">
                <c:v>5.3</c:v>
              </c:pt>
              <c:pt idx="54">
                <c:v>5.4</c:v>
              </c:pt>
              <c:pt idx="55">
                <c:v>5.5</c:v>
              </c:pt>
              <c:pt idx="56">
                <c:v>5.6000000000000005</c:v>
              </c:pt>
              <c:pt idx="57">
                <c:v>5.7</c:v>
              </c:pt>
              <c:pt idx="58">
                <c:v>5.8</c:v>
              </c:pt>
              <c:pt idx="59">
                <c:v>5.9</c:v>
              </c:pt>
              <c:pt idx="60">
                <c:v>6</c:v>
              </c:pt>
              <c:pt idx="61">
                <c:v>6.1000000000000005</c:v>
              </c:pt>
              <c:pt idx="62">
                <c:v>6.2</c:v>
              </c:pt>
              <c:pt idx="63">
                <c:v>6.3</c:v>
              </c:pt>
              <c:pt idx="64">
                <c:v>6.4</c:v>
              </c:pt>
              <c:pt idx="65">
                <c:v>6.5</c:v>
              </c:pt>
              <c:pt idx="66">
                <c:v>6.6000000000000005</c:v>
              </c:pt>
              <c:pt idx="67">
                <c:v>6.7</c:v>
              </c:pt>
              <c:pt idx="68">
                <c:v>6.8</c:v>
              </c:pt>
              <c:pt idx="69">
                <c:v>6.9</c:v>
              </c:pt>
              <c:pt idx="70">
                <c:v>7</c:v>
              </c:pt>
              <c:pt idx="71">
                <c:v>7.1000000000000005</c:v>
              </c:pt>
              <c:pt idx="72">
                <c:v>7.2</c:v>
              </c:pt>
              <c:pt idx="73">
                <c:v>7.3</c:v>
              </c:pt>
              <c:pt idx="74">
                <c:v>7.4</c:v>
              </c:pt>
              <c:pt idx="75">
                <c:v>7.5</c:v>
              </c:pt>
              <c:pt idx="76">
                <c:v>7.6000000000000005</c:v>
              </c:pt>
              <c:pt idx="77">
                <c:v>7.7</c:v>
              </c:pt>
              <c:pt idx="78">
                <c:v>7.8</c:v>
              </c:pt>
              <c:pt idx="79">
                <c:v>7.9</c:v>
              </c:pt>
              <c:pt idx="80">
                <c:v>8</c:v>
              </c:pt>
              <c:pt idx="81">
                <c:v>8.1</c:v>
              </c:pt>
              <c:pt idx="82">
                <c:v>8.2</c:v>
              </c:pt>
              <c:pt idx="83">
                <c:v>8.3</c:v>
              </c:pt>
              <c:pt idx="84">
                <c:v>8.4</c:v>
              </c:pt>
              <c:pt idx="85">
                <c:v>8.5</c:v>
              </c:pt>
              <c:pt idx="86">
                <c:v>8.6</c:v>
              </c:pt>
              <c:pt idx="87">
                <c:v>8.700000000000001</c:v>
              </c:pt>
              <c:pt idx="88">
                <c:v>8.8</c:v>
              </c:pt>
              <c:pt idx="89">
                <c:v>8.9</c:v>
              </c:pt>
              <c:pt idx="90">
                <c:v>9</c:v>
              </c:pt>
              <c:pt idx="91">
                <c:v>9.1</c:v>
              </c:pt>
              <c:pt idx="92">
                <c:v>9.200000000000001</c:v>
              </c:pt>
              <c:pt idx="93">
                <c:v>9.3</c:v>
              </c:pt>
              <c:pt idx="94">
                <c:v>9.4</c:v>
              </c:pt>
              <c:pt idx="95">
                <c:v>9.5</c:v>
              </c:pt>
              <c:pt idx="96">
                <c:v>9.6</c:v>
              </c:pt>
              <c:pt idx="97">
                <c:v>9.700000000000001</c:v>
              </c:pt>
              <c:pt idx="98">
                <c:v>9.8</c:v>
              </c:pt>
              <c:pt idx="99">
                <c:v>9.9</c:v>
              </c:pt>
              <c:pt idx="100">
                <c:v>10</c:v>
              </c:pt>
            </c:numLit>
          </c:xVal>
          <c:yVal>
            <c:numLit>
              <c:formatCode>General</c:formatCode>
              <c:ptCount val="101"/>
              <c:pt idx="0">
                <c:v>2.5</c:v>
              </c:pt>
              <c:pt idx="1">
                <c:v>2.4522199275177963</c:v>
              </c:pt>
              <c:pt idx="2">
                <c:v>2.3084365743969837</c:v>
              </c:pt>
              <c:pt idx="3">
                <c:v>2.0698259323215424</c:v>
              </c:pt>
              <c:pt idx="4">
                <c:v>1.7342345639405714</c:v>
              </c:pt>
              <c:pt idx="5">
                <c:v>1.2991729803653043</c:v>
              </c:pt>
              <c:pt idx="6">
                <c:v>0.7745055871892278</c:v>
              </c:pt>
              <c:pt idx="7">
                <c:v>0.19498131951022427</c:v>
              </c:pt>
              <c:pt idx="8">
                <c:v>-0.3913153580167588</c:v>
              </c:pt>
              <c:pt idx="9">
                <c:v>-0.9409301062565792</c:v>
              </c:pt>
              <c:pt idx="10">
                <c:v>-1.4212733732594005</c:v>
              </c:pt>
              <c:pt idx="11">
                <c:v>-1.813326151021913</c:v>
              </c:pt>
              <c:pt idx="12">
                <c:v>-2.1055860241171267</c:v>
              </c:pt>
              <c:pt idx="13">
                <c:v>-2.291966152044112</c:v>
              </c:pt>
              <c:pt idx="14">
                <c:v>-2.3728511345183714</c:v>
              </c:pt>
              <c:pt idx="15">
                <c:v>-2.351892602520404</c:v>
              </c:pt>
              <c:pt idx="16">
                <c:v>-2.232873475781412</c:v>
              </c:pt>
              <c:pt idx="17">
                <c:v>-2.01772148348764</c:v>
              </c:pt>
              <c:pt idx="18">
                <c:v>-1.7053777867452717</c:v>
              </c:pt>
              <c:pt idx="19">
                <c:v>-1.2941107519533224</c:v>
              </c:pt>
              <c:pt idx="20">
                <c:v>-0.7926661050951609</c:v>
              </c:pt>
              <c:pt idx="21">
                <c:v>-0.2333716313907997</c:v>
              </c:pt>
              <c:pt idx="22">
                <c:v>0.3364648268207139</c:v>
              </c:pt>
              <c:pt idx="23">
                <c:v>0.8729443472142049</c:v>
              </c:pt>
              <c:pt idx="24">
                <c:v>1.342666232765098</c:v>
              </c:pt>
              <c:pt idx="25">
                <c:v>1.7251573240580584</c:v>
              </c:pt>
              <c:pt idx="26">
                <c:v>2.007973910232006</c:v>
              </c:pt>
              <c:pt idx="27">
                <c:v>2.1846980953187485</c:v>
              </c:pt>
              <c:pt idx="28">
                <c:v>2.255481150513869</c:v>
              </c:pt>
              <c:pt idx="29">
                <c:v>2.223806916649939</c:v>
              </c:pt>
              <c:pt idx="30">
                <c:v>2.093313404850382</c:v>
              </c:pt>
              <c:pt idx="31">
                <c:v>1.8657782296349996</c:v>
              </c:pt>
              <c:pt idx="32">
                <c:v>1.5404476438145613</c:v>
              </c:pt>
              <c:pt idx="33">
                <c:v>1.1180266107507935</c:v>
              </c:pt>
              <c:pt idx="34">
                <c:v>0.6133879049660804</c:v>
              </c:pt>
              <c:pt idx="35">
                <c:v>0.06435574915061266</c:v>
              </c:pt>
              <c:pt idx="36">
                <c:v>-0.48192995419157286</c:v>
              </c:pt>
              <c:pt idx="37">
                <c:v>-0.9844236157897632</c:v>
              </c:pt>
              <c:pt idx="38">
                <c:v>-1.4134916621222555</c:v>
              </c:pt>
              <c:pt idx="39">
                <c:v>-1.7511268073018438</c:v>
              </c:pt>
              <c:pt idx="40">
                <c:v>-1.9863103429781446</c:v>
              </c:pt>
              <c:pt idx="41">
                <c:v>-2.114887195266695</c:v>
              </c:pt>
              <c:pt idx="42">
                <c:v>-2.1384193781597025</c:v>
              </c:pt>
              <c:pt idx="43">
                <c:v>-2.060561182429887</c:v>
              </c:pt>
              <c:pt idx="44">
                <c:v>-1.884273714099858</c:v>
              </c:pt>
              <c:pt idx="45">
                <c:v>-1.6103568758215827</c:v>
              </c:pt>
              <c:pt idx="46">
                <c:v>-1.2390119086299398</c:v>
              </c:pt>
              <c:pt idx="47">
                <c:v>-0.7787947203818114</c:v>
              </c:pt>
              <c:pt idx="48">
                <c:v>-0.25906116749826796</c:v>
              </c:pt>
              <c:pt idx="49">
                <c:v>0.2749581434102528</c:v>
              </c:pt>
              <c:pt idx="50">
                <c:v>0.7796220408762977</c:v>
              </c:pt>
              <c:pt idx="51">
                <c:v>1.2210639809005415</c:v>
              </c:pt>
              <c:pt idx="52">
                <c:v>1.5771094015103577</c:v>
              </c:pt>
              <c:pt idx="53">
                <c:v>1.8340401306357026</c:v>
              </c:pt>
              <c:pt idx="54">
                <c:v>1.9851799834588901</c:v>
              </c:pt>
              <c:pt idx="55">
                <c:v>2.0304668970142012</c:v>
              </c:pt>
              <c:pt idx="56">
                <c:v>1.9730999986097637</c:v>
              </c:pt>
              <c:pt idx="57">
                <c:v>1.8163776090269907</c:v>
              </c:pt>
              <c:pt idx="58">
                <c:v>1.561963452623942</c:v>
              </c:pt>
              <c:pt idx="59">
                <c:v>1.2110328524735297</c:v>
              </c:pt>
              <c:pt idx="60">
                <c:v>0.7721318929569906</c:v>
              </c:pt>
              <c:pt idx="61">
                <c:v>0.2730312718298347</c:v>
              </c:pt>
              <c:pt idx="62">
                <c:v>-0.24244438258444234</c:v>
              </c:pt>
              <c:pt idx="63">
                <c:v>-0.7309863993512801</c:v>
              </c:pt>
              <c:pt idx="64">
                <c:v>-1.158516824850677</c:v>
              </c:pt>
              <c:pt idx="65">
                <c:v>-1.5021150190575585</c:v>
              </c:pt>
              <c:pt idx="66">
                <c:v>-1.7474971958338599</c:v>
              </c:pt>
              <c:pt idx="67">
                <c:v>-1.88776089281269</c:v>
              </c:pt>
              <c:pt idx="68">
                <c:v>-1.9226359178119459</c:v>
              </c:pt>
              <c:pt idx="69">
                <c:v>-1.855138388096012</c:v>
              </c:pt>
              <c:pt idx="70">
                <c:v>-1.6884410183656007</c:v>
              </c:pt>
              <c:pt idx="71">
                <c:v>-1.4244569507614513</c:v>
              </c:pt>
              <c:pt idx="72">
                <c:v>-1.0661307330551526</c:v>
              </c:pt>
              <c:pt idx="73">
                <c:v>-0.6265077015082008</c:v>
              </c:pt>
              <c:pt idx="74">
                <c:v>-0.13794919080381737</c:v>
              </c:pt>
              <c:pt idx="75">
                <c:v>0.3555367213569947</c:v>
              </c:pt>
              <c:pt idx="76">
                <c:v>0.8133458007789377</c:v>
              </c:pt>
              <c:pt idx="77">
                <c:v>1.204530731550252</c:v>
              </c:pt>
              <c:pt idx="78">
                <c:v>1.5083307876309826</c:v>
              </c:pt>
              <c:pt idx="79">
                <c:v>1.7121070290775913</c:v>
              </c:pt>
              <c:pt idx="80">
                <c:v>1.8108918591472125</c:v>
              </c:pt>
              <c:pt idx="81">
                <c:v>1.8055731554813277</c:v>
              </c:pt>
              <c:pt idx="82">
                <c:v>1.6993732336136822</c:v>
              </c:pt>
              <c:pt idx="83">
                <c:v>1.4952807849040386</c:v>
              </c:pt>
              <c:pt idx="84">
                <c:v>1.1959991437103143</c:v>
              </c:pt>
              <c:pt idx="85">
                <c:v>0.8091191077759856</c:v>
              </c:pt>
              <c:pt idx="86">
                <c:v>0.35732942083920965</c:v>
              </c:pt>
              <c:pt idx="87">
                <c:v>-0.12004338841388873</c:v>
              </c:pt>
              <c:pt idx="88">
                <c:v>-0.5804981018653014</c:v>
              </c:pt>
              <c:pt idx="89">
                <c:v>-0.9887741537849482</c:v>
              </c:pt>
              <c:pt idx="90">
                <c:v>-1.3195305569509292</c:v>
              </c:pt>
              <c:pt idx="91">
                <c:v>-1.5563290732994324</c:v>
              </c:pt>
              <c:pt idx="92">
                <c:v>-1.6906772141645012</c:v>
              </c:pt>
              <c:pt idx="93">
                <c:v>-1.7211069785755362</c:v>
              </c:pt>
              <c:pt idx="94">
                <c:v>-1.6500598924963523</c:v>
              </c:pt>
              <c:pt idx="95">
                <c:v>-1.4808206094277108</c:v>
              </c:pt>
              <c:pt idx="96">
                <c:v>-1.2165864927322265</c:v>
              </c:pt>
              <c:pt idx="97">
                <c:v>-0.8639536887257034</c:v>
              </c:pt>
              <c:pt idx="98">
                <c:v>-0.44176177183781756</c:v>
              </c:pt>
              <c:pt idx="99">
                <c:v>0.014513885198864263</c:v>
              </c:pt>
              <c:pt idx="100">
                <c:v>0.4631449494456137</c:v>
              </c:pt>
            </c:numLit>
          </c:y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2.8"/>
          <c:min val="-2.8"/>
        </c:scaling>
        <c:delete val="0"/>
        <c:axPos val="l"/>
        <c:majorGridlines>
          <c:spPr>
            <a:ln xmlns:a="http://schemas.openxmlformats.org/drawingml/2006/main" w="9525">
              <a:solidFill>
                <a:srgbClr val="E4E8EC"/>
              </a:solidFill>
            </a:ln>
          </c:spPr>
        </c:majorGridlines>
        <c:title>
          <c:tx>
            <c:rich>
              <a:bodyPr xmlns:a="http://schemas.openxmlformats.org/drawingml/2006/main"/>
              <a:lstStyle xmlns:a="http://schemas.openxmlformats.org/drawingml/2006/main"/>
              <a:p xmlns:a="http://schemas.openxmlformats.org/drawingml/2006/main">
                <a:r>
                  <a:rPr sz="1500">
                    <a:solidFill>
                      <a:srgbClr val="18202A"/>
                    </a:solidFill>
                    <a:latin typeface="Arial"/>
                    <a:ea typeface="Arial"/>
                    <a:cs typeface="Arial"/>
                  </a:rPr>
                  <a:t>Angle / rad</a:t>
                </a:r>
              </a:p>
            </c:rich>
          </c:tx>
          <c:overlay val="0"/>
          <c:txPr>
            <a:bodyPr xmlns:a="http://schemas.openxmlformats.org/drawingml/2006/main" anchorCtr="1"/>
            <a:lstStyle xmlns:a="http://schemas.openxmlformats.org/drawingml/2006/main"/>
            <a:p xmlns:a="http://schemas.openxmlformats.org/drawingml/2006/main">
              <a:pPr>
                <a:defRPr sz="1500">
                  <a:solidFill>
                    <a:srgbClr val="18202A"/>
                  </a:solidFill>
                  <a:latin typeface="Arial"/>
                  <a:ea typeface="Arial"/>
                  <a:cs typeface="Arial"/>
                </a:defRPr>
              </a:pPr>
            </a:p>
          </c:txPr>
        </c:title>
        <c:numFmt formatCode="General"/>
        <c:majorTickMark val="none"/>
        <c:minorTickMark val="none"/>
        <c:spPr>
          <a:ln xmlns:a="http://schemas.openxmlformats.org/drawingml/2006/main" w="9525">
            <a:solidFill>
              <a:srgbClr val="A6AFB9"/>
            </a:solidFill>
          </a:ln>
        </c:spPr>
        <c:txPr>
          <a:bodyPr xmlns:a="http://schemas.openxmlformats.org/drawingml/2006/main" anchorCtr="1"/>
          <a:lstStyle xmlns:a="http://schemas.openxmlformats.org/drawingml/2006/main"/>
          <a:p xmlns:a="http://schemas.openxmlformats.org/drawingml/2006/main">
            <a:pPr>
              <a:defRPr sz="1350">
                <a:solidFill>
                  <a:srgbClr val="535E6C"/>
                </a:solidFill>
                <a:latin typeface="Arial"/>
                <a:ea typeface="Arial"/>
                <a:cs typeface="Arial"/>
              </a:defRPr>
            </a:pPr>
          </a:p>
        </c:txPr>
        <c:crossAx val="48650112"/>
        <c:majorUnit val="2.8"/>
      </c:valAx>
      <c:valAx>
        <c:axId val="48650112"/>
        <c:scaling>
          <c:orientation val="minMax"/>
          <c:max val="10"/>
          <c:min val="0"/>
        </c:scaling>
        <c:delete val="0"/>
        <c:axPos val="b"/>
        <c:majorGridlines>
          <c:spPr>
            <a:ln xmlns:a="http://schemas.openxmlformats.org/drawingml/2006/main" w="9525">
              <a:solidFill>
                <a:srgbClr val="E4E8EC"/>
              </a:solidFill>
            </a:ln>
          </c:spPr>
        </c:majorGridlines>
        <c:title>
          <c:tx>
            <c:rich>
              <a:bodyPr xmlns:a="http://schemas.openxmlformats.org/drawingml/2006/main"/>
              <a:lstStyle xmlns:a="http://schemas.openxmlformats.org/drawingml/2006/main"/>
              <a:p xmlns:a="http://schemas.openxmlformats.org/drawingml/2006/main">
                <a:r>
                  <a:rPr sz="1500">
                    <a:solidFill>
                      <a:srgbClr val="18202A"/>
                    </a:solidFill>
                    <a:latin typeface="Arial"/>
                    <a:ea typeface="Arial"/>
                    <a:cs typeface="Arial"/>
                  </a:rPr>
                  <a:t>Time / s</a:t>
                </a:r>
              </a:p>
            </c:rich>
          </c:tx>
          <c:overlay val="0"/>
          <c:txPr>
            <a:bodyPr xmlns:a="http://schemas.openxmlformats.org/drawingml/2006/main" anchorCtr="1"/>
            <a:lstStyle xmlns:a="http://schemas.openxmlformats.org/drawingml/2006/main"/>
            <a:p xmlns:a="http://schemas.openxmlformats.org/drawingml/2006/main">
              <a:pPr>
                <a:defRPr sz="1500">
                  <a:solidFill>
                    <a:srgbClr val="18202A"/>
                  </a:solidFill>
                  <a:latin typeface="Arial"/>
                  <a:ea typeface="Arial"/>
                  <a:cs typeface="Arial"/>
                </a:defRPr>
              </a:pPr>
            </a:p>
          </c:txPr>
        </c:title>
        <c:numFmt formatCode="General"/>
        <c:majorTickMark val="none"/>
        <c:minorTickMark val="none"/>
        <c:tickLblPos val="low"/>
        <c:spPr>
          <a:ln xmlns:a="http://schemas.openxmlformats.org/drawingml/2006/main" w="9525">
            <a:solidFill>
              <a:srgbClr val="A6AFB9"/>
            </a:solidFill>
          </a:ln>
        </c:spPr>
        <c:txPr>
          <a:bodyPr xmlns:a="http://schemas.openxmlformats.org/drawingml/2006/main" anchorCtr="1"/>
          <a:lstStyle xmlns:a="http://schemas.openxmlformats.org/drawingml/2006/main"/>
          <a:p xmlns:a="http://schemas.openxmlformats.org/drawingml/2006/main">
            <a:pPr>
              <a:defRPr sz="1350">
                <a:solidFill>
                  <a:srgbClr val="535E6C"/>
                </a:solidFill>
                <a:latin typeface="Arial"/>
                <a:ea typeface="Arial"/>
                <a:cs typeface="Arial"/>
              </a:defRPr>
            </a:pPr>
          </a:p>
        </c:txPr>
        <c:crossAx val="48672768"/>
        <c:majorUnit val="2"/>
      </c:valAx>
      <c:spPr>
        <a:solidFill xmlns:a="http://schemas.openxmlformats.org/drawingml/2006/main">
          <a:srgbClr val="FFFFFF"/>
        </a:solidFill>
      </c:spPr>
    </c:plotArea>
    <c:legend>
      <c:legendPos val="b"/>
      <c:overlay val="0"/>
      <c:txPr>
        <a:bodyPr xmlns:a="http://schemas.openxmlformats.org/drawingml/2006/main" anchorCtr="1"/>
        <a:lstStyle xmlns:a="http://schemas.openxmlformats.org/drawingml/2006/main"/>
        <a:p xmlns:a="http://schemas.openxmlformats.org/drawingml/2006/main">
          <a:pPr>
            <a:defRPr sz="1425">
              <a:solidFill>
                <a:srgbClr val="18202A"/>
              </a:solidFill>
              <a:latin typeface="Arial"/>
              <a:ea typeface="Arial"/>
              <a:cs typeface="Arial"/>
            </a:defRPr>
          </a:pPr>
        </a:p>
      </c:txPr>
    </c:legend>
    <c:plotVisOnly val="1"/>
  </c:chart>
  <c:spPr>
    <a:solidFill xmlns:a="http://schemas.openxmlformats.org/drawingml/2006/main">
      <a:srgbClr val="FFFFFF"/>
    </a:solidFill>
  </c:spPr>
</c:chartSpace>
</file>

<file path=ppt/slides/charts/chart4.xml><?xml version="1.0" encoding="utf-8"?>
<c:chartSpace xmlns:c="http://schemas.openxmlformats.org/drawingml/2006/chart">
  <c:lang val="en-US"/>
  <c:chart>
    <c:plotArea>
      <c:barChart>
        <c:barDir val="col"/>
        <c:grouping val="clustered"/>
        <c:varyColors val="0"/>
        <c:ser>
          <c:idx val="0"/>
          <c:order val="0"/>
          <c:tx>
            <c:v>Median seconds</c:v>
          </c:tx>
          <c:spPr>
            <a:solidFill xmlns:a="http://schemas.openxmlformats.org/drawingml/2006/main">
              <a:srgbClr val="28775A"/>
            </a:solidFill>
          </c:spPr>
          <c:invertIfNegative val="0"/>
          <c:dPt>
            <c:idx val="0"/>
            <c:invertIfNegative val="0"/>
            <c:spPr>
              <a:solidFill xmlns:a="http://schemas.openxmlformats.org/drawingml/2006/main">
                <a:srgbClr val="28775A"/>
              </a:solidFill>
            </c:spPr>
          </c:dPt>
          <c:dPt>
            <c:idx val="1"/>
            <c:invertIfNegative val="0"/>
            <c:spPr>
              <a:solidFill xmlns:a="http://schemas.openxmlformats.org/drawingml/2006/main">
                <a:srgbClr val="CB532C"/>
              </a:solidFill>
            </c:spPr>
          </c:dPt>
          <c:cat>
            <c:strLit>
              <c:ptCount val="2"/>
              <c:pt idx="0">
                <c:v>Rust ndarray</c:v>
              </c:pt>
              <c:pt idx="1">
                <c:v>Python NumPy</c:v>
              </c:pt>
            </c:strLit>
          </c:cat>
          <c:val>
            <c:numLit>
              <c:formatCode>0.0</c:formatCode>
              <c:ptCount val="2"/>
              <c:pt idx="0">
                <c:v>1.0556732</c:v>
              </c:pt>
              <c:pt idx="1">
                <c:v>2.469241200014949</c:v>
              </c:pt>
            </c:numLit>
          </c:val>
        </c:ser>
        <c:dLbls>
          <c:numFmt formatCode="0.000" sourceLinked="0"/>
          <c:txPr>
            <a:bodyPr xmlns:a="http://schemas.openxmlformats.org/drawingml/2006/main" anchorCtr="1"/>
            <a:lstStyle xmlns:a="http://schemas.openxmlformats.org/drawingml/2006/main"/>
            <a:p xmlns:a="http://schemas.openxmlformats.org/drawingml/2006/main">
              <a:pPr>
                <a:defRPr sz="1725">
                  <a:solidFill>
                    <a:srgbClr val="18202A"/>
                  </a:solidFill>
                  <a:latin typeface="Arial"/>
                  <a:ea typeface="Arial"/>
                  <a:cs typeface="Arial"/>
                </a:defRPr>
              </a:pPr>
            </a:p>
          </c:txPr>
          <c:dLblPos val="outEnd"/>
          <c:showLegendKey val="0"/>
          <c:showVal val="1"/>
          <c:showCatName val="0"/>
          <c:showSerName val="0"/>
          <c:showPercent val="0"/>
          <c:showBubbleSize val="0"/>
          <c:showLeaderLines val="0"/>
        </c:dLbls>
        <c:gapWidth val="130"/>
        <c:axId val="48650112"/>
        <c:axId val="48672768"/>
      </c:barChart>
      <c:catAx>
        <c:axId val="48650112"/>
        <c:scaling>
          <c:orientation val="minMax"/>
        </c:scaling>
        <c:delete val="0"/>
        <c:axPos val="b"/>
        <c:title>
          <c:tx>
            <c:rich>
              <a:bodyPr xmlns:a="http://schemas.openxmlformats.org/drawingml/2006/main"/>
              <a:lstStyle xmlns:a="http://schemas.openxmlformats.org/drawingml/2006/main"/>
              <a:p xmlns:a="http://schemas.openxmlformats.org/drawingml/2006/main">
                <a:r>
                  <a:rPr sz="1500">
                    <a:solidFill>
                      <a:srgbClr val="18202A"/>
                    </a:solidFill>
                    <a:latin typeface="Arial"/>
                    <a:ea typeface="Arial"/>
                    <a:cs typeface="Arial"/>
                  </a:rPr>
                  <a:t>Implementation</a:t>
                </a:r>
              </a:p>
            </c:rich>
          </c:tx>
          <c:overlay val="0"/>
          <c:txPr>
            <a:bodyPr xmlns:a="http://schemas.openxmlformats.org/drawingml/2006/main" anchorCtr="1"/>
            <a:lstStyle xmlns:a="http://schemas.openxmlformats.org/drawingml/2006/main"/>
            <a:p xmlns:a="http://schemas.openxmlformats.org/drawingml/2006/main">
              <a:pPr>
                <a:defRPr sz="1500">
                  <a:solidFill>
                    <a:srgbClr val="18202A"/>
                  </a:solidFill>
                  <a:latin typeface="Arial"/>
                  <a:ea typeface="Arial"/>
                  <a:cs typeface="Arial"/>
                </a:defRPr>
              </a:pPr>
            </a:p>
          </c:txPr>
        </c:title>
        <c:numFmt formatCode="General"/>
        <c:majorTickMark val="none"/>
        <c:minorTickMark val="none"/>
        <c:spPr>
          <a:ln xmlns:a="http://schemas.openxmlformats.org/drawingml/2006/main" w="9525">
            <a:solidFill>
              <a:srgbClr val="A6AFB9"/>
            </a:solidFill>
          </a:ln>
        </c:spPr>
        <c:txPr>
          <a:bodyPr xmlns:a="http://schemas.openxmlformats.org/drawingml/2006/main" anchorCtr="1"/>
          <a:lstStyle xmlns:a="http://schemas.openxmlformats.org/drawingml/2006/main"/>
          <a:p xmlns:a="http://schemas.openxmlformats.org/drawingml/2006/main">
            <a:pPr>
              <a:defRPr sz="1350">
                <a:solidFill>
                  <a:srgbClr val="535E6C"/>
                </a:solidFill>
                <a:latin typeface="Arial"/>
                <a:ea typeface="Arial"/>
                <a:cs typeface="Arial"/>
              </a:defRPr>
            </a:pPr>
          </a:p>
        </c:txPr>
        <c:crossAx val="48672768"/>
      </c:catAx>
      <c:valAx>
        <c:axId val="48672768"/>
        <c:scaling>
          <c:orientation val="minMax"/>
          <c:max val="3"/>
          <c:min val="0"/>
        </c:scaling>
        <c:delete val="0"/>
        <c:axPos val="l"/>
        <c:majorGridlines>
          <c:spPr>
            <a:ln xmlns:a="http://schemas.openxmlformats.org/drawingml/2006/main" w="9525">
              <a:solidFill>
                <a:srgbClr val="E4E8EC"/>
              </a:solidFill>
            </a:ln>
          </c:spPr>
        </c:majorGridlines>
        <c:title>
          <c:tx>
            <c:rich>
              <a:bodyPr xmlns:a="http://schemas.openxmlformats.org/drawingml/2006/main"/>
              <a:lstStyle xmlns:a="http://schemas.openxmlformats.org/drawingml/2006/main"/>
              <a:p xmlns:a="http://schemas.openxmlformats.org/drawingml/2006/main">
                <a:r>
                  <a:rPr sz="1500">
                    <a:solidFill>
                      <a:srgbClr val="18202A"/>
                    </a:solidFill>
                    <a:latin typeface="Arial"/>
                    <a:ea typeface="Arial"/>
                    <a:cs typeface="Arial"/>
                  </a:rPr>
                  <a:t>Seconds</a:t>
                </a:r>
              </a:p>
            </c:rich>
          </c:tx>
          <c:overlay val="0"/>
          <c:txPr>
            <a:bodyPr xmlns:a="http://schemas.openxmlformats.org/drawingml/2006/main" anchorCtr="1"/>
            <a:lstStyle xmlns:a="http://schemas.openxmlformats.org/drawingml/2006/main"/>
            <a:p xmlns:a="http://schemas.openxmlformats.org/drawingml/2006/main">
              <a:pPr>
                <a:defRPr sz="1500">
                  <a:solidFill>
                    <a:srgbClr val="18202A"/>
                  </a:solidFill>
                  <a:latin typeface="Arial"/>
                  <a:ea typeface="Arial"/>
                  <a:cs typeface="Arial"/>
                </a:defRPr>
              </a:pPr>
            </a:p>
          </c:txPr>
        </c:title>
        <c:numFmt formatCode="0.0"/>
        <c:majorTickMark val="none"/>
        <c:minorTickMark val="none"/>
        <c:spPr>
          <a:ln xmlns:a="http://schemas.openxmlformats.org/drawingml/2006/main" w="9525">
            <a:solidFill>
              <a:srgbClr val="A6AFB9"/>
            </a:solidFill>
          </a:ln>
        </c:spPr>
        <c:txPr>
          <a:bodyPr xmlns:a="http://schemas.openxmlformats.org/drawingml/2006/main" anchorCtr="1"/>
          <a:lstStyle xmlns:a="http://schemas.openxmlformats.org/drawingml/2006/main"/>
          <a:p xmlns:a="http://schemas.openxmlformats.org/drawingml/2006/main">
            <a:pPr>
              <a:defRPr sz="1350">
                <a:solidFill>
                  <a:srgbClr val="535E6C"/>
                </a:solidFill>
                <a:latin typeface="Arial"/>
                <a:ea typeface="Arial"/>
                <a:cs typeface="Arial"/>
              </a:defRPr>
            </a:pPr>
          </a:p>
        </c:txPr>
        <c:crossAx val="48650112"/>
        <c:crossBetween val="between"/>
        <c:majorUnit val="0.5"/>
      </c:valAx>
      <c:spPr>
        <a:solidFill xmlns:a="http://schemas.openxmlformats.org/drawingml/2006/main">
          <a:srgbClr val="FFFFFF"/>
        </a:solidFill>
      </c:spPr>
    </c:plotArea>
    <c:plotVisOnly val="1"/>
  </c:chart>
  <c:spPr>
    <a:solidFill xmlns:a="http://schemas.openxmlformats.org/drawingml/2006/main">
      <a:srgbClr val="FFFFFF"/>
    </a:solidFill>
  </c:spPr>
</c:chartSpace>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4037FD0F-EA16-4ABA-98AF-307552465640}"/>
              </a:ext>
            </a:extLst>
          </p:cNvPr>
          <p:cNvSpPr>
            <a:spLocks xmlns:a="http://schemas.openxmlformats.org/drawingml/2006/main" noGrp="1"/>
          </p:cNvSpPr>
          <p:nvPr/>
        </p:nvSpPr>
        <p:spPr>
          <a:xfrm xmlns:a="http://schemas.openxmlformats.org/drawingml/2006/main">
            <a:off x="609600" y="476250"/>
            <a:ext cx="1097280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4500" b="1">
                <a:solidFill>
                  <a:srgbClr val="18202A"/>
                </a:solidFill>
                <a:latin typeface="Arial"/>
                <a:ea typeface="Arial"/>
                <a:cs typeface="Arial"/>
              </a:defRPr>
            </a:defPPr>
            <a:lvl1pPr>
              <a:defRPr sz="4500" b="1">
                <a:solidFill>
                  <a:srgbClr val="18202A"/>
                </a:solidFill>
                <a:latin typeface="Arial"/>
                <a:ea typeface="Arial"/>
                <a:cs typeface="Arial"/>
              </a:defRPr>
            </a:lvl1pPr>
            <a:lvl2pPr>
              <a:defRPr sz="4500" b="1">
                <a:solidFill>
                  <a:srgbClr val="18202A"/>
                </a:solidFill>
                <a:latin typeface="Arial"/>
                <a:ea typeface="Arial"/>
                <a:cs typeface="Arial"/>
              </a:defRPr>
            </a:lvl2pPr>
            <a:lvl3pPr>
              <a:defRPr sz="4500" b="1">
                <a:solidFill>
                  <a:srgbClr val="18202A"/>
                </a:solidFill>
                <a:latin typeface="Arial"/>
                <a:ea typeface="Arial"/>
                <a:cs typeface="Arial"/>
              </a:defRPr>
            </a:lvl3pPr>
            <a:lvl4pPr>
              <a:defRPr sz="4500" b="1">
                <a:solidFill>
                  <a:srgbClr val="18202A"/>
                </a:solidFill>
                <a:latin typeface="Arial"/>
                <a:ea typeface="Arial"/>
                <a:cs typeface="Arial"/>
              </a:defRPr>
            </a:lvl4pPr>
            <a:lvl5pPr>
              <a:defRPr sz="4500" b="1">
                <a:solidFill>
                  <a:srgbClr val="18202A"/>
                </a:solidFill>
                <a:latin typeface="Arial"/>
                <a:ea typeface="Arial"/>
                <a:cs typeface="Arial"/>
              </a:defRPr>
            </a:lvl5pPr>
            <a:lvl6pPr>
              <a:defRPr sz="4500" b="1">
                <a:solidFill>
                  <a:srgbClr val="18202A"/>
                </a:solidFill>
                <a:latin typeface="Arial"/>
                <a:ea typeface="Arial"/>
                <a:cs typeface="Arial"/>
              </a:defRPr>
            </a:lvl6pPr>
            <a:lvl7pPr>
              <a:defRPr sz="4500" b="1">
                <a:solidFill>
                  <a:srgbClr val="18202A"/>
                </a:solidFill>
                <a:latin typeface="Arial"/>
                <a:ea typeface="Arial"/>
                <a:cs typeface="Arial"/>
              </a:defRPr>
            </a:lvl7pPr>
            <a:lvl8pPr>
              <a:defRPr sz="4500" b="1">
                <a:solidFill>
                  <a:srgbClr val="18202A"/>
                </a:solidFill>
                <a:latin typeface="Arial"/>
                <a:ea typeface="Arial"/>
                <a:cs typeface="Arial"/>
              </a:defRPr>
            </a:lvl8pPr>
            <a:lvl9pPr>
              <a:defRPr sz="4500" b="1">
                <a:solidFill>
                  <a:srgbClr val="18202A"/>
                </a:solidFill>
                <a:latin typeface="Arial"/>
                <a:ea typeface="Arial"/>
                <a:cs typeface="Arial"/>
              </a:defRPr>
            </a:lvl9pPr>
          </a:lstStyle>
          <a:p xmlns:a="http://schemas.openxmlformats.org/drawingml/2006/main">
            <a:pPr>
              <a:defRPr sz="4500" b="1">
                <a:solidFill>
                  <a:srgbClr val="18202A"/>
                </a:solidFill>
                <a:latin typeface="Arial"/>
                <a:ea typeface="Arial"/>
                <a:cs typeface="Arial"/>
              </a:defRPr>
            </a:pPr>
            <a:r>
              <a:rPr sz="4500" b="1">
                <a:solidFill>
                  <a:srgbClr val="18202A"/>
                </a:solidFill>
                <a:latin typeface="Arial"/>
                <a:ea typeface="Arial"/>
                <a:cs typeface="Arial"/>
              </a:rPr>
              <a:t>Neural Network from Scratch</a:t>
            </a:r>
          </a:p>
          <a:p xmlns:a="http://schemas.openxmlformats.org/drawingml/2006/main">
            <a:pPr>
              <a:defRPr sz="4500" b="1">
                <a:solidFill>
                  <a:srgbClr val="18202A"/>
                </a:solidFill>
                <a:latin typeface="Arial"/>
                <a:ea typeface="Arial"/>
                <a:cs typeface="Arial"/>
              </a:defRPr>
            </a:pPr>
            <a:r>
              <a:rPr sz="4500" b="1">
                <a:solidFill>
                  <a:srgbClr val="18202A"/>
                </a:solidFill>
                <a:latin typeface="Arial"/>
                <a:ea typeface="Arial"/>
                <a:cs typeface="Arial"/>
              </a:rPr>
              <a:t>for ODE Solving</a:t>
            </a:r>
          </a:p>
        </p:txBody>
      </p:sp>
      <p:sp>
        <p:nvSpPr>
          <p:cNvPr id="2" name="">
            <a:extLst xmlns:a="http://schemas.openxmlformats.org/drawingml/2006/main">
              <a:ext uri="{FF2B5EF4-FFF2-40B4-BE49-F238E27FC236}">
                <a16:creationId xmlns:a16="http://schemas.microsoft.com/office/drawing/2014/main" id="{C9DF787B-0B6A-4CBC-99B3-C0F0980120FA}"/>
              </a:ext>
            </a:extLst>
          </p:cNvPr>
          <p:cNvSpPr>
            <a:spLocks xmlns:a="http://schemas.openxmlformats.org/drawingml/2006/main" noGrp="1"/>
          </p:cNvSpPr>
          <p:nvPr/>
        </p:nvSpPr>
        <p:spPr>
          <a:xfrm xmlns:a="http://schemas.openxmlformats.org/drawingml/2006/main">
            <a:off x="647700" y="2095500"/>
            <a:ext cx="4476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950" b="0">
                <a:solidFill>
                  <a:srgbClr val="535E6C"/>
                </a:solidFill>
                <a:latin typeface="Arial"/>
                <a:ea typeface="Arial"/>
                <a:cs typeface="Arial"/>
              </a:defRPr>
            </a:defPPr>
            <a:lvl1pPr>
              <a:defRPr sz="1950" b="0">
                <a:solidFill>
                  <a:srgbClr val="535E6C"/>
                </a:solidFill>
                <a:latin typeface="Arial"/>
                <a:ea typeface="Arial"/>
                <a:cs typeface="Arial"/>
              </a:defRPr>
            </a:lvl1pPr>
            <a:lvl2pPr>
              <a:defRPr sz="1950" b="0">
                <a:solidFill>
                  <a:srgbClr val="535E6C"/>
                </a:solidFill>
                <a:latin typeface="Arial"/>
                <a:ea typeface="Arial"/>
                <a:cs typeface="Arial"/>
              </a:defRPr>
            </a:lvl2pPr>
            <a:lvl3pPr>
              <a:defRPr sz="1950" b="0">
                <a:solidFill>
                  <a:srgbClr val="535E6C"/>
                </a:solidFill>
                <a:latin typeface="Arial"/>
                <a:ea typeface="Arial"/>
                <a:cs typeface="Arial"/>
              </a:defRPr>
            </a:lvl3pPr>
            <a:lvl4pPr>
              <a:defRPr sz="1950" b="0">
                <a:solidFill>
                  <a:srgbClr val="535E6C"/>
                </a:solidFill>
                <a:latin typeface="Arial"/>
                <a:ea typeface="Arial"/>
                <a:cs typeface="Arial"/>
              </a:defRPr>
            </a:lvl4pPr>
            <a:lvl5pPr>
              <a:defRPr sz="1950" b="0">
                <a:solidFill>
                  <a:srgbClr val="535E6C"/>
                </a:solidFill>
                <a:latin typeface="Arial"/>
                <a:ea typeface="Arial"/>
                <a:cs typeface="Arial"/>
              </a:defRPr>
            </a:lvl5pPr>
            <a:lvl6pPr>
              <a:defRPr sz="1950" b="0">
                <a:solidFill>
                  <a:srgbClr val="535E6C"/>
                </a:solidFill>
                <a:latin typeface="Arial"/>
                <a:ea typeface="Arial"/>
                <a:cs typeface="Arial"/>
              </a:defRPr>
            </a:lvl6pPr>
            <a:lvl7pPr>
              <a:defRPr sz="1950" b="0">
                <a:solidFill>
                  <a:srgbClr val="535E6C"/>
                </a:solidFill>
                <a:latin typeface="Arial"/>
                <a:ea typeface="Arial"/>
                <a:cs typeface="Arial"/>
              </a:defRPr>
            </a:lvl7pPr>
            <a:lvl8pPr>
              <a:defRPr sz="1950" b="0">
                <a:solidFill>
                  <a:srgbClr val="535E6C"/>
                </a:solidFill>
                <a:latin typeface="Arial"/>
                <a:ea typeface="Arial"/>
                <a:cs typeface="Arial"/>
              </a:defRPr>
            </a:lvl8pPr>
            <a:lvl9pPr>
              <a:defRPr sz="1950" b="0">
                <a:solidFill>
                  <a:srgbClr val="535E6C"/>
                </a:solidFill>
                <a:latin typeface="Arial"/>
                <a:ea typeface="Arial"/>
                <a:cs typeface="Arial"/>
              </a:defRPr>
            </a:lvl9pPr>
          </a:lstStyle>
          <a:p xmlns:a="http://schemas.openxmlformats.org/drawingml/2006/main">
            <a:pPr>
              <a:defRPr sz="1950" b="0">
                <a:solidFill>
                  <a:srgbClr val="535E6C"/>
                </a:solidFill>
                <a:latin typeface="Arial"/>
                <a:ea typeface="Arial"/>
                <a:cs typeface="Arial"/>
              </a:defRPr>
            </a:pPr>
            <a:r>
              <a:rPr sz="1950" b="0">
                <a:solidFill>
                  <a:srgbClr val="535E6C"/>
                </a:solidFill>
                <a:latin typeface="Arial"/>
                <a:ea typeface="Arial"/>
                <a:cs typeface="Arial"/>
              </a:rPr>
              <a:t>Team 11   Course 35-380</a:t>
            </a:r>
          </a:p>
        </p:txBody>
      </p:sp>
      <p:graphicFrame>
        <p:nvGraphicFramePr>
          <p:cNvPr id="3" name="">
            <a:extLst xmlns:a="http://schemas.openxmlformats.org/drawingml/2006/main">
              <a:ext uri="{FF2B5EF4-FFF2-40B4-BE49-F238E27FC236}">
                <a16:creationId xmlns:a16="http://schemas.microsoft.com/office/drawing/2014/main" id="{A5EEEDC5-8A8C-4E70-BCFE-598B549566CB}"/>
              </a:ext>
            </a:extLst>
          </p:cNvPr>
          <p:cNvGraphicFramePr/>
          <p:nvPr/>
        </p:nvGraphicFramePr>
        <p:xfrm>
          <a:off xmlns:a="http://schemas.openxmlformats.org/drawingml/2006/main" x="647700" y="2667000"/>
          <a:ext xmlns:a="http://schemas.openxmlformats.org/drawingml/2006/main" cx="4476750" cy="2266950"/>
        </p:xfrm>
        <a:graphic xmlns:a="http://schemas.openxmlformats.org/drawingml/2006/main">
          <a:graphicData uri="http://schemas.openxmlformats.org/drawingml/2006/table">
            <a:tbl>
              <a:tblPr/>
              <a:tblGrid>
                <a:gridCol w="1524000"/>
                <a:gridCol w="1381125"/>
                <a:gridCol w="1571625"/>
              </a:tblGrid>
              <a:tr h="323850">
                <a:tc>
                  <a:txBody>
                    <a:bodyPr/>
                    <a:lstStyle/>
                    <a:p>
                      <a:r>
                        <a:rPr sz="1500" b="1">
                          <a:solidFill>
                            <a:srgbClr val="18202A"/>
                          </a:solidFill>
                          <a:latin typeface="Arial"/>
                          <a:ea typeface="Arial"/>
                          <a:cs typeface="Arial"/>
                        </a:rPr>
                        <a:t>Student ID</a:t>
                      </a:r>
                    </a:p>
                  </a:txBody>
                  <a:tcPr marL="91440" marR="91440" marT="45720" marB="45720">
                    <a:lnL w="9525">
                      <a:solidFill>
                        <a:srgbClr val="D9D9D9"/>
                      </a:solidFill>
                      <a:prstDash val="solid"/>
                    </a:lnL>
                    <a:lnR w="9525">
                      <a:solidFill>
                        <a:srgbClr val="D9D9D9"/>
                      </a:solidFill>
                      <a:prstDash val="solid"/>
                    </a:lnR>
                    <a:lnT w="9525">
                      <a:solidFill>
                        <a:srgbClr val="D9D9D9"/>
                      </a:solidFill>
                      <a:prstDash val="solid"/>
                    </a:lnT>
                    <a:lnB w="9525">
                      <a:solidFill>
                        <a:srgbClr val="D9D9D9"/>
                      </a:solidFill>
                      <a:prstDash val="solid"/>
                    </a:lnB>
                    <a:solidFill>
                      <a:srgbClr val="E8EDF3"/>
                    </a:solidFill>
                  </a:tcPr>
                </a:tc>
                <a:tc>
                  <a:txBody>
                    <a:bodyPr/>
                    <a:lstStyle/>
                    <a:p>
                      <a:r>
                        <a:rPr sz="1500" b="1">
                          <a:solidFill>
                            <a:srgbClr val="18202A"/>
                          </a:solidFill>
                          <a:latin typeface="Arial"/>
                          <a:ea typeface="Arial"/>
                          <a:cs typeface="Arial"/>
                        </a:rPr>
                        <a:t>Last Name</a:t>
                      </a:r>
                    </a:p>
                  </a:txBody>
                  <a:tcPr marL="91440" marR="91440" marT="45720" marB="45720">
                    <a:lnR w="9525">
                      <a:solidFill>
                        <a:srgbClr val="D9D9D9"/>
                      </a:solidFill>
                      <a:prstDash val="solid"/>
                    </a:lnR>
                    <a:lnT w="9525">
                      <a:solidFill>
                        <a:srgbClr val="D9D9D9"/>
                      </a:solidFill>
                      <a:prstDash val="solid"/>
                    </a:lnT>
                    <a:lnB w="9525">
                      <a:solidFill>
                        <a:srgbClr val="D9D9D9"/>
                      </a:solidFill>
                      <a:prstDash val="solid"/>
                    </a:lnB>
                    <a:solidFill>
                      <a:srgbClr val="E8EDF3"/>
                    </a:solidFill>
                  </a:tcPr>
                </a:tc>
                <a:tc>
                  <a:txBody>
                    <a:bodyPr/>
                    <a:lstStyle/>
                    <a:p>
                      <a:r>
                        <a:rPr sz="1500" b="1">
                          <a:solidFill>
                            <a:srgbClr val="18202A"/>
                          </a:solidFill>
                          <a:latin typeface="Arial"/>
                          <a:ea typeface="Arial"/>
                          <a:cs typeface="Arial"/>
                        </a:rPr>
                        <a:t>First Name</a:t>
                      </a:r>
                    </a:p>
                  </a:txBody>
                  <a:tcPr marL="91440" marR="91440" marT="45720" marB="45720">
                    <a:lnR w="9525">
                      <a:solidFill>
                        <a:srgbClr val="D9D9D9"/>
                      </a:solidFill>
                      <a:prstDash val="solid"/>
                    </a:lnR>
                    <a:lnT w="9525">
                      <a:solidFill>
                        <a:srgbClr val="D9D9D9"/>
                      </a:solidFill>
                      <a:prstDash val="solid"/>
                    </a:lnT>
                    <a:lnB w="9525">
                      <a:solidFill>
                        <a:srgbClr val="D9D9D9"/>
                      </a:solidFill>
                      <a:prstDash val="solid"/>
                    </a:lnB>
                    <a:solidFill>
                      <a:srgbClr val="E8EDF3"/>
                    </a:solidFill>
                  </a:tcPr>
                </a:tc>
              </a:tr>
              <a:tr h="323850">
                <a:tc>
                  <a:txBody>
                    <a:bodyPr/>
                    <a:lstStyle/>
                    <a:p>
                      <a:r>
                        <a:rPr sz="1500" b="0">
                          <a:solidFill>
                            <a:srgbClr val="18202A"/>
                          </a:solidFill>
                          <a:latin typeface="Arial"/>
                          <a:ea typeface="Arial"/>
                          <a:cs typeface="Arial"/>
                        </a:rPr>
                        <a:t>D10774184</a:t>
                      </a:r>
                    </a:p>
                  </a:txBody>
                  <a:tcPr marL="91440" marR="91440" marT="45720" marB="45720">
                    <a:lnL w="9525">
                      <a:solidFill>
                        <a:srgbClr val="D9D9D9"/>
                      </a:solidFill>
                      <a:prstDash val="solid"/>
                    </a:lnL>
                    <a:lnR w="9525">
                      <a:solidFill>
                        <a:srgbClr val="D9D9D9"/>
                      </a:solidFill>
                      <a:prstDash val="solid"/>
                    </a:lnR>
                    <a:lnB w="9525">
                      <a:solidFill>
                        <a:srgbClr val="D9D9D9"/>
                      </a:solidFill>
                      <a:prstDash val="solid"/>
                    </a:lnB>
                    <a:solidFill>
                      <a:srgbClr val="FFFFFF"/>
                    </a:solidFill>
                  </a:tcPr>
                </a:tc>
                <a:tc>
                  <a:txBody>
                    <a:bodyPr/>
                    <a:lstStyle/>
                    <a:p>
                      <a:r>
                        <a:rPr sz="1500" b="0">
                          <a:solidFill>
                            <a:srgbClr val="18202A"/>
                          </a:solidFill>
                          <a:latin typeface="Arial"/>
                          <a:ea typeface="Arial"/>
                          <a:cs typeface="Arial"/>
                        </a:rPr>
                        <a:t>Xia</a:t>
                      </a:r>
                    </a:p>
                  </a:txBody>
                  <a:tcPr marL="91440" marR="91440" marT="45720" marB="45720">
                    <a:lnR w="9525">
                      <a:solidFill>
                        <a:srgbClr val="D9D9D9"/>
                      </a:solidFill>
                      <a:prstDash val="solid"/>
                    </a:lnR>
                    <a:lnB w="9525">
                      <a:solidFill>
                        <a:srgbClr val="D9D9D9"/>
                      </a:solidFill>
                      <a:prstDash val="solid"/>
                    </a:lnB>
                    <a:solidFill>
                      <a:srgbClr val="FFFFFF"/>
                    </a:solidFill>
                  </a:tcPr>
                </a:tc>
                <a:tc>
                  <a:txBody>
                    <a:bodyPr/>
                    <a:lstStyle/>
                    <a:p>
                      <a:r>
                        <a:rPr sz="1500" b="0">
                          <a:solidFill>
                            <a:srgbClr val="18202A"/>
                          </a:solidFill>
                          <a:latin typeface="Arial"/>
                          <a:ea typeface="Arial"/>
                          <a:cs typeface="Arial"/>
                        </a:rPr>
                        <a:t>Zimeng</a:t>
                      </a:r>
                    </a:p>
                  </a:txBody>
                  <a:tcPr marL="91440" marR="91440" marT="45720" marB="45720">
                    <a:lnR w="9525">
                      <a:solidFill>
                        <a:srgbClr val="D9D9D9"/>
                      </a:solidFill>
                      <a:prstDash val="solid"/>
                    </a:lnR>
                    <a:lnB w="9525">
                      <a:solidFill>
                        <a:srgbClr val="D9D9D9"/>
                      </a:solidFill>
                      <a:prstDash val="solid"/>
                    </a:lnB>
                    <a:solidFill>
                      <a:srgbClr val="FFFFFF"/>
                    </a:solidFill>
                  </a:tcPr>
                </a:tc>
              </a:tr>
              <a:tr h="323850">
                <a:tc>
                  <a:txBody>
                    <a:bodyPr/>
                    <a:lstStyle/>
                    <a:p>
                      <a:r>
                        <a:rPr sz="1500" b="0">
                          <a:solidFill>
                            <a:srgbClr val="18202A"/>
                          </a:solidFill>
                          <a:latin typeface="Arial"/>
                          <a:ea typeface="Arial"/>
                          <a:cs typeface="Arial"/>
                        </a:rPr>
                        <a:t>D10773951</a:t>
                      </a:r>
                    </a:p>
                  </a:txBody>
                  <a:tcPr marL="91440" marR="91440" marT="45720" marB="45720">
                    <a:lnL w="9525">
                      <a:solidFill>
                        <a:srgbClr val="D9D9D9"/>
                      </a:solidFill>
                      <a:prstDash val="solid"/>
                    </a:lnL>
                    <a:lnR w="9525">
                      <a:solidFill>
                        <a:srgbClr val="D9D9D9"/>
                      </a:solidFill>
                      <a:prstDash val="solid"/>
                    </a:lnR>
                    <a:lnB w="9525">
                      <a:solidFill>
                        <a:srgbClr val="D9D9D9"/>
                      </a:solidFill>
                      <a:prstDash val="solid"/>
                    </a:lnB>
                    <a:solidFill>
                      <a:srgbClr val="F5F7F9"/>
                    </a:solidFill>
                  </a:tcPr>
                </a:tc>
                <a:tc>
                  <a:txBody>
                    <a:bodyPr/>
                    <a:lstStyle/>
                    <a:p>
                      <a:r>
                        <a:rPr sz="1500" b="0">
                          <a:solidFill>
                            <a:srgbClr val="18202A"/>
                          </a:solidFill>
                          <a:latin typeface="Arial"/>
                          <a:ea typeface="Arial"/>
                          <a:cs typeface="Arial"/>
                        </a:rPr>
                        <a:t>Chen</a:t>
                      </a:r>
                    </a:p>
                  </a:txBody>
                  <a:tcPr marL="91440" marR="91440" marT="45720" marB="45720">
                    <a:lnR w="9525">
                      <a:solidFill>
                        <a:srgbClr val="D9D9D9"/>
                      </a:solidFill>
                      <a:prstDash val="solid"/>
                    </a:lnR>
                    <a:lnB w="9525">
                      <a:solidFill>
                        <a:srgbClr val="D9D9D9"/>
                      </a:solidFill>
                      <a:prstDash val="solid"/>
                    </a:lnB>
                    <a:solidFill>
                      <a:srgbClr val="F5F7F9"/>
                    </a:solidFill>
                  </a:tcPr>
                </a:tc>
                <a:tc>
                  <a:txBody>
                    <a:bodyPr/>
                    <a:lstStyle/>
                    <a:p>
                      <a:r>
                        <a:rPr sz="1500" b="0">
                          <a:solidFill>
                            <a:srgbClr val="18202A"/>
                          </a:solidFill>
                          <a:latin typeface="Arial"/>
                          <a:ea typeface="Arial"/>
                          <a:cs typeface="Arial"/>
                        </a:rPr>
                        <a:t>Botao</a:t>
                      </a:r>
                    </a:p>
                  </a:txBody>
                  <a:tcPr marL="91440" marR="91440" marT="45720" marB="45720">
                    <a:lnR w="9525">
                      <a:solidFill>
                        <a:srgbClr val="D9D9D9"/>
                      </a:solidFill>
                      <a:prstDash val="solid"/>
                    </a:lnR>
                    <a:lnB w="9525">
                      <a:solidFill>
                        <a:srgbClr val="D9D9D9"/>
                      </a:solidFill>
                      <a:prstDash val="solid"/>
                    </a:lnB>
                    <a:solidFill>
                      <a:srgbClr val="F5F7F9"/>
                    </a:solidFill>
                  </a:tcPr>
                </a:tc>
              </a:tr>
              <a:tr h="323850">
                <a:tc>
                  <a:txBody>
                    <a:bodyPr/>
                    <a:lstStyle/>
                    <a:p>
                      <a:r>
                        <a:rPr sz="1500" b="0">
                          <a:solidFill>
                            <a:srgbClr val="18202A"/>
                          </a:solidFill>
                          <a:latin typeface="Arial"/>
                          <a:ea typeface="Arial"/>
                          <a:cs typeface="Arial"/>
                        </a:rPr>
                        <a:t>D10773959</a:t>
                      </a:r>
                    </a:p>
                  </a:txBody>
                  <a:tcPr marL="91440" marR="91440" marT="45720" marB="45720">
                    <a:lnL w="9525">
                      <a:solidFill>
                        <a:srgbClr val="D9D9D9"/>
                      </a:solidFill>
                      <a:prstDash val="solid"/>
                    </a:lnL>
                    <a:lnR w="9525">
                      <a:solidFill>
                        <a:srgbClr val="D9D9D9"/>
                      </a:solidFill>
                      <a:prstDash val="solid"/>
                    </a:lnR>
                    <a:lnB w="9525">
                      <a:solidFill>
                        <a:srgbClr val="D9D9D9"/>
                      </a:solidFill>
                      <a:prstDash val="solid"/>
                    </a:lnB>
                    <a:solidFill>
                      <a:srgbClr val="FFFFFF"/>
                    </a:solidFill>
                  </a:tcPr>
                </a:tc>
                <a:tc>
                  <a:txBody>
                    <a:bodyPr/>
                    <a:lstStyle/>
                    <a:p>
                      <a:r>
                        <a:rPr sz="1500" b="0">
                          <a:solidFill>
                            <a:srgbClr val="18202A"/>
                          </a:solidFill>
                          <a:latin typeface="Arial"/>
                          <a:ea typeface="Arial"/>
                          <a:cs typeface="Arial"/>
                        </a:rPr>
                        <a:t>Cui</a:t>
                      </a:r>
                    </a:p>
                  </a:txBody>
                  <a:tcPr marL="91440" marR="91440" marT="45720" marB="45720">
                    <a:lnR w="9525">
                      <a:solidFill>
                        <a:srgbClr val="D9D9D9"/>
                      </a:solidFill>
                      <a:prstDash val="solid"/>
                    </a:lnR>
                    <a:lnB w="9525">
                      <a:solidFill>
                        <a:srgbClr val="D9D9D9"/>
                      </a:solidFill>
                      <a:prstDash val="solid"/>
                    </a:lnB>
                    <a:solidFill>
                      <a:srgbClr val="FFFFFF"/>
                    </a:solidFill>
                  </a:tcPr>
                </a:tc>
                <a:tc>
                  <a:txBody>
                    <a:bodyPr/>
                    <a:lstStyle/>
                    <a:p>
                      <a:r>
                        <a:rPr sz="1500" b="0">
                          <a:solidFill>
                            <a:srgbClr val="18202A"/>
                          </a:solidFill>
                          <a:latin typeface="Arial"/>
                          <a:ea typeface="Arial"/>
                          <a:cs typeface="Arial"/>
                        </a:rPr>
                        <a:t>Wenzhi</a:t>
                      </a:r>
                    </a:p>
                  </a:txBody>
                  <a:tcPr marL="91440" marR="91440" marT="45720" marB="45720">
                    <a:lnR w="9525">
                      <a:solidFill>
                        <a:srgbClr val="D9D9D9"/>
                      </a:solidFill>
                      <a:prstDash val="solid"/>
                    </a:lnR>
                    <a:lnB w="9525">
                      <a:solidFill>
                        <a:srgbClr val="D9D9D9"/>
                      </a:solidFill>
                      <a:prstDash val="solid"/>
                    </a:lnB>
                    <a:solidFill>
                      <a:srgbClr val="FFFFFF"/>
                    </a:solidFill>
                  </a:tcPr>
                </a:tc>
              </a:tr>
              <a:tr h="323850">
                <a:tc>
                  <a:txBody>
                    <a:bodyPr/>
                    <a:lstStyle/>
                    <a:p>
                      <a:r>
                        <a:rPr sz="1500" b="0">
                          <a:solidFill>
                            <a:srgbClr val="18202A"/>
                          </a:solidFill>
                          <a:latin typeface="Arial"/>
                          <a:ea typeface="Arial"/>
                          <a:cs typeface="Arial"/>
                        </a:rPr>
                        <a:t>D10774061</a:t>
                      </a:r>
                    </a:p>
                  </a:txBody>
                  <a:tcPr marL="91440" marR="91440" marT="45720" marB="45720">
                    <a:lnL w="9525">
                      <a:solidFill>
                        <a:srgbClr val="D9D9D9"/>
                      </a:solidFill>
                      <a:prstDash val="solid"/>
                    </a:lnL>
                    <a:lnR w="9525">
                      <a:solidFill>
                        <a:srgbClr val="D9D9D9"/>
                      </a:solidFill>
                      <a:prstDash val="solid"/>
                    </a:lnR>
                    <a:lnB w="9525">
                      <a:solidFill>
                        <a:srgbClr val="D9D9D9"/>
                      </a:solidFill>
                      <a:prstDash val="solid"/>
                    </a:lnB>
                    <a:solidFill>
                      <a:srgbClr val="F5F7F9"/>
                    </a:solidFill>
                  </a:tcPr>
                </a:tc>
                <a:tc>
                  <a:txBody>
                    <a:bodyPr/>
                    <a:lstStyle/>
                    <a:p>
                      <a:r>
                        <a:rPr sz="1500" b="0">
                          <a:solidFill>
                            <a:srgbClr val="18202A"/>
                          </a:solidFill>
                          <a:latin typeface="Arial"/>
                          <a:ea typeface="Arial"/>
                          <a:cs typeface="Arial"/>
                        </a:rPr>
                        <a:t>Luo</a:t>
                      </a:r>
                    </a:p>
                  </a:txBody>
                  <a:tcPr marL="91440" marR="91440" marT="45720" marB="45720">
                    <a:lnR w="9525">
                      <a:solidFill>
                        <a:srgbClr val="D9D9D9"/>
                      </a:solidFill>
                      <a:prstDash val="solid"/>
                    </a:lnR>
                    <a:lnB w="9525">
                      <a:solidFill>
                        <a:srgbClr val="D9D9D9"/>
                      </a:solidFill>
                      <a:prstDash val="solid"/>
                    </a:lnB>
                    <a:solidFill>
                      <a:srgbClr val="F5F7F9"/>
                    </a:solidFill>
                  </a:tcPr>
                </a:tc>
                <a:tc>
                  <a:txBody>
                    <a:bodyPr/>
                    <a:lstStyle/>
                    <a:p>
                      <a:r>
                        <a:rPr sz="1500" b="0">
                          <a:solidFill>
                            <a:srgbClr val="18202A"/>
                          </a:solidFill>
                          <a:latin typeface="Arial"/>
                          <a:ea typeface="Arial"/>
                          <a:cs typeface="Arial"/>
                        </a:rPr>
                        <a:t>Yiqin</a:t>
                      </a:r>
                    </a:p>
                  </a:txBody>
                  <a:tcPr marL="91440" marR="91440" marT="45720" marB="45720">
                    <a:lnR w="9525">
                      <a:solidFill>
                        <a:srgbClr val="D9D9D9"/>
                      </a:solidFill>
                      <a:prstDash val="solid"/>
                    </a:lnR>
                    <a:lnB w="9525">
                      <a:solidFill>
                        <a:srgbClr val="D9D9D9"/>
                      </a:solidFill>
                      <a:prstDash val="solid"/>
                    </a:lnB>
                    <a:solidFill>
                      <a:srgbClr val="F5F7F9"/>
                    </a:solidFill>
                  </a:tcPr>
                </a:tc>
              </a:tr>
              <a:tr h="323850">
                <a:tc>
                  <a:txBody>
                    <a:bodyPr/>
                    <a:lstStyle/>
                    <a:p>
                      <a:r>
                        <a:rPr sz="1500" b="0">
                          <a:solidFill>
                            <a:srgbClr val="18202A"/>
                          </a:solidFill>
                          <a:latin typeface="Arial"/>
                          <a:ea typeface="Arial"/>
                          <a:cs typeface="Arial"/>
                        </a:rPr>
                        <a:t>D10774076</a:t>
                      </a:r>
                    </a:p>
                  </a:txBody>
                  <a:tcPr marL="91440" marR="91440" marT="45720" marB="45720">
                    <a:lnL w="9525">
                      <a:solidFill>
                        <a:srgbClr val="D9D9D9"/>
                      </a:solidFill>
                      <a:prstDash val="solid"/>
                    </a:lnL>
                    <a:lnR w="9525">
                      <a:solidFill>
                        <a:srgbClr val="D9D9D9"/>
                      </a:solidFill>
                      <a:prstDash val="solid"/>
                    </a:lnR>
                    <a:lnB w="9525">
                      <a:solidFill>
                        <a:srgbClr val="D9D9D9"/>
                      </a:solidFill>
                      <a:prstDash val="solid"/>
                    </a:lnB>
                    <a:solidFill>
                      <a:srgbClr val="FFFFFF"/>
                    </a:solidFill>
                  </a:tcPr>
                </a:tc>
                <a:tc>
                  <a:txBody>
                    <a:bodyPr/>
                    <a:lstStyle/>
                    <a:p>
                      <a:r>
                        <a:rPr sz="1500" b="0">
                          <a:solidFill>
                            <a:srgbClr val="18202A"/>
                          </a:solidFill>
                          <a:latin typeface="Arial"/>
                          <a:ea typeface="Arial"/>
                          <a:cs typeface="Arial"/>
                        </a:rPr>
                        <a:t>Yang</a:t>
                      </a:r>
                    </a:p>
                  </a:txBody>
                  <a:tcPr marL="91440" marR="91440" marT="45720" marB="45720">
                    <a:lnR w="9525">
                      <a:solidFill>
                        <a:srgbClr val="D9D9D9"/>
                      </a:solidFill>
                      <a:prstDash val="solid"/>
                    </a:lnR>
                    <a:lnB w="9525">
                      <a:solidFill>
                        <a:srgbClr val="D9D9D9"/>
                      </a:solidFill>
                      <a:prstDash val="solid"/>
                    </a:lnB>
                    <a:solidFill>
                      <a:srgbClr val="FFFFFF"/>
                    </a:solidFill>
                  </a:tcPr>
                </a:tc>
                <a:tc>
                  <a:txBody>
                    <a:bodyPr/>
                    <a:lstStyle/>
                    <a:p>
                      <a:r>
                        <a:rPr sz="1500" b="0">
                          <a:solidFill>
                            <a:srgbClr val="18202A"/>
                          </a:solidFill>
                          <a:latin typeface="Arial"/>
                          <a:ea typeface="Arial"/>
                          <a:cs typeface="Arial"/>
                        </a:rPr>
                        <a:t>Miaomiao</a:t>
                      </a:r>
                    </a:p>
                  </a:txBody>
                  <a:tcPr marL="91440" marR="91440" marT="45720" marB="45720">
                    <a:lnR w="9525">
                      <a:solidFill>
                        <a:srgbClr val="D9D9D9"/>
                      </a:solidFill>
                      <a:prstDash val="solid"/>
                    </a:lnR>
                    <a:lnB w="9525">
                      <a:solidFill>
                        <a:srgbClr val="D9D9D9"/>
                      </a:solidFill>
                      <a:prstDash val="solid"/>
                    </a:lnB>
                    <a:solidFill>
                      <a:srgbClr val="FFFFFF"/>
                    </a:solidFill>
                  </a:tcPr>
                </a:tc>
              </a:tr>
              <a:tr h="323850">
                <a:tc>
                  <a:txBody>
                    <a:bodyPr/>
                    <a:lstStyle/>
                    <a:p>
                      <a:r>
                        <a:rPr sz="1500" b="0">
                          <a:solidFill>
                            <a:srgbClr val="18202A"/>
                          </a:solidFill>
                          <a:latin typeface="Arial"/>
                          <a:ea typeface="Arial"/>
                          <a:cs typeface="Arial"/>
                        </a:rPr>
                        <a:t>D10774175</a:t>
                      </a:r>
                    </a:p>
                  </a:txBody>
                  <a:tcPr marL="91440" marR="91440" marT="45720" marB="45720">
                    <a:lnL w="9525">
                      <a:solidFill>
                        <a:srgbClr val="D9D9D9"/>
                      </a:solidFill>
                      <a:prstDash val="solid"/>
                    </a:lnL>
                    <a:lnR w="9525">
                      <a:solidFill>
                        <a:srgbClr val="D9D9D9"/>
                      </a:solidFill>
                      <a:prstDash val="solid"/>
                    </a:lnR>
                    <a:lnB w="9525">
                      <a:solidFill>
                        <a:srgbClr val="D9D9D9"/>
                      </a:solidFill>
                      <a:prstDash val="solid"/>
                    </a:lnB>
                    <a:solidFill>
                      <a:srgbClr val="F5F7F9"/>
                    </a:solidFill>
                  </a:tcPr>
                </a:tc>
                <a:tc>
                  <a:txBody>
                    <a:bodyPr/>
                    <a:lstStyle/>
                    <a:p>
                      <a:r>
                        <a:rPr sz="1500" b="0">
                          <a:solidFill>
                            <a:srgbClr val="18202A"/>
                          </a:solidFill>
                          <a:latin typeface="Arial"/>
                          <a:ea typeface="Arial"/>
                          <a:cs typeface="Arial"/>
                        </a:rPr>
                        <a:t>Wu</a:t>
                      </a:r>
                    </a:p>
                  </a:txBody>
                  <a:tcPr marL="91440" marR="91440" marT="45720" marB="45720">
                    <a:lnR w="9525">
                      <a:solidFill>
                        <a:srgbClr val="D9D9D9"/>
                      </a:solidFill>
                      <a:prstDash val="solid"/>
                    </a:lnR>
                    <a:lnB w="9525">
                      <a:solidFill>
                        <a:srgbClr val="D9D9D9"/>
                      </a:solidFill>
                      <a:prstDash val="solid"/>
                    </a:lnB>
                    <a:solidFill>
                      <a:srgbClr val="F5F7F9"/>
                    </a:solidFill>
                  </a:tcPr>
                </a:tc>
                <a:tc>
                  <a:txBody>
                    <a:bodyPr/>
                    <a:lstStyle/>
                    <a:p>
                      <a:r>
                        <a:rPr sz="1500" b="0">
                          <a:solidFill>
                            <a:srgbClr val="18202A"/>
                          </a:solidFill>
                          <a:latin typeface="Arial"/>
                          <a:ea typeface="Arial"/>
                          <a:cs typeface="Arial"/>
                        </a:rPr>
                        <a:t>Han</a:t>
                      </a:r>
                    </a:p>
                  </a:txBody>
                  <a:tcPr marL="91440" marR="91440" marT="45720" marB="45720">
                    <a:lnR w="9525">
                      <a:solidFill>
                        <a:srgbClr val="D9D9D9"/>
                      </a:solidFill>
                      <a:prstDash val="solid"/>
                    </a:lnR>
                    <a:lnB w="9525">
                      <a:solidFill>
                        <a:srgbClr val="D9D9D9"/>
                      </a:solidFill>
                      <a:prstDash val="solid"/>
                    </a:lnB>
                    <a:solidFill>
                      <a:srgbClr val="F5F7F9"/>
                    </a:solidFill>
                  </a:tcPr>
                </a:tc>
              </a:tr>
            </a:tbl>
          </a:graphicData>
        </a:graphic>
      </p:graphicFrame>
      <p:sp>
        <p:nvSpPr>
          <p:cNvPr id="4" name="">
            <a:extLst xmlns:a="http://schemas.openxmlformats.org/drawingml/2006/main">
              <a:ext uri="{FF2B5EF4-FFF2-40B4-BE49-F238E27FC236}">
                <a16:creationId xmlns:a16="http://schemas.microsoft.com/office/drawing/2014/main" id="{8E8BAB93-95A0-40B7-84FB-739E043CA377}"/>
              </a:ext>
            </a:extLst>
          </p:cNvPr>
          <p:cNvSpPr>
            <a:spLocks xmlns:a="http://schemas.openxmlformats.org/drawingml/2006/main" noGrp="1"/>
          </p:cNvSpPr>
          <p:nvPr/>
        </p:nvSpPr>
        <p:spPr>
          <a:xfrm xmlns:a="http://schemas.openxmlformats.org/drawingml/2006/main">
            <a:off x="647700" y="5143500"/>
            <a:ext cx="4476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3900" b="1">
                <a:solidFill>
                  <a:srgbClr val="245BC2"/>
                </a:solidFill>
                <a:latin typeface="Arial"/>
                <a:ea typeface="Arial"/>
                <a:cs typeface="Arial"/>
              </a:defRPr>
            </a:defPPr>
            <a:lvl1pPr>
              <a:defRPr sz="3900" b="1">
                <a:solidFill>
                  <a:srgbClr val="245BC2"/>
                </a:solidFill>
                <a:latin typeface="Arial"/>
                <a:ea typeface="Arial"/>
                <a:cs typeface="Arial"/>
              </a:defRPr>
            </a:lvl1pPr>
            <a:lvl2pPr>
              <a:defRPr sz="3900" b="1">
                <a:solidFill>
                  <a:srgbClr val="245BC2"/>
                </a:solidFill>
                <a:latin typeface="Arial"/>
                <a:ea typeface="Arial"/>
                <a:cs typeface="Arial"/>
              </a:defRPr>
            </a:lvl2pPr>
            <a:lvl3pPr>
              <a:defRPr sz="3900" b="1">
                <a:solidFill>
                  <a:srgbClr val="245BC2"/>
                </a:solidFill>
                <a:latin typeface="Arial"/>
                <a:ea typeface="Arial"/>
                <a:cs typeface="Arial"/>
              </a:defRPr>
            </a:lvl3pPr>
            <a:lvl4pPr>
              <a:defRPr sz="3900" b="1">
                <a:solidFill>
                  <a:srgbClr val="245BC2"/>
                </a:solidFill>
                <a:latin typeface="Arial"/>
                <a:ea typeface="Arial"/>
                <a:cs typeface="Arial"/>
              </a:defRPr>
            </a:lvl4pPr>
            <a:lvl5pPr>
              <a:defRPr sz="3900" b="1">
                <a:solidFill>
                  <a:srgbClr val="245BC2"/>
                </a:solidFill>
                <a:latin typeface="Arial"/>
                <a:ea typeface="Arial"/>
                <a:cs typeface="Arial"/>
              </a:defRPr>
            </a:lvl5pPr>
            <a:lvl6pPr>
              <a:defRPr sz="3900" b="1">
                <a:solidFill>
                  <a:srgbClr val="245BC2"/>
                </a:solidFill>
                <a:latin typeface="Arial"/>
                <a:ea typeface="Arial"/>
                <a:cs typeface="Arial"/>
              </a:defRPr>
            </a:lvl6pPr>
            <a:lvl7pPr>
              <a:defRPr sz="3900" b="1">
                <a:solidFill>
                  <a:srgbClr val="245BC2"/>
                </a:solidFill>
                <a:latin typeface="Arial"/>
                <a:ea typeface="Arial"/>
                <a:cs typeface="Arial"/>
              </a:defRPr>
            </a:lvl7pPr>
            <a:lvl8pPr>
              <a:defRPr sz="3900" b="1">
                <a:solidFill>
                  <a:srgbClr val="245BC2"/>
                </a:solidFill>
                <a:latin typeface="Arial"/>
                <a:ea typeface="Arial"/>
                <a:cs typeface="Arial"/>
              </a:defRPr>
            </a:lvl8pPr>
            <a:lvl9pPr>
              <a:defRPr sz="3900" b="1">
                <a:solidFill>
                  <a:srgbClr val="245BC2"/>
                </a:solidFill>
                <a:latin typeface="Arial"/>
                <a:ea typeface="Arial"/>
                <a:cs typeface="Arial"/>
              </a:defRPr>
            </a:lvl9pPr>
          </a:lstStyle>
          <a:p xmlns:a="http://schemas.openxmlformats.org/drawingml/2006/main">
            <a:pPr>
              <a:defRPr sz="3900" b="1">
                <a:solidFill>
                  <a:srgbClr val="245BC2"/>
                </a:solidFill>
                <a:latin typeface="Arial"/>
                <a:ea typeface="Arial"/>
                <a:cs typeface="Arial"/>
              </a:defRPr>
            </a:pPr>
            <a:r>
              <a:rPr sz="3900" b="1">
                <a:solidFill>
                  <a:srgbClr val="245BC2"/>
                </a:solidFill>
                <a:latin typeface="Arial"/>
                <a:ea typeface="Arial"/>
                <a:cs typeface="Arial"/>
              </a:rPr>
              <a:t>99.10%</a:t>
            </a:r>
          </a:p>
        </p:txBody>
      </p:sp>
      <p:sp>
        <p:nvSpPr>
          <p:cNvPr id="5" name="">
            <a:extLst xmlns:a="http://schemas.openxmlformats.org/drawingml/2006/main">
              <a:ext uri="{FF2B5EF4-FFF2-40B4-BE49-F238E27FC236}">
                <a16:creationId xmlns:a16="http://schemas.microsoft.com/office/drawing/2014/main" id="{B2889078-BF46-4F0F-8DF9-F175DCBD5528}"/>
              </a:ext>
            </a:extLst>
          </p:cNvPr>
          <p:cNvSpPr>
            <a:spLocks xmlns:a="http://schemas.openxmlformats.org/drawingml/2006/main" noGrp="1"/>
          </p:cNvSpPr>
          <p:nvPr/>
        </p:nvSpPr>
        <p:spPr>
          <a:xfrm xmlns:a="http://schemas.openxmlformats.org/drawingml/2006/main">
            <a:off x="666750" y="5810250"/>
            <a:ext cx="44767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650" b="0">
                <a:solidFill>
                  <a:srgbClr val="18202A"/>
                </a:solidFill>
                <a:latin typeface="Arial"/>
                <a:ea typeface="Arial"/>
                <a:cs typeface="Arial"/>
              </a:defRPr>
            </a:defPPr>
            <a:lvl1pPr>
              <a:defRPr sz="1650" b="0">
                <a:solidFill>
                  <a:srgbClr val="18202A"/>
                </a:solidFill>
                <a:latin typeface="Arial"/>
                <a:ea typeface="Arial"/>
                <a:cs typeface="Arial"/>
              </a:defRPr>
            </a:lvl1pPr>
            <a:lvl2pPr>
              <a:defRPr sz="1650" b="0">
                <a:solidFill>
                  <a:srgbClr val="18202A"/>
                </a:solidFill>
                <a:latin typeface="Arial"/>
                <a:ea typeface="Arial"/>
                <a:cs typeface="Arial"/>
              </a:defRPr>
            </a:lvl2pPr>
            <a:lvl3pPr>
              <a:defRPr sz="1650" b="0">
                <a:solidFill>
                  <a:srgbClr val="18202A"/>
                </a:solidFill>
                <a:latin typeface="Arial"/>
                <a:ea typeface="Arial"/>
                <a:cs typeface="Arial"/>
              </a:defRPr>
            </a:lvl3pPr>
            <a:lvl4pPr>
              <a:defRPr sz="1650" b="0">
                <a:solidFill>
                  <a:srgbClr val="18202A"/>
                </a:solidFill>
                <a:latin typeface="Arial"/>
                <a:ea typeface="Arial"/>
                <a:cs typeface="Arial"/>
              </a:defRPr>
            </a:lvl4pPr>
            <a:lvl5pPr>
              <a:defRPr sz="1650" b="0">
                <a:solidFill>
                  <a:srgbClr val="18202A"/>
                </a:solidFill>
                <a:latin typeface="Arial"/>
                <a:ea typeface="Arial"/>
                <a:cs typeface="Arial"/>
              </a:defRPr>
            </a:lvl5pPr>
            <a:lvl6pPr>
              <a:defRPr sz="1650" b="0">
                <a:solidFill>
                  <a:srgbClr val="18202A"/>
                </a:solidFill>
                <a:latin typeface="Arial"/>
                <a:ea typeface="Arial"/>
                <a:cs typeface="Arial"/>
              </a:defRPr>
            </a:lvl6pPr>
            <a:lvl7pPr>
              <a:defRPr sz="1650" b="0">
                <a:solidFill>
                  <a:srgbClr val="18202A"/>
                </a:solidFill>
                <a:latin typeface="Arial"/>
                <a:ea typeface="Arial"/>
                <a:cs typeface="Arial"/>
              </a:defRPr>
            </a:lvl7pPr>
            <a:lvl8pPr>
              <a:defRPr sz="1650" b="0">
                <a:solidFill>
                  <a:srgbClr val="18202A"/>
                </a:solidFill>
                <a:latin typeface="Arial"/>
                <a:ea typeface="Arial"/>
                <a:cs typeface="Arial"/>
              </a:defRPr>
            </a:lvl8pPr>
            <a:lvl9pPr>
              <a:defRPr sz="1650" b="0">
                <a:solidFill>
                  <a:srgbClr val="18202A"/>
                </a:solidFill>
                <a:latin typeface="Arial"/>
                <a:ea typeface="Arial"/>
                <a:cs typeface="Arial"/>
              </a:defRPr>
            </a:lvl9pPr>
          </a:lstStyle>
          <a:p xmlns:a="http://schemas.openxmlformats.org/drawingml/2006/main">
            <a:pPr>
              <a:defRPr sz="1650" b="0">
                <a:solidFill>
                  <a:srgbClr val="18202A"/>
                </a:solidFill>
                <a:latin typeface="Arial"/>
                <a:ea typeface="Arial"/>
                <a:cs typeface="Arial"/>
              </a:defRPr>
            </a:pPr>
            <a:r>
              <a:rPr sz="1650" b="0">
                <a:solidFill>
                  <a:srgbClr val="18202A"/>
                </a:solidFill>
                <a:latin typeface="Arial"/>
                <a:ea typeface="Arial"/>
                <a:cs typeface="Arial"/>
              </a:rPr>
              <a:t>lower one-step standardized RMSE</a:t>
            </a:r>
          </a:p>
          <a:p xmlns:a="http://schemas.openxmlformats.org/drawingml/2006/main">
            <a:pPr>
              <a:defRPr sz="1650" b="0">
                <a:solidFill>
                  <a:srgbClr val="18202A"/>
                </a:solidFill>
                <a:latin typeface="Arial"/>
                <a:ea typeface="Arial"/>
                <a:cs typeface="Arial"/>
              </a:defRPr>
            </a:pPr>
            <a:r>
              <a:rPr sz="1650" b="0">
                <a:solidFill>
                  <a:srgbClr val="18202A"/>
                </a:solidFill>
                <a:latin typeface="Arial"/>
                <a:ea typeface="Arial"/>
                <a:cs typeface="Arial"/>
              </a:rPr>
              <a:t>than predicting no motion</a:t>
            </a:r>
          </a:p>
        </p:txBody>
      </p:sp>
      <p:pic>
        <p:nvPicPr>
          <p:cNvPr id="6" name="">
            <a:extLst xmlns:a="http://schemas.openxmlformats.org/drawingml/2006/main">
              <a:ext uri="{FF2B5EF4-FFF2-40B4-BE49-F238E27FC236}">
                <a16:creationId xmlns:a16="http://schemas.microsoft.com/office/drawing/2014/main" id="{79D271C3-A476-4497-8652-5ED6C84F4054}"/>
              </a:ext>
            </a:extLst>
          </p:cNvPr>
          <p:cNvPicPr>
            <a:picLocks xmlns:a="http://schemas.openxmlformats.org/drawingml/2006/main" noChangeAspect="1"/>
          </p:cNvPicPr>
          <p:nvPr/>
        </p:nvPicPr>
        <p:blipFill>
          <a:blip xmlns:r="http://schemas.openxmlformats.org/officeDocument/2006/relationships" xmlns:a="http://schemas.openxmlformats.org/drawingml/2006/main" r:embed="R76f96aea077341ab"/>
          <a:stretch xmlns:a="http://schemas.openxmlformats.org/drawingml/2006/main"/>
        </p:blipFill>
        <p:spPr>
          <a:xfrm xmlns:a="http://schemas.openxmlformats.org/drawingml/2006/main">
            <a:off x="5334000" y="2095500"/>
            <a:ext cx="6248400" cy="3905250"/>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71947B68-41C9-4FE0-8A00-01CEA2B09167}"/>
              </a:ext>
            </a:extLst>
          </p:cNvPr>
          <p:cNvSpPr>
            <a:spLocks xmlns:a="http://schemas.openxmlformats.org/drawingml/2006/main" noGrp="1"/>
          </p:cNvSpPr>
          <p:nvPr/>
        </p:nvSpPr>
        <p:spPr>
          <a:xfrm xmlns:a="http://schemas.openxmlformats.org/drawingml/2006/main">
            <a:off x="647700" y="6457950"/>
            <a:ext cx="106680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425" b="0">
                <a:solidFill>
                  <a:srgbClr val="535E6C"/>
                </a:solidFill>
                <a:latin typeface="Arial"/>
                <a:ea typeface="Arial"/>
                <a:cs typeface="Arial"/>
              </a:defRPr>
            </a:defPPr>
            <a:lvl1pPr>
              <a:defRPr sz="1425" b="0">
                <a:solidFill>
                  <a:srgbClr val="535E6C"/>
                </a:solidFill>
                <a:latin typeface="Arial"/>
                <a:ea typeface="Arial"/>
                <a:cs typeface="Arial"/>
              </a:defRPr>
            </a:lvl1pPr>
            <a:lvl2pPr>
              <a:defRPr sz="1425" b="0">
                <a:solidFill>
                  <a:srgbClr val="535E6C"/>
                </a:solidFill>
                <a:latin typeface="Arial"/>
                <a:ea typeface="Arial"/>
                <a:cs typeface="Arial"/>
              </a:defRPr>
            </a:lvl2pPr>
            <a:lvl3pPr>
              <a:defRPr sz="1425" b="0">
                <a:solidFill>
                  <a:srgbClr val="535E6C"/>
                </a:solidFill>
                <a:latin typeface="Arial"/>
                <a:ea typeface="Arial"/>
                <a:cs typeface="Arial"/>
              </a:defRPr>
            </a:lvl3pPr>
            <a:lvl4pPr>
              <a:defRPr sz="1425" b="0">
                <a:solidFill>
                  <a:srgbClr val="535E6C"/>
                </a:solidFill>
                <a:latin typeface="Arial"/>
                <a:ea typeface="Arial"/>
                <a:cs typeface="Arial"/>
              </a:defRPr>
            </a:lvl4pPr>
            <a:lvl5pPr>
              <a:defRPr sz="1425" b="0">
                <a:solidFill>
                  <a:srgbClr val="535E6C"/>
                </a:solidFill>
                <a:latin typeface="Arial"/>
                <a:ea typeface="Arial"/>
                <a:cs typeface="Arial"/>
              </a:defRPr>
            </a:lvl5pPr>
            <a:lvl6pPr>
              <a:defRPr sz="1425" b="0">
                <a:solidFill>
                  <a:srgbClr val="535E6C"/>
                </a:solidFill>
                <a:latin typeface="Arial"/>
                <a:ea typeface="Arial"/>
                <a:cs typeface="Arial"/>
              </a:defRPr>
            </a:lvl6pPr>
            <a:lvl7pPr>
              <a:defRPr sz="1425" b="0">
                <a:solidFill>
                  <a:srgbClr val="535E6C"/>
                </a:solidFill>
                <a:latin typeface="Arial"/>
                <a:ea typeface="Arial"/>
                <a:cs typeface="Arial"/>
              </a:defRPr>
            </a:lvl7pPr>
            <a:lvl8pPr>
              <a:defRPr sz="1425" b="0">
                <a:solidFill>
                  <a:srgbClr val="535E6C"/>
                </a:solidFill>
                <a:latin typeface="Arial"/>
                <a:ea typeface="Arial"/>
                <a:cs typeface="Arial"/>
              </a:defRPr>
            </a:lvl8pPr>
            <a:lvl9pPr>
              <a:defRPr sz="1425" b="0">
                <a:solidFill>
                  <a:srgbClr val="535E6C"/>
                </a:solidFill>
                <a:latin typeface="Arial"/>
                <a:ea typeface="Arial"/>
                <a:cs typeface="Arial"/>
              </a:defRPr>
            </a:lvl9pPr>
          </a:lstStyle>
          <a:p xmlns:a="http://schemas.openxmlformats.org/drawingml/2006/main">
            <a:pPr>
              <a:defRPr sz="1425" b="0">
                <a:solidFill>
                  <a:srgbClr val="535E6C"/>
                </a:solidFill>
                <a:latin typeface="Arial"/>
                <a:ea typeface="Arial"/>
                <a:cs typeface="Arial"/>
              </a:defRPr>
            </a:pPr>
            <a:r>
              <a:rPr sz="1425" b="0">
                <a:solidFill>
                  <a:srgbClr val="535E6C"/>
                </a:solidFill>
                <a:latin typeface="Arial"/>
                <a:ea typeface="Arial"/>
                <a:cs typeface="Arial"/>
              </a:rPr>
              <a:t>Manual gradients and an offline pendulum comparison.</a:t>
            </a:r>
          </a:p>
        </p:txBody>
      </p:sp>
    </p:spTree>
    <p:extLst>
      <p:ext uri="{BB962C8B-B14F-4D97-AF65-F5344CB8AC3E}">
        <p14:creationId xmlns:p14="http://schemas.microsoft.com/office/powerpoint/2010/main" val="109252224"/>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4F056E1F-2DFE-4570-858E-52B86CFD2CC7}"/>
              </a:ext>
            </a:extLst>
          </p:cNvPr>
          <p:cNvSpPr>
            <a:spLocks xmlns:a="http://schemas.openxmlformats.org/drawingml/2006/main" noGrp="1"/>
          </p:cNvSpPr>
          <p:nvPr/>
        </p:nvSpPr>
        <p:spPr>
          <a:xfrm xmlns:a="http://schemas.openxmlformats.org/drawingml/2006/main">
            <a:off x="609600" y="40005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3300" b="1">
                <a:solidFill>
                  <a:srgbClr val="18202A"/>
                </a:solidFill>
                <a:latin typeface="Arial"/>
                <a:ea typeface="Arial"/>
                <a:cs typeface="Arial"/>
              </a:defRPr>
            </a:defPPr>
            <a:lvl1pPr>
              <a:defRPr sz="3300" b="1">
                <a:solidFill>
                  <a:srgbClr val="18202A"/>
                </a:solidFill>
                <a:latin typeface="Arial"/>
                <a:ea typeface="Arial"/>
                <a:cs typeface="Arial"/>
              </a:defRPr>
            </a:lvl1pPr>
            <a:lvl2pPr>
              <a:defRPr sz="3300" b="1">
                <a:solidFill>
                  <a:srgbClr val="18202A"/>
                </a:solidFill>
                <a:latin typeface="Arial"/>
                <a:ea typeface="Arial"/>
                <a:cs typeface="Arial"/>
              </a:defRPr>
            </a:lvl2pPr>
            <a:lvl3pPr>
              <a:defRPr sz="3300" b="1">
                <a:solidFill>
                  <a:srgbClr val="18202A"/>
                </a:solidFill>
                <a:latin typeface="Arial"/>
                <a:ea typeface="Arial"/>
                <a:cs typeface="Arial"/>
              </a:defRPr>
            </a:lvl3pPr>
            <a:lvl4pPr>
              <a:defRPr sz="3300" b="1">
                <a:solidFill>
                  <a:srgbClr val="18202A"/>
                </a:solidFill>
                <a:latin typeface="Arial"/>
                <a:ea typeface="Arial"/>
                <a:cs typeface="Arial"/>
              </a:defRPr>
            </a:lvl4pPr>
            <a:lvl5pPr>
              <a:defRPr sz="3300" b="1">
                <a:solidFill>
                  <a:srgbClr val="18202A"/>
                </a:solidFill>
                <a:latin typeface="Arial"/>
                <a:ea typeface="Arial"/>
                <a:cs typeface="Arial"/>
              </a:defRPr>
            </a:lvl5pPr>
            <a:lvl6pPr>
              <a:defRPr sz="3300" b="1">
                <a:solidFill>
                  <a:srgbClr val="18202A"/>
                </a:solidFill>
                <a:latin typeface="Arial"/>
                <a:ea typeface="Arial"/>
                <a:cs typeface="Arial"/>
              </a:defRPr>
            </a:lvl6pPr>
            <a:lvl7pPr>
              <a:defRPr sz="3300" b="1">
                <a:solidFill>
                  <a:srgbClr val="18202A"/>
                </a:solidFill>
                <a:latin typeface="Arial"/>
                <a:ea typeface="Arial"/>
                <a:cs typeface="Arial"/>
              </a:defRPr>
            </a:lvl7pPr>
            <a:lvl8pPr>
              <a:defRPr sz="3300" b="1">
                <a:solidFill>
                  <a:srgbClr val="18202A"/>
                </a:solidFill>
                <a:latin typeface="Arial"/>
                <a:ea typeface="Arial"/>
                <a:cs typeface="Arial"/>
              </a:defRPr>
            </a:lvl8pPr>
            <a:lvl9pPr>
              <a:defRPr sz="3300" b="1">
                <a:solidFill>
                  <a:srgbClr val="18202A"/>
                </a:solidFill>
                <a:latin typeface="Arial"/>
                <a:ea typeface="Arial"/>
                <a:cs typeface="Arial"/>
              </a:defRPr>
            </a:lvl9pPr>
          </a:lstStyle>
          <a:p xmlns:a="http://schemas.openxmlformats.org/drawingml/2006/main">
            <a:pPr>
              <a:defRPr sz="3300" b="1">
                <a:solidFill>
                  <a:srgbClr val="18202A"/>
                </a:solidFill>
                <a:latin typeface="Arial"/>
                <a:ea typeface="Arial"/>
                <a:cs typeface="Arial"/>
              </a:defRPr>
            </a:pPr>
            <a:r>
              <a:rPr sz="3300" b="1">
                <a:solidFill>
                  <a:srgbClr val="18202A"/>
                </a:solidFill>
                <a:latin typeface="Arial"/>
                <a:ea typeface="Arial"/>
                <a:cs typeface="Arial"/>
              </a:rPr>
              <a:t>Physical System</a:t>
            </a:r>
          </a:p>
        </p:txBody>
      </p:sp>
      <p:sp>
        <p:nvSpPr>
          <p:cNvPr id="2" name="">
            <a:extLst xmlns:a="http://schemas.openxmlformats.org/drawingml/2006/main">
              <a:ext uri="{FF2B5EF4-FFF2-40B4-BE49-F238E27FC236}">
                <a16:creationId xmlns:a16="http://schemas.microsoft.com/office/drawing/2014/main" id="{71AC908C-8278-4171-BF58-F4E0FB44FF6B}"/>
              </a:ext>
            </a:extLst>
          </p:cNvPr>
          <p:cNvSpPr>
            <a:spLocks xmlns:a="http://schemas.openxmlformats.org/drawingml/2006/main" noGrp="1"/>
          </p:cNvSpPr>
          <p:nvPr/>
        </p:nvSpPr>
        <p:spPr>
          <a:xfrm xmlns:a="http://schemas.openxmlformats.org/drawingml/2006/main">
            <a:off x="647700" y="1381125"/>
            <a:ext cx="108108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175" b="0">
                <a:solidFill>
                  <a:srgbClr val="18202A"/>
                </a:solidFill>
                <a:latin typeface="Arial"/>
                <a:ea typeface="Arial"/>
                <a:cs typeface="Arial"/>
              </a:defRPr>
            </a:defPPr>
            <a:lvl1pPr>
              <a:defRPr sz="2175" b="0">
                <a:solidFill>
                  <a:srgbClr val="18202A"/>
                </a:solidFill>
                <a:latin typeface="Arial"/>
                <a:ea typeface="Arial"/>
                <a:cs typeface="Arial"/>
              </a:defRPr>
            </a:lvl1pPr>
            <a:lvl2pPr>
              <a:defRPr sz="2175" b="0">
                <a:solidFill>
                  <a:srgbClr val="18202A"/>
                </a:solidFill>
                <a:latin typeface="Arial"/>
                <a:ea typeface="Arial"/>
                <a:cs typeface="Arial"/>
              </a:defRPr>
            </a:lvl2pPr>
            <a:lvl3pPr>
              <a:defRPr sz="2175" b="0">
                <a:solidFill>
                  <a:srgbClr val="18202A"/>
                </a:solidFill>
                <a:latin typeface="Arial"/>
                <a:ea typeface="Arial"/>
                <a:cs typeface="Arial"/>
              </a:defRPr>
            </a:lvl3pPr>
            <a:lvl4pPr>
              <a:defRPr sz="2175" b="0">
                <a:solidFill>
                  <a:srgbClr val="18202A"/>
                </a:solidFill>
                <a:latin typeface="Arial"/>
                <a:ea typeface="Arial"/>
                <a:cs typeface="Arial"/>
              </a:defRPr>
            </a:lvl4pPr>
            <a:lvl5pPr>
              <a:defRPr sz="2175" b="0">
                <a:solidFill>
                  <a:srgbClr val="18202A"/>
                </a:solidFill>
                <a:latin typeface="Arial"/>
                <a:ea typeface="Arial"/>
                <a:cs typeface="Arial"/>
              </a:defRPr>
            </a:lvl5pPr>
            <a:lvl6pPr>
              <a:defRPr sz="2175" b="0">
                <a:solidFill>
                  <a:srgbClr val="18202A"/>
                </a:solidFill>
                <a:latin typeface="Arial"/>
                <a:ea typeface="Arial"/>
                <a:cs typeface="Arial"/>
              </a:defRPr>
            </a:lvl6pPr>
            <a:lvl7pPr>
              <a:defRPr sz="2175" b="0">
                <a:solidFill>
                  <a:srgbClr val="18202A"/>
                </a:solidFill>
                <a:latin typeface="Arial"/>
                <a:ea typeface="Arial"/>
                <a:cs typeface="Arial"/>
              </a:defRPr>
            </a:lvl7pPr>
            <a:lvl8pPr>
              <a:defRPr sz="2175" b="0">
                <a:solidFill>
                  <a:srgbClr val="18202A"/>
                </a:solidFill>
                <a:latin typeface="Arial"/>
                <a:ea typeface="Arial"/>
                <a:cs typeface="Arial"/>
              </a:defRPr>
            </a:lvl8pPr>
            <a:lvl9pPr>
              <a:defRPr sz="2175" b="0">
                <a:solidFill>
                  <a:srgbClr val="18202A"/>
                </a:solidFill>
                <a:latin typeface="Arial"/>
                <a:ea typeface="Arial"/>
                <a:cs typeface="Arial"/>
              </a:defRPr>
            </a:lvl9pPr>
          </a:lstStyle>
          <a:p xmlns:a="http://schemas.openxmlformats.org/drawingml/2006/main">
            <a:pPr>
              <a:defRPr sz="2175" b="0">
                <a:solidFill>
                  <a:srgbClr val="18202A"/>
                </a:solidFill>
                <a:latin typeface="Arial"/>
                <a:ea typeface="Arial"/>
                <a:cs typeface="Arial"/>
              </a:defRPr>
            </a:pPr>
            <a:r>
              <a:rPr sz="2175" b="0">
                <a:solidFill>
                  <a:srgbClr val="18202A"/>
                </a:solidFill>
                <a:latin typeface="Arial"/>
                <a:ea typeface="Arial"/>
                <a:cs typeface="Arial"/>
              </a:rPr>
              <a:t>State: angle and angular velocity</a:t>
            </a:r>
          </a:p>
        </p:txBody>
      </p:sp>
      <p:sp>
        <p:nvSpPr>
          <p:cNvPr id="3" name="">
            <a:extLst xmlns:a="http://schemas.openxmlformats.org/drawingml/2006/main">
              <a:ext uri="{FF2B5EF4-FFF2-40B4-BE49-F238E27FC236}">
                <a16:creationId xmlns:a16="http://schemas.microsoft.com/office/drawing/2014/main" id="{A9C33E09-FD9B-445A-8B91-7600EB36DE57}"/>
              </a:ext>
            </a:extLst>
          </p:cNvPr>
          <p:cNvSpPr>
            <a:spLocks xmlns:a="http://schemas.openxmlformats.org/drawingml/2006/main" noGrp="1"/>
          </p:cNvSpPr>
          <p:nvPr/>
        </p:nvSpPr>
        <p:spPr>
          <a:xfrm xmlns:a="http://schemas.openxmlformats.org/drawingml/2006/main">
            <a:off x="666750" y="2114550"/>
            <a:ext cx="10477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700" b="0">
                <a:solidFill>
                  <a:srgbClr val="18202A"/>
                </a:solidFill>
                <a:latin typeface="Cambria Math"/>
                <a:ea typeface="Cambria Math"/>
                <a:cs typeface="Cambria Math"/>
              </a:defRPr>
            </a:defPPr>
            <a:lvl1pPr>
              <a:defRPr sz="2700" b="0">
                <a:solidFill>
                  <a:srgbClr val="18202A"/>
                </a:solidFill>
                <a:latin typeface="Cambria Math"/>
                <a:ea typeface="Cambria Math"/>
                <a:cs typeface="Cambria Math"/>
              </a:defRPr>
            </a:lvl1pPr>
            <a:lvl2pPr>
              <a:defRPr sz="2700" b="0">
                <a:solidFill>
                  <a:srgbClr val="18202A"/>
                </a:solidFill>
                <a:latin typeface="Cambria Math"/>
                <a:ea typeface="Cambria Math"/>
                <a:cs typeface="Cambria Math"/>
              </a:defRPr>
            </a:lvl2pPr>
            <a:lvl3pPr>
              <a:defRPr sz="2700" b="0">
                <a:solidFill>
                  <a:srgbClr val="18202A"/>
                </a:solidFill>
                <a:latin typeface="Cambria Math"/>
                <a:ea typeface="Cambria Math"/>
                <a:cs typeface="Cambria Math"/>
              </a:defRPr>
            </a:lvl3pPr>
            <a:lvl4pPr>
              <a:defRPr sz="2700" b="0">
                <a:solidFill>
                  <a:srgbClr val="18202A"/>
                </a:solidFill>
                <a:latin typeface="Cambria Math"/>
                <a:ea typeface="Cambria Math"/>
                <a:cs typeface="Cambria Math"/>
              </a:defRPr>
            </a:lvl4pPr>
            <a:lvl5pPr>
              <a:defRPr sz="2700" b="0">
                <a:solidFill>
                  <a:srgbClr val="18202A"/>
                </a:solidFill>
                <a:latin typeface="Cambria Math"/>
                <a:ea typeface="Cambria Math"/>
                <a:cs typeface="Cambria Math"/>
              </a:defRPr>
            </a:lvl5pPr>
            <a:lvl6pPr>
              <a:defRPr sz="2700" b="0">
                <a:solidFill>
                  <a:srgbClr val="18202A"/>
                </a:solidFill>
                <a:latin typeface="Cambria Math"/>
                <a:ea typeface="Cambria Math"/>
                <a:cs typeface="Cambria Math"/>
              </a:defRPr>
            </a:lvl6pPr>
            <a:lvl7pPr>
              <a:defRPr sz="2700" b="0">
                <a:solidFill>
                  <a:srgbClr val="18202A"/>
                </a:solidFill>
                <a:latin typeface="Cambria Math"/>
                <a:ea typeface="Cambria Math"/>
                <a:cs typeface="Cambria Math"/>
              </a:defRPr>
            </a:lvl7pPr>
            <a:lvl8pPr>
              <a:defRPr sz="2700" b="0">
                <a:solidFill>
                  <a:srgbClr val="18202A"/>
                </a:solidFill>
                <a:latin typeface="Cambria Math"/>
                <a:ea typeface="Cambria Math"/>
                <a:cs typeface="Cambria Math"/>
              </a:defRPr>
            </a:lvl8pPr>
            <a:lvl9pPr>
              <a:defRPr sz="2700" b="0">
                <a:solidFill>
                  <a:srgbClr val="18202A"/>
                </a:solidFill>
                <a:latin typeface="Cambria Math"/>
                <a:ea typeface="Cambria Math"/>
                <a:cs typeface="Cambria Math"/>
              </a:defRPr>
            </a:lvl9pPr>
          </a:lstStyle>
          <a:p xmlns:a="http://schemas.openxmlformats.org/drawingml/2006/main">
            <a:pPr>
              <a:defRPr sz="2700" b="0">
                <a:solidFill>
                  <a:srgbClr val="18202A"/>
                </a:solidFill>
                <a:latin typeface="Cambria Math"/>
                <a:ea typeface="Cambria Math"/>
                <a:cs typeface="Cambria Math"/>
              </a:defRPr>
            </a:pPr>
            <a:r>
              <a:rPr sz="2700" b="0">
                <a:solidFill>
                  <a:srgbClr val="18202A"/>
                </a:solidFill>
                <a:latin typeface="Cambria Math"/>
                <a:ea typeface="Cambria Math"/>
                <a:cs typeface="Cambria Math"/>
              </a:rPr>
              <a:t>theta′ = omega</a:t>
            </a:r>
          </a:p>
        </p:txBody>
      </p:sp>
      <p:sp>
        <p:nvSpPr>
          <p:cNvPr id="4" name="">
            <a:extLst xmlns:a="http://schemas.openxmlformats.org/drawingml/2006/main">
              <a:ext uri="{FF2B5EF4-FFF2-40B4-BE49-F238E27FC236}">
                <a16:creationId xmlns:a16="http://schemas.microsoft.com/office/drawing/2014/main" id="{1BAB272D-4BE9-4518-8963-044F0DE1D721}"/>
              </a:ext>
            </a:extLst>
          </p:cNvPr>
          <p:cNvSpPr>
            <a:spLocks xmlns:a="http://schemas.openxmlformats.org/drawingml/2006/main" noGrp="1"/>
          </p:cNvSpPr>
          <p:nvPr/>
        </p:nvSpPr>
        <p:spPr>
          <a:xfrm xmlns:a="http://schemas.openxmlformats.org/drawingml/2006/main">
            <a:off x="666750" y="2762250"/>
            <a:ext cx="10477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550" b="0">
                <a:solidFill>
                  <a:srgbClr val="18202A"/>
                </a:solidFill>
                <a:latin typeface="Cambria Math"/>
                <a:ea typeface="Cambria Math"/>
                <a:cs typeface="Cambria Math"/>
              </a:defRPr>
            </a:defPPr>
            <a:lvl1pPr>
              <a:defRPr sz="2550" b="0">
                <a:solidFill>
                  <a:srgbClr val="18202A"/>
                </a:solidFill>
                <a:latin typeface="Cambria Math"/>
                <a:ea typeface="Cambria Math"/>
                <a:cs typeface="Cambria Math"/>
              </a:defRPr>
            </a:lvl1pPr>
            <a:lvl2pPr>
              <a:defRPr sz="2550" b="0">
                <a:solidFill>
                  <a:srgbClr val="18202A"/>
                </a:solidFill>
                <a:latin typeface="Cambria Math"/>
                <a:ea typeface="Cambria Math"/>
                <a:cs typeface="Cambria Math"/>
              </a:defRPr>
            </a:lvl2pPr>
            <a:lvl3pPr>
              <a:defRPr sz="2550" b="0">
                <a:solidFill>
                  <a:srgbClr val="18202A"/>
                </a:solidFill>
                <a:latin typeface="Cambria Math"/>
                <a:ea typeface="Cambria Math"/>
                <a:cs typeface="Cambria Math"/>
              </a:defRPr>
            </a:lvl3pPr>
            <a:lvl4pPr>
              <a:defRPr sz="2550" b="0">
                <a:solidFill>
                  <a:srgbClr val="18202A"/>
                </a:solidFill>
                <a:latin typeface="Cambria Math"/>
                <a:ea typeface="Cambria Math"/>
                <a:cs typeface="Cambria Math"/>
              </a:defRPr>
            </a:lvl4pPr>
            <a:lvl5pPr>
              <a:defRPr sz="2550" b="0">
                <a:solidFill>
                  <a:srgbClr val="18202A"/>
                </a:solidFill>
                <a:latin typeface="Cambria Math"/>
                <a:ea typeface="Cambria Math"/>
                <a:cs typeface="Cambria Math"/>
              </a:defRPr>
            </a:lvl5pPr>
            <a:lvl6pPr>
              <a:defRPr sz="2550" b="0">
                <a:solidFill>
                  <a:srgbClr val="18202A"/>
                </a:solidFill>
                <a:latin typeface="Cambria Math"/>
                <a:ea typeface="Cambria Math"/>
                <a:cs typeface="Cambria Math"/>
              </a:defRPr>
            </a:lvl6pPr>
            <a:lvl7pPr>
              <a:defRPr sz="2550" b="0">
                <a:solidFill>
                  <a:srgbClr val="18202A"/>
                </a:solidFill>
                <a:latin typeface="Cambria Math"/>
                <a:ea typeface="Cambria Math"/>
                <a:cs typeface="Cambria Math"/>
              </a:defRPr>
            </a:lvl7pPr>
            <a:lvl8pPr>
              <a:defRPr sz="2550" b="0">
                <a:solidFill>
                  <a:srgbClr val="18202A"/>
                </a:solidFill>
                <a:latin typeface="Cambria Math"/>
                <a:ea typeface="Cambria Math"/>
                <a:cs typeface="Cambria Math"/>
              </a:defRPr>
            </a:lvl8pPr>
            <a:lvl9pPr>
              <a:defRPr sz="2550" b="0">
                <a:solidFill>
                  <a:srgbClr val="18202A"/>
                </a:solidFill>
                <a:latin typeface="Cambria Math"/>
                <a:ea typeface="Cambria Math"/>
                <a:cs typeface="Cambria Math"/>
              </a:defRPr>
            </a:lvl9pPr>
          </a:lstStyle>
          <a:p xmlns:a="http://schemas.openxmlformats.org/drawingml/2006/main">
            <a:pPr>
              <a:defRPr sz="2550" b="0">
                <a:solidFill>
                  <a:srgbClr val="18202A"/>
                </a:solidFill>
                <a:latin typeface="Cambria Math"/>
                <a:ea typeface="Cambria Math"/>
                <a:cs typeface="Cambria Math"/>
              </a:defRPr>
            </a:pPr>
            <a:r>
              <a:rPr sz="2550" b="0">
                <a:solidFill>
                  <a:srgbClr val="18202A"/>
                </a:solidFill>
                <a:latin typeface="Cambria Math"/>
                <a:ea typeface="Cambria Math"/>
                <a:cs typeface="Cambria Math"/>
              </a:rPr>
              <a:t>omega′ = -(g / L) sin(theta) - beta omega</a:t>
            </a:r>
          </a:p>
        </p:txBody>
      </p:sp>
      <p:graphicFrame>
        <p:nvGraphicFramePr>
          <p:cNvPr id="5" name="">
            <a:extLst xmlns:a="http://schemas.openxmlformats.org/drawingml/2006/main">
              <a:ext uri="{FF2B5EF4-FFF2-40B4-BE49-F238E27FC236}">
                <a16:creationId xmlns:a16="http://schemas.microsoft.com/office/drawing/2014/main" id="{191F25E8-E526-43E9-B150-D949D87005CA}"/>
              </a:ext>
            </a:extLst>
          </p:cNvPr>
          <p:cNvGraphicFramePr/>
          <p:nvPr/>
        </p:nvGraphicFramePr>
        <p:xfrm>
          <a:off xmlns:a="http://schemas.openxmlformats.org/drawingml/2006/main" x="647700" y="3762375"/>
          <a:ext xmlns:a="http://schemas.openxmlformats.org/drawingml/2006/main" cx="10858500" cy="1143000"/>
        </p:xfrm>
        <a:graphic xmlns:a="http://schemas.openxmlformats.org/drawingml/2006/main">
          <a:graphicData uri="http://schemas.openxmlformats.org/drawingml/2006/table">
            <a:tbl>
              <a:tblPr/>
              <a:tblGrid>
                <a:gridCol w="1905000"/>
                <a:gridCol w="1619250"/>
                <a:gridCol w="2000250"/>
                <a:gridCol w="2667000"/>
                <a:gridCol w="2667000"/>
              </a:tblGrid>
              <a:tr h="571500">
                <a:tc>
                  <a:txBody>
                    <a:bodyPr/>
                    <a:lstStyle/>
                    <a:p>
                      <a:r>
                        <a:rPr sz="1725" b="1">
                          <a:solidFill>
                            <a:srgbClr val="18202A"/>
                          </a:solidFill>
                          <a:latin typeface="Arial"/>
                          <a:ea typeface="Arial"/>
                          <a:cs typeface="Arial"/>
                        </a:rPr>
                        <a:t>g</a:t>
                      </a:r>
                    </a:p>
                  </a:txBody>
                  <a:tcPr marL="91440" marR="91440" marT="45720" marB="45720">
                    <a:lnL w="9525">
                      <a:solidFill>
                        <a:srgbClr val="D9D9D9"/>
                      </a:solidFill>
                      <a:prstDash val="solid"/>
                    </a:lnL>
                    <a:lnR w="9525">
                      <a:solidFill>
                        <a:srgbClr val="D9D9D9"/>
                      </a:solidFill>
                      <a:prstDash val="solid"/>
                    </a:lnR>
                    <a:lnT w="9525">
                      <a:solidFill>
                        <a:srgbClr val="D9D9D9"/>
                      </a:solidFill>
                      <a:prstDash val="solid"/>
                    </a:lnT>
                    <a:lnB w="9525">
                      <a:solidFill>
                        <a:srgbClr val="D9D9D9"/>
                      </a:solidFill>
                      <a:prstDash val="solid"/>
                    </a:lnB>
                    <a:solidFill>
                      <a:srgbClr val="E8EDF3"/>
                    </a:solidFill>
                  </a:tcPr>
                </a:tc>
                <a:tc>
                  <a:txBody>
                    <a:bodyPr/>
                    <a:lstStyle/>
                    <a:p>
                      <a:r>
                        <a:rPr sz="1725" b="1">
                          <a:solidFill>
                            <a:srgbClr val="18202A"/>
                          </a:solidFill>
                          <a:latin typeface="Arial"/>
                          <a:ea typeface="Arial"/>
                          <a:cs typeface="Arial"/>
                        </a:rPr>
                        <a:t>L</a:t>
                      </a:r>
                    </a:p>
                  </a:txBody>
                  <a:tcPr marL="91440" marR="91440" marT="45720" marB="45720">
                    <a:lnR w="9525">
                      <a:solidFill>
                        <a:srgbClr val="D9D9D9"/>
                      </a:solidFill>
                      <a:prstDash val="solid"/>
                    </a:lnR>
                    <a:lnT w="9525">
                      <a:solidFill>
                        <a:srgbClr val="D9D9D9"/>
                      </a:solidFill>
                      <a:prstDash val="solid"/>
                    </a:lnT>
                    <a:lnB w="9525">
                      <a:solidFill>
                        <a:srgbClr val="D9D9D9"/>
                      </a:solidFill>
                      <a:prstDash val="solid"/>
                    </a:lnB>
                    <a:solidFill>
                      <a:srgbClr val="E8EDF3"/>
                    </a:solidFill>
                  </a:tcPr>
                </a:tc>
                <a:tc>
                  <a:txBody>
                    <a:bodyPr/>
                    <a:lstStyle/>
                    <a:p>
                      <a:r>
                        <a:rPr sz="1725" b="1">
                          <a:solidFill>
                            <a:srgbClr val="18202A"/>
                          </a:solidFill>
                          <a:latin typeface="Arial"/>
                          <a:ea typeface="Arial"/>
                          <a:cs typeface="Arial"/>
                        </a:rPr>
                        <a:t>beta</a:t>
                      </a:r>
                    </a:p>
                  </a:txBody>
                  <a:tcPr marL="91440" marR="91440" marT="45720" marB="45720">
                    <a:lnR w="9525">
                      <a:solidFill>
                        <a:srgbClr val="D9D9D9"/>
                      </a:solidFill>
                      <a:prstDash val="solid"/>
                    </a:lnR>
                    <a:lnT w="9525">
                      <a:solidFill>
                        <a:srgbClr val="D9D9D9"/>
                      </a:solidFill>
                      <a:prstDash val="solid"/>
                    </a:lnT>
                    <a:lnB w="9525">
                      <a:solidFill>
                        <a:srgbClr val="D9D9D9"/>
                      </a:solidFill>
                      <a:prstDash val="solid"/>
                    </a:lnB>
                    <a:solidFill>
                      <a:srgbClr val="E8EDF3"/>
                    </a:solidFill>
                  </a:tcPr>
                </a:tc>
                <a:tc>
                  <a:txBody>
                    <a:bodyPr/>
                    <a:lstStyle/>
                    <a:p>
                      <a:r>
                        <a:rPr sz="1725" b="1">
                          <a:solidFill>
                            <a:srgbClr val="18202A"/>
                          </a:solidFill>
                          <a:latin typeface="Arial"/>
                          <a:ea typeface="Arial"/>
                          <a:cs typeface="Arial"/>
                        </a:rPr>
                        <a:t>Prediction dt</a:t>
                      </a:r>
                    </a:p>
                  </a:txBody>
                  <a:tcPr marL="91440" marR="91440" marT="45720" marB="45720">
                    <a:lnR w="9525">
                      <a:solidFill>
                        <a:srgbClr val="D9D9D9"/>
                      </a:solidFill>
                      <a:prstDash val="solid"/>
                    </a:lnR>
                    <a:lnT w="9525">
                      <a:solidFill>
                        <a:srgbClr val="D9D9D9"/>
                      </a:solidFill>
                      <a:prstDash val="solid"/>
                    </a:lnT>
                    <a:lnB w="9525">
                      <a:solidFill>
                        <a:srgbClr val="D9D9D9"/>
                      </a:solidFill>
                      <a:prstDash val="solid"/>
                    </a:lnB>
                    <a:solidFill>
                      <a:srgbClr val="E8EDF3"/>
                    </a:solidFill>
                  </a:tcPr>
                </a:tc>
                <a:tc>
                  <a:txBody>
                    <a:bodyPr/>
                    <a:lstStyle/>
                    <a:p>
                      <a:r>
                        <a:rPr sz="1725" b="1">
                          <a:solidFill>
                            <a:srgbClr val="18202A"/>
                          </a:solidFill>
                          <a:latin typeface="Arial"/>
                          <a:ea typeface="Arial"/>
                          <a:cs typeface="Arial"/>
                        </a:rPr>
                        <a:t>RK4 substep</a:t>
                      </a:r>
                    </a:p>
                  </a:txBody>
                  <a:tcPr marL="91440" marR="91440" marT="45720" marB="45720">
                    <a:lnR w="9525">
                      <a:solidFill>
                        <a:srgbClr val="D9D9D9"/>
                      </a:solidFill>
                      <a:prstDash val="solid"/>
                    </a:lnR>
                    <a:lnT w="9525">
                      <a:solidFill>
                        <a:srgbClr val="D9D9D9"/>
                      </a:solidFill>
                      <a:prstDash val="solid"/>
                    </a:lnT>
                    <a:lnB w="9525">
                      <a:solidFill>
                        <a:srgbClr val="D9D9D9"/>
                      </a:solidFill>
                      <a:prstDash val="solid"/>
                    </a:lnB>
                    <a:solidFill>
                      <a:srgbClr val="E8EDF3"/>
                    </a:solidFill>
                  </a:tcPr>
                </a:tc>
              </a:tr>
              <a:tr h="571500">
                <a:tc>
                  <a:txBody>
                    <a:bodyPr/>
                    <a:lstStyle/>
                    <a:p>
                      <a:r>
                        <a:rPr sz="1725" b="0">
                          <a:solidFill>
                            <a:srgbClr val="18202A"/>
                          </a:solidFill>
                          <a:latin typeface="Arial"/>
                          <a:ea typeface="Arial"/>
                          <a:cs typeface="Arial"/>
                        </a:rPr>
                        <a:t>9.81 m/s2</a:t>
                      </a:r>
                    </a:p>
                  </a:txBody>
                  <a:tcPr marL="91440" marR="91440" marT="45720" marB="45720">
                    <a:lnL w="9525">
                      <a:solidFill>
                        <a:srgbClr val="D9D9D9"/>
                      </a:solidFill>
                      <a:prstDash val="solid"/>
                    </a:lnL>
                    <a:lnR w="9525">
                      <a:solidFill>
                        <a:srgbClr val="D9D9D9"/>
                      </a:solidFill>
                      <a:prstDash val="solid"/>
                    </a:lnR>
                    <a:lnB w="9525">
                      <a:solidFill>
                        <a:srgbClr val="D9D9D9"/>
                      </a:solidFill>
                      <a:prstDash val="solid"/>
                    </a:lnB>
                    <a:solidFill>
                      <a:srgbClr val="FFFFFF"/>
                    </a:solidFill>
                  </a:tcPr>
                </a:tc>
                <a:tc>
                  <a:txBody>
                    <a:bodyPr/>
                    <a:lstStyle/>
                    <a:p>
                      <a:r>
                        <a:rPr sz="1725" b="0">
                          <a:solidFill>
                            <a:srgbClr val="18202A"/>
                          </a:solidFill>
                          <a:latin typeface="Arial"/>
                          <a:ea typeface="Arial"/>
                          <a:cs typeface="Arial"/>
                        </a:rPr>
                        <a:t>1.0 m</a:t>
                      </a:r>
                    </a:p>
                  </a:txBody>
                  <a:tcPr marL="91440" marR="91440" marT="45720" marB="45720">
                    <a:lnR w="9525">
                      <a:solidFill>
                        <a:srgbClr val="D9D9D9"/>
                      </a:solidFill>
                      <a:prstDash val="solid"/>
                    </a:lnR>
                    <a:lnB w="9525">
                      <a:solidFill>
                        <a:srgbClr val="D9D9D9"/>
                      </a:solidFill>
                      <a:prstDash val="solid"/>
                    </a:lnB>
                    <a:solidFill>
                      <a:srgbClr val="FFFFFF"/>
                    </a:solidFill>
                  </a:tcPr>
                </a:tc>
                <a:tc>
                  <a:txBody>
                    <a:bodyPr/>
                    <a:lstStyle/>
                    <a:p>
                      <a:r>
                        <a:rPr sz="1725" b="0">
                          <a:solidFill>
                            <a:srgbClr val="18202A"/>
                          </a:solidFill>
                          <a:latin typeface="Arial"/>
                          <a:ea typeface="Arial"/>
                          <a:cs typeface="Arial"/>
                        </a:rPr>
                        <a:t>0.1 /s</a:t>
                      </a:r>
                    </a:p>
                  </a:txBody>
                  <a:tcPr marL="91440" marR="91440" marT="45720" marB="45720">
                    <a:lnR w="9525">
                      <a:solidFill>
                        <a:srgbClr val="D9D9D9"/>
                      </a:solidFill>
                      <a:prstDash val="solid"/>
                    </a:lnR>
                    <a:lnB w="9525">
                      <a:solidFill>
                        <a:srgbClr val="D9D9D9"/>
                      </a:solidFill>
                      <a:prstDash val="solid"/>
                    </a:lnB>
                    <a:solidFill>
                      <a:srgbClr val="FFFFFF"/>
                    </a:solidFill>
                  </a:tcPr>
                </a:tc>
                <a:tc>
                  <a:txBody>
                    <a:bodyPr/>
                    <a:lstStyle/>
                    <a:p>
                      <a:r>
                        <a:rPr sz="1725" b="0">
                          <a:solidFill>
                            <a:srgbClr val="18202A"/>
                          </a:solidFill>
                          <a:latin typeface="Arial"/>
                          <a:ea typeface="Arial"/>
                          <a:cs typeface="Arial"/>
                        </a:rPr>
                        <a:t>0.02 s</a:t>
                      </a:r>
                    </a:p>
                  </a:txBody>
                  <a:tcPr marL="91440" marR="91440" marT="45720" marB="45720">
                    <a:lnR w="9525">
                      <a:solidFill>
                        <a:srgbClr val="D9D9D9"/>
                      </a:solidFill>
                      <a:prstDash val="solid"/>
                    </a:lnR>
                    <a:lnB w="9525">
                      <a:solidFill>
                        <a:srgbClr val="D9D9D9"/>
                      </a:solidFill>
                      <a:prstDash val="solid"/>
                    </a:lnB>
                    <a:solidFill>
                      <a:srgbClr val="FFFFFF"/>
                    </a:solidFill>
                  </a:tcPr>
                </a:tc>
                <a:tc>
                  <a:txBody>
                    <a:bodyPr/>
                    <a:lstStyle/>
                    <a:p>
                      <a:r>
                        <a:rPr sz="1725" b="0">
                          <a:solidFill>
                            <a:srgbClr val="18202A"/>
                          </a:solidFill>
                          <a:latin typeface="Arial"/>
                          <a:ea typeface="Arial"/>
                          <a:cs typeface="Arial"/>
                        </a:rPr>
                        <a:t>0.002 s</a:t>
                      </a:r>
                    </a:p>
                  </a:txBody>
                  <a:tcPr marL="91440" marR="91440" marT="45720" marB="45720">
                    <a:lnR w="9525">
                      <a:solidFill>
                        <a:srgbClr val="D9D9D9"/>
                      </a:solidFill>
                      <a:prstDash val="solid"/>
                    </a:lnR>
                    <a:lnB w="9525">
                      <a:solidFill>
                        <a:srgbClr val="D9D9D9"/>
                      </a:solidFill>
                      <a:prstDash val="solid"/>
                    </a:lnB>
                    <a:solidFill>
                      <a:srgbClr val="FFFFFF"/>
                    </a:solidFill>
                  </a:tcPr>
                </a:tc>
              </a:tr>
            </a:tbl>
          </a:graphicData>
        </a:graphic>
      </p:graphicFrame>
      <p:sp>
        <p:nvSpPr>
          <p:cNvPr id="6" name="">
            <a:extLst xmlns:a="http://schemas.openxmlformats.org/drawingml/2006/main">
              <a:ext uri="{FF2B5EF4-FFF2-40B4-BE49-F238E27FC236}">
                <a16:creationId xmlns:a16="http://schemas.microsoft.com/office/drawing/2014/main" id="{FD987B46-E6AE-4AB3-B77B-D6D591B78EB3}"/>
              </a:ext>
            </a:extLst>
          </p:cNvPr>
          <p:cNvSpPr>
            <a:spLocks xmlns:a="http://schemas.openxmlformats.org/drawingml/2006/main" noGrp="1"/>
          </p:cNvSpPr>
          <p:nvPr/>
        </p:nvSpPr>
        <p:spPr>
          <a:xfrm xmlns:a="http://schemas.openxmlformats.org/drawingml/2006/main">
            <a:off x="666750" y="5334000"/>
            <a:ext cx="10572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025" b="0">
                <a:solidFill>
                  <a:srgbClr val="18202A"/>
                </a:solidFill>
                <a:latin typeface="Arial"/>
                <a:ea typeface="Arial"/>
                <a:cs typeface="Arial"/>
              </a:defRPr>
            </a:defPPr>
            <a:lvl1pPr>
              <a:defRPr sz="2025" b="0">
                <a:solidFill>
                  <a:srgbClr val="18202A"/>
                </a:solidFill>
                <a:latin typeface="Arial"/>
                <a:ea typeface="Arial"/>
                <a:cs typeface="Arial"/>
              </a:defRPr>
            </a:lvl1pPr>
            <a:lvl2pPr>
              <a:defRPr sz="2025" b="0">
                <a:solidFill>
                  <a:srgbClr val="18202A"/>
                </a:solidFill>
                <a:latin typeface="Arial"/>
                <a:ea typeface="Arial"/>
                <a:cs typeface="Arial"/>
              </a:defRPr>
            </a:lvl2pPr>
            <a:lvl3pPr>
              <a:defRPr sz="2025" b="0">
                <a:solidFill>
                  <a:srgbClr val="18202A"/>
                </a:solidFill>
                <a:latin typeface="Arial"/>
                <a:ea typeface="Arial"/>
                <a:cs typeface="Arial"/>
              </a:defRPr>
            </a:lvl3pPr>
            <a:lvl4pPr>
              <a:defRPr sz="2025" b="0">
                <a:solidFill>
                  <a:srgbClr val="18202A"/>
                </a:solidFill>
                <a:latin typeface="Arial"/>
                <a:ea typeface="Arial"/>
                <a:cs typeface="Arial"/>
              </a:defRPr>
            </a:lvl4pPr>
            <a:lvl5pPr>
              <a:defRPr sz="2025" b="0">
                <a:solidFill>
                  <a:srgbClr val="18202A"/>
                </a:solidFill>
                <a:latin typeface="Arial"/>
                <a:ea typeface="Arial"/>
                <a:cs typeface="Arial"/>
              </a:defRPr>
            </a:lvl5pPr>
            <a:lvl6pPr>
              <a:defRPr sz="2025" b="0">
                <a:solidFill>
                  <a:srgbClr val="18202A"/>
                </a:solidFill>
                <a:latin typeface="Arial"/>
                <a:ea typeface="Arial"/>
                <a:cs typeface="Arial"/>
              </a:defRPr>
            </a:lvl6pPr>
            <a:lvl7pPr>
              <a:defRPr sz="2025" b="0">
                <a:solidFill>
                  <a:srgbClr val="18202A"/>
                </a:solidFill>
                <a:latin typeface="Arial"/>
                <a:ea typeface="Arial"/>
                <a:cs typeface="Arial"/>
              </a:defRPr>
            </a:lvl7pPr>
            <a:lvl8pPr>
              <a:defRPr sz="2025" b="0">
                <a:solidFill>
                  <a:srgbClr val="18202A"/>
                </a:solidFill>
                <a:latin typeface="Arial"/>
                <a:ea typeface="Arial"/>
                <a:cs typeface="Arial"/>
              </a:defRPr>
            </a:lvl8pPr>
            <a:lvl9pPr>
              <a:defRPr sz="2025" b="0">
                <a:solidFill>
                  <a:srgbClr val="18202A"/>
                </a:solidFill>
                <a:latin typeface="Arial"/>
                <a:ea typeface="Arial"/>
                <a:cs typeface="Arial"/>
              </a:defRPr>
            </a:lvl9pPr>
          </a:lstStyle>
          <a:p xmlns:a="http://schemas.openxmlformats.org/drawingml/2006/main">
            <a:pPr>
              <a:defRPr sz="2025" b="0">
                <a:solidFill>
                  <a:srgbClr val="18202A"/>
                </a:solidFill>
                <a:latin typeface="Arial"/>
                <a:ea typeface="Arial"/>
                <a:cs typeface="Arial"/>
              </a:defRPr>
            </a:pPr>
            <a:r>
              <a:rPr sz="2025" b="0">
                <a:solidFill>
                  <a:srgbClr val="18202A"/>
                </a:solidFill>
                <a:latin typeface="Arial"/>
                <a:ea typeface="Arial"/>
                <a:cs typeface="Arial"/>
              </a:rPr>
              <a:t>Reference labels use ten RK4 substeps per prediction interval.</a:t>
            </a:r>
          </a:p>
        </p:txBody>
      </p:sp>
      <p:sp>
        <p:nvSpPr>
          <p:cNvPr id="7" name="">
            <a:extLst xmlns:a="http://schemas.openxmlformats.org/drawingml/2006/main">
              <a:ext uri="{FF2B5EF4-FFF2-40B4-BE49-F238E27FC236}">
                <a16:creationId xmlns:a16="http://schemas.microsoft.com/office/drawing/2014/main" id="{98E1595D-DFC1-4358-8511-9C3C45BFB168}"/>
              </a:ext>
            </a:extLst>
          </p:cNvPr>
          <p:cNvSpPr>
            <a:spLocks xmlns:a="http://schemas.openxmlformats.org/drawingml/2006/main" noGrp="1"/>
          </p:cNvSpPr>
          <p:nvPr/>
        </p:nvSpPr>
        <p:spPr>
          <a:xfrm xmlns:a="http://schemas.openxmlformats.org/drawingml/2006/main">
            <a:off x="666750" y="6048375"/>
            <a:ext cx="10668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650" b="0">
                <a:solidFill>
                  <a:srgbClr val="535E6C"/>
                </a:solidFill>
                <a:latin typeface="Arial"/>
                <a:ea typeface="Arial"/>
                <a:cs typeface="Arial"/>
              </a:defRPr>
            </a:defPPr>
            <a:lvl1pPr>
              <a:defRPr sz="1650" b="0">
                <a:solidFill>
                  <a:srgbClr val="535E6C"/>
                </a:solidFill>
                <a:latin typeface="Arial"/>
                <a:ea typeface="Arial"/>
                <a:cs typeface="Arial"/>
              </a:defRPr>
            </a:lvl1pPr>
            <a:lvl2pPr>
              <a:defRPr sz="1650" b="0">
                <a:solidFill>
                  <a:srgbClr val="535E6C"/>
                </a:solidFill>
                <a:latin typeface="Arial"/>
                <a:ea typeface="Arial"/>
                <a:cs typeface="Arial"/>
              </a:defRPr>
            </a:lvl2pPr>
            <a:lvl3pPr>
              <a:defRPr sz="1650" b="0">
                <a:solidFill>
                  <a:srgbClr val="535E6C"/>
                </a:solidFill>
                <a:latin typeface="Arial"/>
                <a:ea typeface="Arial"/>
                <a:cs typeface="Arial"/>
              </a:defRPr>
            </a:lvl3pPr>
            <a:lvl4pPr>
              <a:defRPr sz="1650" b="0">
                <a:solidFill>
                  <a:srgbClr val="535E6C"/>
                </a:solidFill>
                <a:latin typeface="Arial"/>
                <a:ea typeface="Arial"/>
                <a:cs typeface="Arial"/>
              </a:defRPr>
            </a:lvl4pPr>
            <a:lvl5pPr>
              <a:defRPr sz="1650" b="0">
                <a:solidFill>
                  <a:srgbClr val="535E6C"/>
                </a:solidFill>
                <a:latin typeface="Arial"/>
                <a:ea typeface="Arial"/>
                <a:cs typeface="Arial"/>
              </a:defRPr>
            </a:lvl5pPr>
            <a:lvl6pPr>
              <a:defRPr sz="1650" b="0">
                <a:solidFill>
                  <a:srgbClr val="535E6C"/>
                </a:solidFill>
                <a:latin typeface="Arial"/>
                <a:ea typeface="Arial"/>
                <a:cs typeface="Arial"/>
              </a:defRPr>
            </a:lvl6pPr>
            <a:lvl7pPr>
              <a:defRPr sz="1650" b="0">
                <a:solidFill>
                  <a:srgbClr val="535E6C"/>
                </a:solidFill>
                <a:latin typeface="Arial"/>
                <a:ea typeface="Arial"/>
                <a:cs typeface="Arial"/>
              </a:defRPr>
            </a:lvl7pPr>
            <a:lvl8pPr>
              <a:defRPr sz="1650" b="0">
                <a:solidFill>
                  <a:srgbClr val="535E6C"/>
                </a:solidFill>
                <a:latin typeface="Arial"/>
                <a:ea typeface="Arial"/>
                <a:cs typeface="Arial"/>
              </a:defRPr>
            </a:lvl8pPr>
            <a:lvl9pPr>
              <a:defRPr sz="1650" b="0">
                <a:solidFill>
                  <a:srgbClr val="535E6C"/>
                </a:solidFill>
                <a:latin typeface="Arial"/>
                <a:ea typeface="Arial"/>
                <a:cs typeface="Arial"/>
              </a:defRPr>
            </a:lvl9pPr>
          </a:lstStyle>
          <a:p xmlns:a="http://schemas.openxmlformats.org/drawingml/2006/main">
            <a:pPr>
              <a:defRPr sz="1650" b="0">
                <a:solidFill>
                  <a:srgbClr val="535E6C"/>
                </a:solidFill>
                <a:latin typeface="Arial"/>
                <a:ea typeface="Arial"/>
                <a:cs typeface="Arial"/>
              </a:defRPr>
            </a:pPr>
            <a:r>
              <a:rPr sz="1650" b="0">
                <a:solidFill>
                  <a:srgbClr val="535E6C"/>
                </a:solidFill>
                <a:latin typeface="Arial"/>
                <a:ea typeface="Arial"/>
                <a:cs typeface="Arial"/>
              </a:rPr>
              <a:t>Tests: equilibrium, fourth-order convergence, small-angle limit and damped energy.</a:t>
            </a:r>
          </a:p>
        </p:txBody>
      </p:sp>
    </p:spTree>
    <p:extLst>
      <p:ext uri="{BB962C8B-B14F-4D97-AF65-F5344CB8AC3E}">
        <p14:creationId xmlns:p14="http://schemas.microsoft.com/office/powerpoint/2010/main" val="316241771"/>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85A1DD68-9B09-408B-80FD-F60C861BB4EA}"/>
              </a:ext>
            </a:extLst>
          </p:cNvPr>
          <p:cNvSpPr>
            <a:spLocks xmlns:a="http://schemas.openxmlformats.org/drawingml/2006/main" noGrp="1"/>
          </p:cNvSpPr>
          <p:nvPr/>
        </p:nvSpPr>
        <p:spPr>
          <a:xfrm xmlns:a="http://schemas.openxmlformats.org/drawingml/2006/main">
            <a:off x="609600" y="40005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3300" b="1">
                <a:solidFill>
                  <a:srgbClr val="18202A"/>
                </a:solidFill>
                <a:latin typeface="Arial"/>
                <a:ea typeface="Arial"/>
                <a:cs typeface="Arial"/>
              </a:defRPr>
            </a:defPPr>
            <a:lvl1pPr>
              <a:defRPr sz="3300" b="1">
                <a:solidFill>
                  <a:srgbClr val="18202A"/>
                </a:solidFill>
                <a:latin typeface="Arial"/>
                <a:ea typeface="Arial"/>
                <a:cs typeface="Arial"/>
              </a:defRPr>
            </a:lvl1pPr>
            <a:lvl2pPr>
              <a:defRPr sz="3300" b="1">
                <a:solidFill>
                  <a:srgbClr val="18202A"/>
                </a:solidFill>
                <a:latin typeface="Arial"/>
                <a:ea typeface="Arial"/>
                <a:cs typeface="Arial"/>
              </a:defRPr>
            </a:lvl2pPr>
            <a:lvl3pPr>
              <a:defRPr sz="3300" b="1">
                <a:solidFill>
                  <a:srgbClr val="18202A"/>
                </a:solidFill>
                <a:latin typeface="Arial"/>
                <a:ea typeface="Arial"/>
                <a:cs typeface="Arial"/>
              </a:defRPr>
            </a:lvl3pPr>
            <a:lvl4pPr>
              <a:defRPr sz="3300" b="1">
                <a:solidFill>
                  <a:srgbClr val="18202A"/>
                </a:solidFill>
                <a:latin typeface="Arial"/>
                <a:ea typeface="Arial"/>
                <a:cs typeface="Arial"/>
              </a:defRPr>
            </a:lvl4pPr>
            <a:lvl5pPr>
              <a:defRPr sz="3300" b="1">
                <a:solidFill>
                  <a:srgbClr val="18202A"/>
                </a:solidFill>
                <a:latin typeface="Arial"/>
                <a:ea typeface="Arial"/>
                <a:cs typeface="Arial"/>
              </a:defRPr>
            </a:lvl5pPr>
            <a:lvl6pPr>
              <a:defRPr sz="3300" b="1">
                <a:solidFill>
                  <a:srgbClr val="18202A"/>
                </a:solidFill>
                <a:latin typeface="Arial"/>
                <a:ea typeface="Arial"/>
                <a:cs typeface="Arial"/>
              </a:defRPr>
            </a:lvl6pPr>
            <a:lvl7pPr>
              <a:defRPr sz="3300" b="1">
                <a:solidFill>
                  <a:srgbClr val="18202A"/>
                </a:solidFill>
                <a:latin typeface="Arial"/>
                <a:ea typeface="Arial"/>
                <a:cs typeface="Arial"/>
              </a:defRPr>
            </a:lvl7pPr>
            <a:lvl8pPr>
              <a:defRPr sz="3300" b="1">
                <a:solidFill>
                  <a:srgbClr val="18202A"/>
                </a:solidFill>
                <a:latin typeface="Arial"/>
                <a:ea typeface="Arial"/>
                <a:cs typeface="Arial"/>
              </a:defRPr>
            </a:lvl8pPr>
            <a:lvl9pPr>
              <a:defRPr sz="3300" b="1">
                <a:solidFill>
                  <a:srgbClr val="18202A"/>
                </a:solidFill>
                <a:latin typeface="Arial"/>
                <a:ea typeface="Arial"/>
                <a:cs typeface="Arial"/>
              </a:defRPr>
            </a:lvl9pPr>
          </a:lstStyle>
          <a:p xmlns:a="http://schemas.openxmlformats.org/drawingml/2006/main">
            <a:pPr>
              <a:defRPr sz="3300" b="1">
                <a:solidFill>
                  <a:srgbClr val="18202A"/>
                </a:solidFill>
                <a:latin typeface="Arial"/>
                <a:ea typeface="Arial"/>
                <a:cs typeface="Arial"/>
              </a:defRPr>
            </a:pPr>
            <a:r>
              <a:rPr sz="3300" b="1">
                <a:solidFill>
                  <a:srgbClr val="18202A"/>
                </a:solidFill>
                <a:latin typeface="Arial"/>
                <a:ea typeface="Arial"/>
                <a:cs typeface="Arial"/>
              </a:rPr>
              <a:t>Dataset Design</a:t>
            </a:r>
          </a:p>
        </p:txBody>
      </p:sp>
      <p:sp>
        <p:nvSpPr>
          <p:cNvPr id="2" name="">
            <a:extLst xmlns:a="http://schemas.openxmlformats.org/drawingml/2006/main">
              <a:ext uri="{FF2B5EF4-FFF2-40B4-BE49-F238E27FC236}">
                <a16:creationId xmlns:a16="http://schemas.microsoft.com/office/drawing/2014/main" id="{F478DB91-93B5-49D4-9B7E-6B012D41C202}"/>
              </a:ext>
            </a:extLst>
          </p:cNvPr>
          <p:cNvSpPr>
            <a:spLocks xmlns:a="http://schemas.openxmlformats.org/drawingml/2006/main" noGrp="1"/>
          </p:cNvSpPr>
          <p:nvPr/>
        </p:nvSpPr>
        <p:spPr>
          <a:xfrm xmlns:a="http://schemas.openxmlformats.org/drawingml/2006/main">
            <a:off x="647700" y="1381125"/>
            <a:ext cx="10858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250" b="0">
                <a:solidFill>
                  <a:srgbClr val="18202A"/>
                </a:solidFill>
                <a:latin typeface="Arial"/>
                <a:ea typeface="Arial"/>
                <a:cs typeface="Arial"/>
              </a:defRPr>
            </a:defPPr>
            <a:lvl1pPr>
              <a:defRPr sz="2250" b="0">
                <a:solidFill>
                  <a:srgbClr val="18202A"/>
                </a:solidFill>
                <a:latin typeface="Arial"/>
                <a:ea typeface="Arial"/>
                <a:cs typeface="Arial"/>
              </a:defRPr>
            </a:lvl1pPr>
            <a:lvl2pPr>
              <a:defRPr sz="2250" b="0">
                <a:solidFill>
                  <a:srgbClr val="18202A"/>
                </a:solidFill>
                <a:latin typeface="Arial"/>
                <a:ea typeface="Arial"/>
                <a:cs typeface="Arial"/>
              </a:defRPr>
            </a:lvl2pPr>
            <a:lvl3pPr>
              <a:defRPr sz="2250" b="0">
                <a:solidFill>
                  <a:srgbClr val="18202A"/>
                </a:solidFill>
                <a:latin typeface="Arial"/>
                <a:ea typeface="Arial"/>
                <a:cs typeface="Arial"/>
              </a:defRPr>
            </a:lvl3pPr>
            <a:lvl4pPr>
              <a:defRPr sz="2250" b="0">
                <a:solidFill>
                  <a:srgbClr val="18202A"/>
                </a:solidFill>
                <a:latin typeface="Arial"/>
                <a:ea typeface="Arial"/>
                <a:cs typeface="Arial"/>
              </a:defRPr>
            </a:lvl4pPr>
            <a:lvl5pPr>
              <a:defRPr sz="2250" b="0">
                <a:solidFill>
                  <a:srgbClr val="18202A"/>
                </a:solidFill>
                <a:latin typeface="Arial"/>
                <a:ea typeface="Arial"/>
                <a:cs typeface="Arial"/>
              </a:defRPr>
            </a:lvl5pPr>
            <a:lvl6pPr>
              <a:defRPr sz="2250" b="0">
                <a:solidFill>
                  <a:srgbClr val="18202A"/>
                </a:solidFill>
                <a:latin typeface="Arial"/>
                <a:ea typeface="Arial"/>
                <a:cs typeface="Arial"/>
              </a:defRPr>
            </a:lvl6pPr>
            <a:lvl7pPr>
              <a:defRPr sz="2250" b="0">
                <a:solidFill>
                  <a:srgbClr val="18202A"/>
                </a:solidFill>
                <a:latin typeface="Arial"/>
                <a:ea typeface="Arial"/>
                <a:cs typeface="Arial"/>
              </a:defRPr>
            </a:lvl7pPr>
            <a:lvl8pPr>
              <a:defRPr sz="2250" b="0">
                <a:solidFill>
                  <a:srgbClr val="18202A"/>
                </a:solidFill>
                <a:latin typeface="Arial"/>
                <a:ea typeface="Arial"/>
                <a:cs typeface="Arial"/>
              </a:defRPr>
            </a:lvl8pPr>
            <a:lvl9pPr>
              <a:defRPr sz="2250" b="0">
                <a:solidFill>
                  <a:srgbClr val="18202A"/>
                </a:solidFill>
                <a:latin typeface="Arial"/>
                <a:ea typeface="Arial"/>
                <a:cs typeface="Arial"/>
              </a:defRPr>
            </a:lvl9pPr>
          </a:lstStyle>
          <a:p xmlns:a="http://schemas.openxmlformats.org/drawingml/2006/main">
            <a:pPr>
              <a:defRPr sz="2250" b="0">
                <a:solidFill>
                  <a:srgbClr val="18202A"/>
                </a:solidFill>
                <a:latin typeface="Arial"/>
                <a:ea typeface="Arial"/>
                <a:cs typeface="Arial"/>
              </a:defRPr>
            </a:pPr>
            <a:r>
              <a:rPr sz="2250" b="0">
                <a:solidFill>
                  <a:srgbClr val="18202A"/>
                </a:solidFill>
                <a:latin typeface="Arial"/>
                <a:ea typeface="Arial"/>
                <a:cs typeface="Arial"/>
              </a:rPr>
              <a:t>80 initial conditions produce 40,000 transitions.</a:t>
            </a:r>
          </a:p>
        </p:txBody>
      </p:sp>
      <p:graphicFrame>
        <p:nvGraphicFramePr>
          <p:cNvPr id="3" name="">
            <a:extLst xmlns:a="http://schemas.openxmlformats.org/drawingml/2006/main">
              <a:ext uri="{FF2B5EF4-FFF2-40B4-BE49-F238E27FC236}">
                <a16:creationId xmlns:a16="http://schemas.microsoft.com/office/drawing/2014/main" id="{F48244A1-C57F-47C6-AEA7-45703FDB4800}"/>
              </a:ext>
            </a:extLst>
          </p:cNvPr>
          <p:cNvGraphicFramePr/>
          <p:nvPr/>
        </p:nvGraphicFramePr>
        <p:xfrm>
          <a:off xmlns:a="http://schemas.openxmlformats.org/drawingml/2006/main" x="647700" y="2238375"/>
          <a:ext xmlns:a="http://schemas.openxmlformats.org/drawingml/2006/main" cx="10858500" cy="2381250"/>
        </p:xfrm>
        <a:graphic xmlns:a="http://schemas.openxmlformats.org/drawingml/2006/main">
          <a:graphicData uri="http://schemas.openxmlformats.org/drawingml/2006/table">
            <a:tbl>
              <a:tblPr/>
              <a:tblGrid>
                <a:gridCol w="4762500"/>
                <a:gridCol w="2857500"/>
                <a:gridCol w="3238500"/>
              </a:tblGrid>
              <a:tr h="595313">
                <a:tc>
                  <a:txBody>
                    <a:bodyPr/>
                    <a:lstStyle/>
                    <a:p>
                      <a:r>
                        <a:rPr sz="1725" b="1">
                          <a:solidFill>
                            <a:srgbClr val="18202A"/>
                          </a:solidFill>
                          <a:latin typeface="Arial"/>
                          <a:ea typeface="Arial"/>
                          <a:cs typeface="Arial"/>
                        </a:rPr>
                        <a:t>Partition</a:t>
                      </a:r>
                    </a:p>
                  </a:txBody>
                  <a:tcPr marL="91440" marR="91440" marT="45720" marB="45720">
                    <a:lnL w="9525">
                      <a:solidFill>
                        <a:srgbClr val="D9D9D9"/>
                      </a:solidFill>
                      <a:prstDash val="solid"/>
                    </a:lnL>
                    <a:lnR w="9525">
                      <a:solidFill>
                        <a:srgbClr val="D9D9D9"/>
                      </a:solidFill>
                      <a:prstDash val="solid"/>
                    </a:lnR>
                    <a:lnT w="9525">
                      <a:solidFill>
                        <a:srgbClr val="D9D9D9"/>
                      </a:solidFill>
                      <a:prstDash val="solid"/>
                    </a:lnT>
                    <a:lnB w="9525">
                      <a:solidFill>
                        <a:srgbClr val="D9D9D9"/>
                      </a:solidFill>
                      <a:prstDash val="solid"/>
                    </a:lnB>
                    <a:solidFill>
                      <a:srgbClr val="E8EDF3"/>
                    </a:solidFill>
                  </a:tcPr>
                </a:tc>
                <a:tc>
                  <a:txBody>
                    <a:bodyPr/>
                    <a:lstStyle/>
                    <a:p>
                      <a:r>
                        <a:rPr sz="1725" b="1">
                          <a:solidFill>
                            <a:srgbClr val="18202A"/>
                          </a:solidFill>
                          <a:latin typeface="Arial"/>
                          <a:ea typeface="Arial"/>
                          <a:cs typeface="Arial"/>
                        </a:rPr>
                        <a:t>Trajectories</a:t>
                      </a:r>
                    </a:p>
                  </a:txBody>
                  <a:tcPr marL="91440" marR="91440" marT="45720" marB="45720">
                    <a:lnR w="9525">
                      <a:solidFill>
                        <a:srgbClr val="D9D9D9"/>
                      </a:solidFill>
                      <a:prstDash val="solid"/>
                    </a:lnR>
                    <a:lnT w="9525">
                      <a:solidFill>
                        <a:srgbClr val="D9D9D9"/>
                      </a:solidFill>
                      <a:prstDash val="solid"/>
                    </a:lnT>
                    <a:lnB w="9525">
                      <a:solidFill>
                        <a:srgbClr val="D9D9D9"/>
                      </a:solidFill>
                      <a:prstDash val="solid"/>
                    </a:lnB>
                    <a:solidFill>
                      <a:srgbClr val="E8EDF3"/>
                    </a:solidFill>
                  </a:tcPr>
                </a:tc>
                <a:tc>
                  <a:txBody>
                    <a:bodyPr/>
                    <a:lstStyle/>
                    <a:p>
                      <a:r>
                        <a:rPr sz="1725" b="1">
                          <a:solidFill>
                            <a:srgbClr val="18202A"/>
                          </a:solidFill>
                          <a:latin typeface="Arial"/>
                          <a:ea typeface="Arial"/>
                          <a:cs typeface="Arial"/>
                        </a:rPr>
                        <a:t>Transitions</a:t>
                      </a:r>
                    </a:p>
                  </a:txBody>
                  <a:tcPr marL="91440" marR="91440" marT="45720" marB="45720">
                    <a:lnR w="9525">
                      <a:solidFill>
                        <a:srgbClr val="D9D9D9"/>
                      </a:solidFill>
                      <a:prstDash val="solid"/>
                    </a:lnR>
                    <a:lnT w="9525">
                      <a:solidFill>
                        <a:srgbClr val="D9D9D9"/>
                      </a:solidFill>
                      <a:prstDash val="solid"/>
                    </a:lnT>
                    <a:lnB w="9525">
                      <a:solidFill>
                        <a:srgbClr val="D9D9D9"/>
                      </a:solidFill>
                      <a:prstDash val="solid"/>
                    </a:lnB>
                    <a:solidFill>
                      <a:srgbClr val="E8EDF3"/>
                    </a:solidFill>
                  </a:tcPr>
                </a:tc>
              </a:tr>
              <a:tr h="595313">
                <a:tc>
                  <a:txBody>
                    <a:bodyPr/>
                    <a:lstStyle/>
                    <a:p>
                      <a:r>
                        <a:rPr sz="1725" b="0">
                          <a:solidFill>
                            <a:srgbClr val="18202A"/>
                          </a:solidFill>
                          <a:latin typeface="Arial"/>
                          <a:ea typeface="Arial"/>
                          <a:cs typeface="Arial"/>
                        </a:rPr>
                        <a:t>Training</a:t>
                      </a:r>
                    </a:p>
                  </a:txBody>
                  <a:tcPr marL="91440" marR="91440" marT="45720" marB="45720">
                    <a:lnL w="9525">
                      <a:solidFill>
                        <a:srgbClr val="D9D9D9"/>
                      </a:solidFill>
                      <a:prstDash val="solid"/>
                    </a:lnL>
                    <a:lnR w="9525">
                      <a:solidFill>
                        <a:srgbClr val="D9D9D9"/>
                      </a:solidFill>
                      <a:prstDash val="solid"/>
                    </a:lnR>
                    <a:lnB w="9525">
                      <a:solidFill>
                        <a:srgbClr val="D9D9D9"/>
                      </a:solidFill>
                      <a:prstDash val="solid"/>
                    </a:lnB>
                    <a:solidFill>
                      <a:srgbClr val="FFFFFF"/>
                    </a:solidFill>
                  </a:tcPr>
                </a:tc>
                <a:tc>
                  <a:txBody>
                    <a:bodyPr/>
                    <a:lstStyle/>
                    <a:p>
                      <a:r>
                        <a:rPr sz="1725" b="0">
                          <a:solidFill>
                            <a:srgbClr val="18202A"/>
                          </a:solidFill>
                          <a:latin typeface="Arial"/>
                          <a:ea typeface="Arial"/>
                          <a:cs typeface="Arial"/>
                        </a:rPr>
                        <a:t>56</a:t>
                      </a:r>
                    </a:p>
                  </a:txBody>
                  <a:tcPr marL="91440" marR="91440" marT="45720" marB="45720">
                    <a:lnR w="9525">
                      <a:solidFill>
                        <a:srgbClr val="D9D9D9"/>
                      </a:solidFill>
                      <a:prstDash val="solid"/>
                    </a:lnR>
                    <a:lnB w="9525">
                      <a:solidFill>
                        <a:srgbClr val="D9D9D9"/>
                      </a:solidFill>
                      <a:prstDash val="solid"/>
                    </a:lnB>
                    <a:solidFill>
                      <a:srgbClr val="FFFFFF"/>
                    </a:solidFill>
                  </a:tcPr>
                </a:tc>
                <a:tc>
                  <a:txBody>
                    <a:bodyPr/>
                    <a:lstStyle/>
                    <a:p>
                      <a:r>
                        <a:rPr sz="1725" b="0">
                          <a:solidFill>
                            <a:srgbClr val="18202A"/>
                          </a:solidFill>
                          <a:latin typeface="Arial"/>
                          <a:ea typeface="Arial"/>
                          <a:cs typeface="Arial"/>
                        </a:rPr>
                        <a:t>28,000</a:t>
                      </a:r>
                    </a:p>
                  </a:txBody>
                  <a:tcPr marL="91440" marR="91440" marT="45720" marB="45720">
                    <a:lnR w="9525">
                      <a:solidFill>
                        <a:srgbClr val="D9D9D9"/>
                      </a:solidFill>
                      <a:prstDash val="solid"/>
                    </a:lnR>
                    <a:lnB w="9525">
                      <a:solidFill>
                        <a:srgbClr val="D9D9D9"/>
                      </a:solidFill>
                      <a:prstDash val="solid"/>
                    </a:lnB>
                    <a:solidFill>
                      <a:srgbClr val="FFFFFF"/>
                    </a:solidFill>
                  </a:tcPr>
                </a:tc>
              </a:tr>
              <a:tr h="595313">
                <a:tc>
                  <a:txBody>
                    <a:bodyPr/>
                    <a:lstStyle/>
                    <a:p>
                      <a:r>
                        <a:rPr sz="1725" b="0">
                          <a:solidFill>
                            <a:srgbClr val="18202A"/>
                          </a:solidFill>
                          <a:latin typeface="Arial"/>
                          <a:ea typeface="Arial"/>
                          <a:cs typeface="Arial"/>
                        </a:rPr>
                        <a:t>Validation</a:t>
                      </a:r>
                    </a:p>
                  </a:txBody>
                  <a:tcPr marL="91440" marR="91440" marT="45720" marB="45720">
                    <a:lnL w="9525">
                      <a:solidFill>
                        <a:srgbClr val="D9D9D9"/>
                      </a:solidFill>
                      <a:prstDash val="solid"/>
                    </a:lnL>
                    <a:lnR w="9525">
                      <a:solidFill>
                        <a:srgbClr val="D9D9D9"/>
                      </a:solidFill>
                      <a:prstDash val="solid"/>
                    </a:lnR>
                    <a:lnB w="9525">
                      <a:solidFill>
                        <a:srgbClr val="D9D9D9"/>
                      </a:solidFill>
                      <a:prstDash val="solid"/>
                    </a:lnB>
                    <a:solidFill>
                      <a:srgbClr val="F5F7F9"/>
                    </a:solidFill>
                  </a:tcPr>
                </a:tc>
                <a:tc>
                  <a:txBody>
                    <a:bodyPr/>
                    <a:lstStyle/>
                    <a:p>
                      <a:r>
                        <a:rPr sz="1725" b="0">
                          <a:solidFill>
                            <a:srgbClr val="18202A"/>
                          </a:solidFill>
                          <a:latin typeface="Arial"/>
                          <a:ea typeface="Arial"/>
                          <a:cs typeface="Arial"/>
                        </a:rPr>
                        <a:t>12</a:t>
                      </a:r>
                    </a:p>
                  </a:txBody>
                  <a:tcPr marL="91440" marR="91440" marT="45720" marB="45720">
                    <a:lnR w="9525">
                      <a:solidFill>
                        <a:srgbClr val="D9D9D9"/>
                      </a:solidFill>
                      <a:prstDash val="solid"/>
                    </a:lnR>
                    <a:lnB w="9525">
                      <a:solidFill>
                        <a:srgbClr val="D9D9D9"/>
                      </a:solidFill>
                      <a:prstDash val="solid"/>
                    </a:lnB>
                    <a:solidFill>
                      <a:srgbClr val="F5F7F9"/>
                    </a:solidFill>
                  </a:tcPr>
                </a:tc>
                <a:tc>
                  <a:txBody>
                    <a:bodyPr/>
                    <a:lstStyle/>
                    <a:p>
                      <a:r>
                        <a:rPr sz="1725" b="0">
                          <a:solidFill>
                            <a:srgbClr val="18202A"/>
                          </a:solidFill>
                          <a:latin typeface="Arial"/>
                          <a:ea typeface="Arial"/>
                          <a:cs typeface="Arial"/>
                        </a:rPr>
                        <a:t>6,000</a:t>
                      </a:r>
                    </a:p>
                  </a:txBody>
                  <a:tcPr marL="91440" marR="91440" marT="45720" marB="45720">
                    <a:lnR w="9525">
                      <a:solidFill>
                        <a:srgbClr val="D9D9D9"/>
                      </a:solidFill>
                      <a:prstDash val="solid"/>
                    </a:lnR>
                    <a:lnB w="9525">
                      <a:solidFill>
                        <a:srgbClr val="D9D9D9"/>
                      </a:solidFill>
                      <a:prstDash val="solid"/>
                    </a:lnB>
                    <a:solidFill>
                      <a:srgbClr val="F5F7F9"/>
                    </a:solidFill>
                  </a:tcPr>
                </a:tc>
              </a:tr>
              <a:tr h="595313">
                <a:tc>
                  <a:txBody>
                    <a:bodyPr/>
                    <a:lstStyle/>
                    <a:p>
                      <a:r>
                        <a:rPr sz="1725" b="0">
                          <a:solidFill>
                            <a:srgbClr val="18202A"/>
                          </a:solidFill>
                          <a:latin typeface="Arial"/>
                          <a:ea typeface="Arial"/>
                          <a:cs typeface="Arial"/>
                        </a:rPr>
                        <a:t>Test</a:t>
                      </a:r>
                    </a:p>
                  </a:txBody>
                  <a:tcPr marL="91440" marR="91440" marT="45720" marB="45720">
                    <a:lnL w="9525">
                      <a:solidFill>
                        <a:srgbClr val="D9D9D9"/>
                      </a:solidFill>
                      <a:prstDash val="solid"/>
                    </a:lnL>
                    <a:lnR w="9525">
                      <a:solidFill>
                        <a:srgbClr val="D9D9D9"/>
                      </a:solidFill>
                      <a:prstDash val="solid"/>
                    </a:lnR>
                    <a:lnB w="9525">
                      <a:solidFill>
                        <a:srgbClr val="D9D9D9"/>
                      </a:solidFill>
                      <a:prstDash val="solid"/>
                    </a:lnB>
                    <a:solidFill>
                      <a:srgbClr val="FFFFFF"/>
                    </a:solidFill>
                  </a:tcPr>
                </a:tc>
                <a:tc>
                  <a:txBody>
                    <a:bodyPr/>
                    <a:lstStyle/>
                    <a:p>
                      <a:r>
                        <a:rPr sz="1725" b="0">
                          <a:solidFill>
                            <a:srgbClr val="18202A"/>
                          </a:solidFill>
                          <a:latin typeface="Arial"/>
                          <a:ea typeface="Arial"/>
                          <a:cs typeface="Arial"/>
                        </a:rPr>
                        <a:t>12</a:t>
                      </a:r>
                    </a:p>
                  </a:txBody>
                  <a:tcPr marL="91440" marR="91440" marT="45720" marB="45720">
                    <a:lnR w="9525">
                      <a:solidFill>
                        <a:srgbClr val="D9D9D9"/>
                      </a:solidFill>
                      <a:prstDash val="solid"/>
                    </a:lnR>
                    <a:lnB w="9525">
                      <a:solidFill>
                        <a:srgbClr val="D9D9D9"/>
                      </a:solidFill>
                      <a:prstDash val="solid"/>
                    </a:lnB>
                    <a:solidFill>
                      <a:srgbClr val="FFFFFF"/>
                    </a:solidFill>
                  </a:tcPr>
                </a:tc>
                <a:tc>
                  <a:txBody>
                    <a:bodyPr/>
                    <a:lstStyle/>
                    <a:p>
                      <a:r>
                        <a:rPr sz="1725" b="0">
                          <a:solidFill>
                            <a:srgbClr val="18202A"/>
                          </a:solidFill>
                          <a:latin typeface="Arial"/>
                          <a:ea typeface="Arial"/>
                          <a:cs typeface="Arial"/>
                        </a:rPr>
                        <a:t>6,000</a:t>
                      </a:r>
                    </a:p>
                  </a:txBody>
                  <a:tcPr marL="91440" marR="91440" marT="45720" marB="45720">
                    <a:lnR w="9525">
                      <a:solidFill>
                        <a:srgbClr val="D9D9D9"/>
                      </a:solidFill>
                      <a:prstDash val="solid"/>
                    </a:lnR>
                    <a:lnB w="9525">
                      <a:solidFill>
                        <a:srgbClr val="D9D9D9"/>
                      </a:solidFill>
                      <a:prstDash val="solid"/>
                    </a:lnB>
                    <a:solidFill>
                      <a:srgbClr val="FFFFFF"/>
                    </a:solidFill>
                  </a:tcPr>
                </a:tc>
              </a:tr>
            </a:tbl>
          </a:graphicData>
        </a:graphic>
      </p:graphicFrame>
      <p:sp>
        <p:nvSpPr>
          <p:cNvPr id="4" name="">
            <a:extLst xmlns:a="http://schemas.openxmlformats.org/drawingml/2006/main">
              <a:ext uri="{FF2B5EF4-FFF2-40B4-BE49-F238E27FC236}">
                <a16:creationId xmlns:a16="http://schemas.microsoft.com/office/drawing/2014/main" id="{44154765-C992-4111-B68E-B17E76B0BC09}"/>
              </a:ext>
            </a:extLst>
          </p:cNvPr>
          <p:cNvSpPr>
            <a:spLocks xmlns:a="http://schemas.openxmlformats.org/drawingml/2006/main" noGrp="1"/>
          </p:cNvSpPr>
          <p:nvPr/>
        </p:nvSpPr>
        <p:spPr>
          <a:xfrm xmlns:a="http://schemas.openxmlformats.org/drawingml/2006/main">
            <a:off x="666750" y="5000625"/>
            <a:ext cx="5143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025" b="0">
                <a:solidFill>
                  <a:srgbClr val="18202A"/>
                </a:solidFill>
                <a:latin typeface="Arial"/>
                <a:ea typeface="Arial"/>
                <a:cs typeface="Arial"/>
              </a:defRPr>
            </a:defPPr>
            <a:lvl1pPr>
              <a:defRPr sz="2025" b="0">
                <a:solidFill>
                  <a:srgbClr val="18202A"/>
                </a:solidFill>
                <a:latin typeface="Arial"/>
                <a:ea typeface="Arial"/>
                <a:cs typeface="Arial"/>
              </a:defRPr>
            </a:lvl1pPr>
            <a:lvl2pPr>
              <a:defRPr sz="2025" b="0">
                <a:solidFill>
                  <a:srgbClr val="18202A"/>
                </a:solidFill>
                <a:latin typeface="Arial"/>
                <a:ea typeface="Arial"/>
                <a:cs typeface="Arial"/>
              </a:defRPr>
            </a:lvl2pPr>
            <a:lvl3pPr>
              <a:defRPr sz="2025" b="0">
                <a:solidFill>
                  <a:srgbClr val="18202A"/>
                </a:solidFill>
                <a:latin typeface="Arial"/>
                <a:ea typeface="Arial"/>
                <a:cs typeface="Arial"/>
              </a:defRPr>
            </a:lvl3pPr>
            <a:lvl4pPr>
              <a:defRPr sz="2025" b="0">
                <a:solidFill>
                  <a:srgbClr val="18202A"/>
                </a:solidFill>
                <a:latin typeface="Arial"/>
                <a:ea typeface="Arial"/>
                <a:cs typeface="Arial"/>
              </a:defRPr>
            </a:lvl4pPr>
            <a:lvl5pPr>
              <a:defRPr sz="2025" b="0">
                <a:solidFill>
                  <a:srgbClr val="18202A"/>
                </a:solidFill>
                <a:latin typeface="Arial"/>
                <a:ea typeface="Arial"/>
                <a:cs typeface="Arial"/>
              </a:defRPr>
            </a:lvl5pPr>
            <a:lvl6pPr>
              <a:defRPr sz="2025" b="0">
                <a:solidFill>
                  <a:srgbClr val="18202A"/>
                </a:solidFill>
                <a:latin typeface="Arial"/>
                <a:ea typeface="Arial"/>
                <a:cs typeface="Arial"/>
              </a:defRPr>
            </a:lvl6pPr>
            <a:lvl7pPr>
              <a:defRPr sz="2025" b="0">
                <a:solidFill>
                  <a:srgbClr val="18202A"/>
                </a:solidFill>
                <a:latin typeface="Arial"/>
                <a:ea typeface="Arial"/>
                <a:cs typeface="Arial"/>
              </a:defRPr>
            </a:lvl7pPr>
            <a:lvl8pPr>
              <a:defRPr sz="2025" b="0">
                <a:solidFill>
                  <a:srgbClr val="18202A"/>
                </a:solidFill>
                <a:latin typeface="Arial"/>
                <a:ea typeface="Arial"/>
                <a:cs typeface="Arial"/>
              </a:defRPr>
            </a:lvl8pPr>
            <a:lvl9pPr>
              <a:defRPr sz="2025" b="0">
                <a:solidFill>
                  <a:srgbClr val="18202A"/>
                </a:solidFill>
                <a:latin typeface="Arial"/>
                <a:ea typeface="Arial"/>
                <a:cs typeface="Arial"/>
              </a:defRPr>
            </a:lvl9pPr>
          </a:lstStyle>
          <a:p xmlns:a="http://schemas.openxmlformats.org/drawingml/2006/main">
            <a:pPr>
              <a:defRPr sz="2025" b="0">
                <a:solidFill>
                  <a:srgbClr val="18202A"/>
                </a:solidFill>
                <a:latin typeface="Arial"/>
                <a:ea typeface="Arial"/>
                <a:cs typeface="Arial"/>
              </a:defRPr>
            </a:pPr>
            <a:r>
              <a:rPr sz="2025" b="0">
                <a:solidFill>
                  <a:srgbClr val="18202A"/>
                </a:solidFill>
                <a:latin typeface="Arial"/>
                <a:ea typeface="Arial"/>
                <a:cs typeface="Arial"/>
              </a:rPr>
              <a:t>Initial angle: [-1.5, 1.5] rad</a:t>
            </a:r>
          </a:p>
          <a:p xmlns:a="http://schemas.openxmlformats.org/drawingml/2006/main">
            <a:pPr>
              <a:defRPr sz="2025" b="0">
                <a:solidFill>
                  <a:srgbClr val="18202A"/>
                </a:solidFill>
                <a:latin typeface="Arial"/>
                <a:ea typeface="Arial"/>
                <a:cs typeface="Arial"/>
              </a:defRPr>
            </a:pPr>
            <a:r>
              <a:rPr sz="2025" b="0">
                <a:solidFill>
                  <a:srgbClr val="18202A"/>
                </a:solidFill>
                <a:latin typeface="Arial"/>
                <a:ea typeface="Arial"/>
                <a:cs typeface="Arial"/>
              </a:rPr>
              <a:t>Initial velocity: [-2, 2] rad/s</a:t>
            </a:r>
          </a:p>
        </p:txBody>
      </p:sp>
      <p:sp>
        <p:nvSpPr>
          <p:cNvPr id="5" name="">
            <a:extLst xmlns:a="http://schemas.openxmlformats.org/drawingml/2006/main">
              <a:ext uri="{FF2B5EF4-FFF2-40B4-BE49-F238E27FC236}">
                <a16:creationId xmlns:a16="http://schemas.microsoft.com/office/drawing/2014/main" id="{8A456612-B95A-4A69-8B34-5BA86F6D2D01}"/>
              </a:ext>
            </a:extLst>
          </p:cNvPr>
          <p:cNvSpPr>
            <a:spLocks xmlns:a="http://schemas.openxmlformats.org/drawingml/2006/main" noGrp="1"/>
          </p:cNvSpPr>
          <p:nvPr/>
        </p:nvSpPr>
        <p:spPr>
          <a:xfrm xmlns:a="http://schemas.openxmlformats.org/drawingml/2006/main">
            <a:off x="6334125" y="5000625"/>
            <a:ext cx="5143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025" b="1">
                <a:solidFill>
                  <a:srgbClr val="18202A"/>
                </a:solidFill>
                <a:latin typeface="Arial"/>
                <a:ea typeface="Arial"/>
                <a:cs typeface="Arial"/>
              </a:defRPr>
            </a:defPPr>
            <a:lvl1pPr>
              <a:defRPr sz="2025" b="1">
                <a:solidFill>
                  <a:srgbClr val="18202A"/>
                </a:solidFill>
                <a:latin typeface="Arial"/>
                <a:ea typeface="Arial"/>
                <a:cs typeface="Arial"/>
              </a:defRPr>
            </a:lvl1pPr>
            <a:lvl2pPr>
              <a:defRPr sz="2025" b="1">
                <a:solidFill>
                  <a:srgbClr val="18202A"/>
                </a:solidFill>
                <a:latin typeface="Arial"/>
                <a:ea typeface="Arial"/>
                <a:cs typeface="Arial"/>
              </a:defRPr>
            </a:lvl2pPr>
            <a:lvl3pPr>
              <a:defRPr sz="2025" b="1">
                <a:solidFill>
                  <a:srgbClr val="18202A"/>
                </a:solidFill>
                <a:latin typeface="Arial"/>
                <a:ea typeface="Arial"/>
                <a:cs typeface="Arial"/>
              </a:defRPr>
            </a:lvl3pPr>
            <a:lvl4pPr>
              <a:defRPr sz="2025" b="1">
                <a:solidFill>
                  <a:srgbClr val="18202A"/>
                </a:solidFill>
                <a:latin typeface="Arial"/>
                <a:ea typeface="Arial"/>
                <a:cs typeface="Arial"/>
              </a:defRPr>
            </a:lvl4pPr>
            <a:lvl5pPr>
              <a:defRPr sz="2025" b="1">
                <a:solidFill>
                  <a:srgbClr val="18202A"/>
                </a:solidFill>
                <a:latin typeface="Arial"/>
                <a:ea typeface="Arial"/>
                <a:cs typeface="Arial"/>
              </a:defRPr>
            </a:lvl5pPr>
            <a:lvl6pPr>
              <a:defRPr sz="2025" b="1">
                <a:solidFill>
                  <a:srgbClr val="18202A"/>
                </a:solidFill>
                <a:latin typeface="Arial"/>
                <a:ea typeface="Arial"/>
                <a:cs typeface="Arial"/>
              </a:defRPr>
            </a:lvl6pPr>
            <a:lvl7pPr>
              <a:defRPr sz="2025" b="1">
                <a:solidFill>
                  <a:srgbClr val="18202A"/>
                </a:solidFill>
                <a:latin typeface="Arial"/>
                <a:ea typeface="Arial"/>
                <a:cs typeface="Arial"/>
              </a:defRPr>
            </a:lvl7pPr>
            <a:lvl8pPr>
              <a:defRPr sz="2025" b="1">
                <a:solidFill>
                  <a:srgbClr val="18202A"/>
                </a:solidFill>
                <a:latin typeface="Arial"/>
                <a:ea typeface="Arial"/>
                <a:cs typeface="Arial"/>
              </a:defRPr>
            </a:lvl8pPr>
            <a:lvl9pPr>
              <a:defRPr sz="2025" b="1">
                <a:solidFill>
                  <a:srgbClr val="18202A"/>
                </a:solidFill>
                <a:latin typeface="Arial"/>
                <a:ea typeface="Arial"/>
                <a:cs typeface="Arial"/>
              </a:defRPr>
            </a:lvl9pPr>
          </a:lstStyle>
          <a:p xmlns:a="http://schemas.openxmlformats.org/drawingml/2006/main">
            <a:pPr>
              <a:defRPr sz="2025" b="1">
                <a:solidFill>
                  <a:srgbClr val="18202A"/>
                </a:solidFill>
                <a:latin typeface="Arial"/>
                <a:ea typeface="Arial"/>
                <a:cs typeface="Arial"/>
              </a:defRPr>
            </a:pPr>
            <a:r>
              <a:rPr sz="2025" b="1">
                <a:solidFill>
                  <a:srgbClr val="18202A"/>
                </a:solidFill>
                <a:latin typeface="Arial"/>
                <a:ea typeface="Arial"/>
                <a:cs typeface="Arial"/>
              </a:rPr>
              <a:t>Split complete trajectories.</a:t>
            </a:r>
          </a:p>
          <a:p xmlns:a="http://schemas.openxmlformats.org/drawingml/2006/main">
            <a:pPr>
              <a:defRPr sz="2025" b="1">
                <a:solidFill>
                  <a:srgbClr val="18202A"/>
                </a:solidFill>
                <a:latin typeface="Arial"/>
                <a:ea typeface="Arial"/>
                <a:cs typeface="Arial"/>
              </a:defRPr>
            </a:pPr>
            <a:r>
              <a:rPr sz="2025" b="1">
                <a:solidFill>
                  <a:srgbClr val="18202A"/>
                </a:solidFill>
                <a:latin typeface="Arial"/>
                <a:ea typeface="Arial"/>
                <a:cs typeface="Arial"/>
              </a:rPr>
              <a:t>Fit normalization on training data only.</a:t>
            </a:r>
          </a:p>
        </p:txBody>
      </p:sp>
      <p:sp>
        <p:nvSpPr>
          <p:cNvPr id="6" name="">
            <a:extLst xmlns:a="http://schemas.openxmlformats.org/drawingml/2006/main">
              <a:ext uri="{FF2B5EF4-FFF2-40B4-BE49-F238E27FC236}">
                <a16:creationId xmlns:a16="http://schemas.microsoft.com/office/drawing/2014/main" id="{1E72338B-9F57-4B19-BB64-28BDE00060BF}"/>
              </a:ext>
            </a:extLst>
          </p:cNvPr>
          <p:cNvSpPr>
            <a:spLocks xmlns:a="http://schemas.openxmlformats.org/drawingml/2006/main" noGrp="1"/>
          </p:cNvSpPr>
          <p:nvPr/>
        </p:nvSpPr>
        <p:spPr>
          <a:xfrm xmlns:a="http://schemas.openxmlformats.org/drawingml/2006/main">
            <a:off x="666750" y="6191250"/>
            <a:ext cx="10763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575" b="0">
                <a:solidFill>
                  <a:srgbClr val="535E6C"/>
                </a:solidFill>
                <a:latin typeface="Arial"/>
                <a:ea typeface="Arial"/>
                <a:cs typeface="Arial"/>
              </a:defRPr>
            </a:defPPr>
            <a:lvl1pPr>
              <a:defRPr sz="1575" b="0">
                <a:solidFill>
                  <a:srgbClr val="535E6C"/>
                </a:solidFill>
                <a:latin typeface="Arial"/>
                <a:ea typeface="Arial"/>
                <a:cs typeface="Arial"/>
              </a:defRPr>
            </a:lvl1pPr>
            <a:lvl2pPr>
              <a:defRPr sz="1575" b="0">
                <a:solidFill>
                  <a:srgbClr val="535E6C"/>
                </a:solidFill>
                <a:latin typeface="Arial"/>
                <a:ea typeface="Arial"/>
                <a:cs typeface="Arial"/>
              </a:defRPr>
            </a:lvl2pPr>
            <a:lvl3pPr>
              <a:defRPr sz="1575" b="0">
                <a:solidFill>
                  <a:srgbClr val="535E6C"/>
                </a:solidFill>
                <a:latin typeface="Arial"/>
                <a:ea typeface="Arial"/>
                <a:cs typeface="Arial"/>
              </a:defRPr>
            </a:lvl3pPr>
            <a:lvl4pPr>
              <a:defRPr sz="1575" b="0">
                <a:solidFill>
                  <a:srgbClr val="535E6C"/>
                </a:solidFill>
                <a:latin typeface="Arial"/>
                <a:ea typeface="Arial"/>
                <a:cs typeface="Arial"/>
              </a:defRPr>
            </a:lvl4pPr>
            <a:lvl5pPr>
              <a:defRPr sz="1575" b="0">
                <a:solidFill>
                  <a:srgbClr val="535E6C"/>
                </a:solidFill>
                <a:latin typeface="Arial"/>
                <a:ea typeface="Arial"/>
                <a:cs typeface="Arial"/>
              </a:defRPr>
            </a:lvl5pPr>
            <a:lvl6pPr>
              <a:defRPr sz="1575" b="0">
                <a:solidFill>
                  <a:srgbClr val="535E6C"/>
                </a:solidFill>
                <a:latin typeface="Arial"/>
                <a:ea typeface="Arial"/>
                <a:cs typeface="Arial"/>
              </a:defRPr>
            </a:lvl6pPr>
            <a:lvl7pPr>
              <a:defRPr sz="1575" b="0">
                <a:solidFill>
                  <a:srgbClr val="535E6C"/>
                </a:solidFill>
                <a:latin typeface="Arial"/>
                <a:ea typeface="Arial"/>
                <a:cs typeface="Arial"/>
              </a:defRPr>
            </a:lvl7pPr>
            <a:lvl8pPr>
              <a:defRPr sz="1575" b="0">
                <a:solidFill>
                  <a:srgbClr val="535E6C"/>
                </a:solidFill>
                <a:latin typeface="Arial"/>
                <a:ea typeface="Arial"/>
                <a:cs typeface="Arial"/>
              </a:defRPr>
            </a:lvl8pPr>
            <a:lvl9pPr>
              <a:defRPr sz="1575" b="0">
                <a:solidFill>
                  <a:srgbClr val="535E6C"/>
                </a:solidFill>
                <a:latin typeface="Arial"/>
                <a:ea typeface="Arial"/>
                <a:cs typeface="Arial"/>
              </a:defRPr>
            </a:lvl9pPr>
          </a:lstStyle>
          <a:p xmlns:a="http://schemas.openxmlformats.org/drawingml/2006/main">
            <a:pPr>
              <a:defRPr sz="1575" b="0">
                <a:solidFill>
                  <a:srgbClr val="535E6C"/>
                </a:solidFill>
                <a:latin typeface="Arial"/>
                <a:ea typeface="Arial"/>
                <a:cs typeface="Arial"/>
              </a:defRPr>
            </a:pPr>
            <a:r>
              <a:rPr sz="1575" b="0">
                <a:solidFill>
                  <a:srgbClr val="535E6C"/>
                </a:solidFill>
                <a:latin typeface="Arial"/>
                <a:ea typeface="Arial"/>
                <a:cs typeface="Arial"/>
              </a:rPr>
              <a:t>Seed 42. 500 transitions per trajectory. No row-level shuffle across splits.</a:t>
            </a:r>
          </a:p>
        </p:txBody>
      </p:sp>
    </p:spTree>
    <p:extLst>
      <p:ext uri="{BB962C8B-B14F-4D97-AF65-F5344CB8AC3E}">
        <p14:creationId xmlns:p14="http://schemas.microsoft.com/office/powerpoint/2010/main" val="1642216426"/>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DD8663B0-668C-4D45-99E4-F2F98EBC6846}"/>
              </a:ext>
            </a:extLst>
          </p:cNvPr>
          <p:cNvSpPr>
            <a:spLocks xmlns:a="http://schemas.openxmlformats.org/drawingml/2006/main" noGrp="1"/>
          </p:cNvSpPr>
          <p:nvPr/>
        </p:nvSpPr>
        <p:spPr>
          <a:xfrm xmlns:a="http://schemas.openxmlformats.org/drawingml/2006/main">
            <a:off x="609600" y="40005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3300" b="1">
                <a:solidFill>
                  <a:srgbClr val="18202A"/>
                </a:solidFill>
                <a:latin typeface="Arial"/>
                <a:ea typeface="Arial"/>
                <a:cs typeface="Arial"/>
              </a:defRPr>
            </a:defPPr>
            <a:lvl1pPr>
              <a:defRPr sz="3300" b="1">
                <a:solidFill>
                  <a:srgbClr val="18202A"/>
                </a:solidFill>
                <a:latin typeface="Arial"/>
                <a:ea typeface="Arial"/>
                <a:cs typeface="Arial"/>
              </a:defRPr>
            </a:lvl1pPr>
            <a:lvl2pPr>
              <a:defRPr sz="3300" b="1">
                <a:solidFill>
                  <a:srgbClr val="18202A"/>
                </a:solidFill>
                <a:latin typeface="Arial"/>
                <a:ea typeface="Arial"/>
                <a:cs typeface="Arial"/>
              </a:defRPr>
            </a:lvl2pPr>
            <a:lvl3pPr>
              <a:defRPr sz="3300" b="1">
                <a:solidFill>
                  <a:srgbClr val="18202A"/>
                </a:solidFill>
                <a:latin typeface="Arial"/>
                <a:ea typeface="Arial"/>
                <a:cs typeface="Arial"/>
              </a:defRPr>
            </a:lvl3pPr>
            <a:lvl4pPr>
              <a:defRPr sz="3300" b="1">
                <a:solidFill>
                  <a:srgbClr val="18202A"/>
                </a:solidFill>
                <a:latin typeface="Arial"/>
                <a:ea typeface="Arial"/>
                <a:cs typeface="Arial"/>
              </a:defRPr>
            </a:lvl4pPr>
            <a:lvl5pPr>
              <a:defRPr sz="3300" b="1">
                <a:solidFill>
                  <a:srgbClr val="18202A"/>
                </a:solidFill>
                <a:latin typeface="Arial"/>
                <a:ea typeface="Arial"/>
                <a:cs typeface="Arial"/>
              </a:defRPr>
            </a:lvl5pPr>
            <a:lvl6pPr>
              <a:defRPr sz="3300" b="1">
                <a:solidFill>
                  <a:srgbClr val="18202A"/>
                </a:solidFill>
                <a:latin typeface="Arial"/>
                <a:ea typeface="Arial"/>
                <a:cs typeface="Arial"/>
              </a:defRPr>
            </a:lvl6pPr>
            <a:lvl7pPr>
              <a:defRPr sz="3300" b="1">
                <a:solidFill>
                  <a:srgbClr val="18202A"/>
                </a:solidFill>
                <a:latin typeface="Arial"/>
                <a:ea typeface="Arial"/>
                <a:cs typeface="Arial"/>
              </a:defRPr>
            </a:lvl7pPr>
            <a:lvl8pPr>
              <a:defRPr sz="3300" b="1">
                <a:solidFill>
                  <a:srgbClr val="18202A"/>
                </a:solidFill>
                <a:latin typeface="Arial"/>
                <a:ea typeface="Arial"/>
                <a:cs typeface="Arial"/>
              </a:defRPr>
            </a:lvl8pPr>
            <a:lvl9pPr>
              <a:defRPr sz="3300" b="1">
                <a:solidFill>
                  <a:srgbClr val="18202A"/>
                </a:solidFill>
                <a:latin typeface="Arial"/>
                <a:ea typeface="Arial"/>
                <a:cs typeface="Arial"/>
              </a:defRPr>
            </a:lvl9pPr>
          </a:lstStyle>
          <a:p xmlns:a="http://schemas.openxmlformats.org/drawingml/2006/main">
            <a:pPr>
              <a:defRPr sz="3300" b="1">
                <a:solidFill>
                  <a:srgbClr val="18202A"/>
                </a:solidFill>
                <a:latin typeface="Arial"/>
                <a:ea typeface="Arial"/>
                <a:cs typeface="Arial"/>
              </a:defRPr>
            </a:pPr>
            <a:r>
              <a:rPr sz="3300" b="1">
                <a:solidFill>
                  <a:srgbClr val="18202A"/>
                </a:solidFill>
                <a:latin typeface="Arial"/>
                <a:ea typeface="Arial"/>
                <a:cs typeface="Arial"/>
              </a:rPr>
              <a:t>Handwritten Neural Network</a:t>
            </a:r>
          </a:p>
        </p:txBody>
      </p:sp>
      <p:sp>
        <p:nvSpPr>
          <p:cNvPr id="2" name="">
            <a:extLst xmlns:a="http://schemas.openxmlformats.org/drawingml/2006/main">
              <a:ext uri="{FF2B5EF4-FFF2-40B4-BE49-F238E27FC236}">
                <a16:creationId xmlns:a16="http://schemas.microsoft.com/office/drawing/2014/main" id="{FA4E2671-66A5-4BE5-8507-C2A12AB8257C}"/>
              </a:ext>
            </a:extLst>
          </p:cNvPr>
          <p:cNvSpPr>
            <a:spLocks xmlns:a="http://schemas.openxmlformats.org/drawingml/2006/main" noGrp="1"/>
          </p:cNvSpPr>
          <p:nvPr/>
        </p:nvSpPr>
        <p:spPr>
          <a:xfrm xmlns:a="http://schemas.openxmlformats.org/drawingml/2006/main">
            <a:off x="647700" y="1381125"/>
            <a:ext cx="10858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175" b="0">
                <a:solidFill>
                  <a:srgbClr val="18202A"/>
                </a:solidFill>
                <a:latin typeface="Arial"/>
                <a:ea typeface="Arial"/>
                <a:cs typeface="Arial"/>
              </a:defRPr>
            </a:defPPr>
            <a:lvl1pPr>
              <a:defRPr sz="2175" b="0">
                <a:solidFill>
                  <a:srgbClr val="18202A"/>
                </a:solidFill>
                <a:latin typeface="Arial"/>
                <a:ea typeface="Arial"/>
                <a:cs typeface="Arial"/>
              </a:defRPr>
            </a:lvl1pPr>
            <a:lvl2pPr>
              <a:defRPr sz="2175" b="0">
                <a:solidFill>
                  <a:srgbClr val="18202A"/>
                </a:solidFill>
                <a:latin typeface="Arial"/>
                <a:ea typeface="Arial"/>
                <a:cs typeface="Arial"/>
              </a:defRPr>
            </a:lvl2pPr>
            <a:lvl3pPr>
              <a:defRPr sz="2175" b="0">
                <a:solidFill>
                  <a:srgbClr val="18202A"/>
                </a:solidFill>
                <a:latin typeface="Arial"/>
                <a:ea typeface="Arial"/>
                <a:cs typeface="Arial"/>
              </a:defRPr>
            </a:lvl3pPr>
            <a:lvl4pPr>
              <a:defRPr sz="2175" b="0">
                <a:solidFill>
                  <a:srgbClr val="18202A"/>
                </a:solidFill>
                <a:latin typeface="Arial"/>
                <a:ea typeface="Arial"/>
                <a:cs typeface="Arial"/>
              </a:defRPr>
            </a:lvl4pPr>
            <a:lvl5pPr>
              <a:defRPr sz="2175" b="0">
                <a:solidFill>
                  <a:srgbClr val="18202A"/>
                </a:solidFill>
                <a:latin typeface="Arial"/>
                <a:ea typeface="Arial"/>
                <a:cs typeface="Arial"/>
              </a:defRPr>
            </a:lvl5pPr>
            <a:lvl6pPr>
              <a:defRPr sz="2175" b="0">
                <a:solidFill>
                  <a:srgbClr val="18202A"/>
                </a:solidFill>
                <a:latin typeface="Arial"/>
                <a:ea typeface="Arial"/>
                <a:cs typeface="Arial"/>
              </a:defRPr>
            </a:lvl6pPr>
            <a:lvl7pPr>
              <a:defRPr sz="2175" b="0">
                <a:solidFill>
                  <a:srgbClr val="18202A"/>
                </a:solidFill>
                <a:latin typeface="Arial"/>
                <a:ea typeface="Arial"/>
                <a:cs typeface="Arial"/>
              </a:defRPr>
            </a:lvl7pPr>
            <a:lvl8pPr>
              <a:defRPr sz="2175" b="0">
                <a:solidFill>
                  <a:srgbClr val="18202A"/>
                </a:solidFill>
                <a:latin typeface="Arial"/>
                <a:ea typeface="Arial"/>
                <a:cs typeface="Arial"/>
              </a:defRPr>
            </a:lvl8pPr>
            <a:lvl9pPr>
              <a:defRPr sz="2175" b="0">
                <a:solidFill>
                  <a:srgbClr val="18202A"/>
                </a:solidFill>
                <a:latin typeface="Arial"/>
                <a:ea typeface="Arial"/>
                <a:cs typeface="Arial"/>
              </a:defRPr>
            </a:lvl9pPr>
          </a:lstStyle>
          <a:p xmlns:a="http://schemas.openxmlformats.org/drawingml/2006/main">
            <a:pPr>
              <a:defRPr sz="2175" b="0">
                <a:solidFill>
                  <a:srgbClr val="18202A"/>
                </a:solidFill>
                <a:latin typeface="Arial"/>
                <a:ea typeface="Arial"/>
                <a:cs typeface="Arial"/>
              </a:defRPr>
            </a:pPr>
            <a:r>
              <a:rPr sz="2175" b="0">
                <a:solidFill>
                  <a:srgbClr val="18202A"/>
                </a:solidFill>
                <a:latin typeface="Arial"/>
                <a:ea typeface="Arial"/>
                <a:cs typeface="Arial"/>
              </a:rPr>
              <a:t>Dense layers, activations, MSE, backpropagation and SGD</a:t>
            </a:r>
          </a:p>
        </p:txBody>
      </p:sp>
      <p:graphicFrame>
        <p:nvGraphicFramePr>
          <p:cNvPr id="3" name="">
            <a:extLst xmlns:a="http://schemas.openxmlformats.org/drawingml/2006/main">
              <a:ext uri="{FF2B5EF4-FFF2-40B4-BE49-F238E27FC236}">
                <a16:creationId xmlns:a16="http://schemas.microsoft.com/office/drawing/2014/main" id="{B8756AD9-212A-463B-AC4E-295D8060BFE4}"/>
              </a:ext>
            </a:extLst>
          </p:cNvPr>
          <p:cNvGraphicFramePr/>
          <p:nvPr/>
        </p:nvGraphicFramePr>
        <p:xfrm>
          <a:off xmlns:a="http://schemas.openxmlformats.org/drawingml/2006/main" x="647700" y="2238375"/>
          <a:ext xmlns:a="http://schemas.openxmlformats.org/drawingml/2006/main" cx="10858500" cy="2000250"/>
        </p:xfrm>
        <a:graphic xmlns:a="http://schemas.openxmlformats.org/drawingml/2006/main">
          <a:graphicData uri="http://schemas.openxmlformats.org/drawingml/2006/table">
            <a:tbl>
              <a:tblPr/>
              <a:tblGrid>
                <a:gridCol w="3429000"/>
                <a:gridCol w="2857500"/>
                <a:gridCol w="2476500"/>
                <a:gridCol w="2095500"/>
              </a:tblGrid>
              <a:tr h="666750">
                <a:tc>
                  <a:txBody>
                    <a:bodyPr/>
                    <a:lstStyle/>
                    <a:p>
                      <a:r>
                        <a:rPr sz="1725" b="1">
                          <a:solidFill>
                            <a:srgbClr val="18202A"/>
                          </a:solidFill>
                          <a:latin typeface="Arial"/>
                          <a:ea typeface="Arial"/>
                          <a:cs typeface="Arial"/>
                        </a:rPr>
                        <a:t>Model</a:t>
                      </a:r>
                    </a:p>
                  </a:txBody>
                  <a:tcPr marL="91440" marR="91440" marT="45720" marB="45720">
                    <a:lnL w="9525">
                      <a:solidFill>
                        <a:srgbClr val="D9D9D9"/>
                      </a:solidFill>
                      <a:prstDash val="solid"/>
                    </a:lnL>
                    <a:lnR w="9525">
                      <a:solidFill>
                        <a:srgbClr val="D9D9D9"/>
                      </a:solidFill>
                      <a:prstDash val="solid"/>
                    </a:lnR>
                    <a:lnT w="9525">
                      <a:solidFill>
                        <a:srgbClr val="D9D9D9"/>
                      </a:solidFill>
                      <a:prstDash val="solid"/>
                    </a:lnT>
                    <a:lnB w="9525">
                      <a:solidFill>
                        <a:srgbClr val="D9D9D9"/>
                      </a:solidFill>
                      <a:prstDash val="solid"/>
                    </a:lnB>
                    <a:solidFill>
                      <a:srgbClr val="E8EDF3"/>
                    </a:solidFill>
                  </a:tcPr>
                </a:tc>
                <a:tc>
                  <a:txBody>
                    <a:bodyPr/>
                    <a:lstStyle/>
                    <a:p>
                      <a:r>
                        <a:rPr sz="1725" b="1">
                          <a:solidFill>
                            <a:srgbClr val="18202A"/>
                          </a:solidFill>
                          <a:latin typeface="Arial"/>
                          <a:ea typeface="Arial"/>
                          <a:cs typeface="Arial"/>
                        </a:rPr>
                        <a:t>Architecture</a:t>
                      </a:r>
                    </a:p>
                  </a:txBody>
                  <a:tcPr marL="91440" marR="91440" marT="45720" marB="45720">
                    <a:lnR w="9525">
                      <a:solidFill>
                        <a:srgbClr val="D9D9D9"/>
                      </a:solidFill>
                      <a:prstDash val="solid"/>
                    </a:lnR>
                    <a:lnT w="9525">
                      <a:solidFill>
                        <a:srgbClr val="D9D9D9"/>
                      </a:solidFill>
                      <a:prstDash val="solid"/>
                    </a:lnT>
                    <a:lnB w="9525">
                      <a:solidFill>
                        <a:srgbClr val="D9D9D9"/>
                      </a:solidFill>
                      <a:prstDash val="solid"/>
                    </a:lnB>
                    <a:solidFill>
                      <a:srgbClr val="E8EDF3"/>
                    </a:solidFill>
                  </a:tcPr>
                </a:tc>
                <a:tc>
                  <a:txBody>
                    <a:bodyPr/>
                    <a:lstStyle/>
                    <a:p>
                      <a:r>
                        <a:rPr sz="1725" b="1">
                          <a:solidFill>
                            <a:srgbClr val="18202A"/>
                          </a:solidFill>
                          <a:latin typeface="Arial"/>
                          <a:ea typeface="Arial"/>
                          <a:cs typeface="Arial"/>
                        </a:rPr>
                        <a:t>Activation</a:t>
                      </a:r>
                    </a:p>
                  </a:txBody>
                  <a:tcPr marL="91440" marR="91440" marT="45720" marB="45720">
                    <a:lnR w="9525">
                      <a:solidFill>
                        <a:srgbClr val="D9D9D9"/>
                      </a:solidFill>
                      <a:prstDash val="solid"/>
                    </a:lnR>
                    <a:lnT w="9525">
                      <a:solidFill>
                        <a:srgbClr val="D9D9D9"/>
                      </a:solidFill>
                      <a:prstDash val="solid"/>
                    </a:lnT>
                    <a:lnB w="9525">
                      <a:solidFill>
                        <a:srgbClr val="D9D9D9"/>
                      </a:solidFill>
                      <a:prstDash val="solid"/>
                    </a:lnB>
                    <a:solidFill>
                      <a:srgbClr val="E8EDF3"/>
                    </a:solidFill>
                  </a:tcPr>
                </a:tc>
                <a:tc>
                  <a:txBody>
                    <a:bodyPr/>
                    <a:lstStyle/>
                    <a:p>
                      <a:r>
                        <a:rPr sz="1725" b="1">
                          <a:solidFill>
                            <a:srgbClr val="18202A"/>
                          </a:solidFill>
                          <a:latin typeface="Arial"/>
                          <a:ea typeface="Arial"/>
                          <a:cs typeface="Arial"/>
                        </a:rPr>
                        <a:t>Parameters</a:t>
                      </a:r>
                    </a:p>
                  </a:txBody>
                  <a:tcPr marL="91440" marR="91440" marT="45720" marB="45720">
                    <a:lnR w="9525">
                      <a:solidFill>
                        <a:srgbClr val="D9D9D9"/>
                      </a:solidFill>
                      <a:prstDash val="solid"/>
                    </a:lnR>
                    <a:lnT w="9525">
                      <a:solidFill>
                        <a:srgbClr val="D9D9D9"/>
                      </a:solidFill>
                      <a:prstDash val="solid"/>
                    </a:lnT>
                    <a:lnB w="9525">
                      <a:solidFill>
                        <a:srgbClr val="D9D9D9"/>
                      </a:solidFill>
                      <a:prstDash val="solid"/>
                    </a:lnB>
                    <a:solidFill>
                      <a:srgbClr val="E8EDF3"/>
                    </a:solidFill>
                  </a:tcPr>
                </a:tc>
              </a:tr>
              <a:tr h="666750">
                <a:tc>
                  <a:txBody>
                    <a:bodyPr/>
                    <a:lstStyle/>
                    <a:p>
                      <a:r>
                        <a:rPr sz="1725" b="0">
                          <a:solidFill>
                            <a:srgbClr val="18202A"/>
                          </a:solidFill>
                          <a:latin typeface="Arial"/>
                          <a:ea typeface="Arial"/>
                          <a:cs typeface="Arial"/>
                        </a:rPr>
                        <a:t>Main</a:t>
                      </a:r>
                    </a:p>
                  </a:txBody>
                  <a:tcPr marL="91440" marR="91440" marT="45720" marB="45720">
                    <a:lnL w="9525">
                      <a:solidFill>
                        <a:srgbClr val="D9D9D9"/>
                      </a:solidFill>
                      <a:prstDash val="solid"/>
                    </a:lnL>
                    <a:lnR w="9525">
                      <a:solidFill>
                        <a:srgbClr val="D9D9D9"/>
                      </a:solidFill>
                      <a:prstDash val="solid"/>
                    </a:lnR>
                    <a:lnB w="9525">
                      <a:solidFill>
                        <a:srgbClr val="D9D9D9"/>
                      </a:solidFill>
                      <a:prstDash val="solid"/>
                    </a:lnB>
                    <a:solidFill>
                      <a:srgbClr val="FFFFFF"/>
                    </a:solidFill>
                  </a:tcPr>
                </a:tc>
                <a:tc>
                  <a:txBody>
                    <a:bodyPr/>
                    <a:lstStyle/>
                    <a:p>
                      <a:r>
                        <a:rPr sz="1725" b="0">
                          <a:solidFill>
                            <a:srgbClr val="18202A"/>
                          </a:solidFill>
                          <a:latin typeface="Arial"/>
                          <a:ea typeface="Arial"/>
                          <a:cs typeface="Arial"/>
                        </a:rPr>
                        <a:t>2-32-32-2</a:t>
                      </a:r>
                    </a:p>
                  </a:txBody>
                  <a:tcPr marL="91440" marR="91440" marT="45720" marB="45720">
                    <a:lnR w="9525">
                      <a:solidFill>
                        <a:srgbClr val="D9D9D9"/>
                      </a:solidFill>
                      <a:prstDash val="solid"/>
                    </a:lnR>
                    <a:lnB w="9525">
                      <a:solidFill>
                        <a:srgbClr val="D9D9D9"/>
                      </a:solidFill>
                      <a:prstDash val="solid"/>
                    </a:lnB>
                    <a:solidFill>
                      <a:srgbClr val="FFFFFF"/>
                    </a:solidFill>
                  </a:tcPr>
                </a:tc>
                <a:tc>
                  <a:txBody>
                    <a:bodyPr/>
                    <a:lstStyle/>
                    <a:p>
                      <a:r>
                        <a:rPr sz="1725" b="0">
                          <a:solidFill>
                            <a:srgbClr val="18202A"/>
                          </a:solidFill>
                          <a:latin typeface="Arial"/>
                          <a:ea typeface="Arial"/>
                          <a:cs typeface="Arial"/>
                        </a:rPr>
                        <a:t>Tanh</a:t>
                      </a:r>
                    </a:p>
                  </a:txBody>
                  <a:tcPr marL="91440" marR="91440" marT="45720" marB="45720">
                    <a:lnR w="9525">
                      <a:solidFill>
                        <a:srgbClr val="D9D9D9"/>
                      </a:solidFill>
                      <a:prstDash val="solid"/>
                    </a:lnR>
                    <a:lnB w="9525">
                      <a:solidFill>
                        <a:srgbClr val="D9D9D9"/>
                      </a:solidFill>
                      <a:prstDash val="solid"/>
                    </a:lnB>
                    <a:solidFill>
                      <a:srgbClr val="FFFFFF"/>
                    </a:solidFill>
                  </a:tcPr>
                </a:tc>
                <a:tc>
                  <a:txBody>
                    <a:bodyPr/>
                    <a:lstStyle/>
                    <a:p>
                      <a:r>
                        <a:rPr sz="1725" b="0">
                          <a:solidFill>
                            <a:srgbClr val="18202A"/>
                          </a:solidFill>
                          <a:latin typeface="Arial"/>
                          <a:ea typeface="Arial"/>
                          <a:cs typeface="Arial"/>
                        </a:rPr>
                        <a:t>1,218</a:t>
                      </a:r>
                    </a:p>
                  </a:txBody>
                  <a:tcPr marL="91440" marR="91440" marT="45720" marB="45720">
                    <a:lnR w="9525">
                      <a:solidFill>
                        <a:srgbClr val="D9D9D9"/>
                      </a:solidFill>
                      <a:prstDash val="solid"/>
                    </a:lnR>
                    <a:lnB w="9525">
                      <a:solidFill>
                        <a:srgbClr val="D9D9D9"/>
                      </a:solidFill>
                      <a:prstDash val="solid"/>
                    </a:lnB>
                    <a:solidFill>
                      <a:srgbClr val="FFFFFF"/>
                    </a:solidFill>
                  </a:tcPr>
                </a:tc>
              </a:tr>
              <a:tr h="666750">
                <a:tc>
                  <a:txBody>
                    <a:bodyPr/>
                    <a:lstStyle/>
                    <a:p>
                      <a:r>
                        <a:rPr sz="1725" b="0">
                          <a:solidFill>
                            <a:srgbClr val="18202A"/>
                          </a:solidFill>
                          <a:latin typeface="Arial"/>
                          <a:ea typeface="Arial"/>
                          <a:cs typeface="Arial"/>
                        </a:rPr>
                        <a:t>Small baseline</a:t>
                      </a:r>
                    </a:p>
                  </a:txBody>
                  <a:tcPr marL="91440" marR="91440" marT="45720" marB="45720">
                    <a:lnL w="9525">
                      <a:solidFill>
                        <a:srgbClr val="D9D9D9"/>
                      </a:solidFill>
                      <a:prstDash val="solid"/>
                    </a:lnL>
                    <a:lnR w="9525">
                      <a:solidFill>
                        <a:srgbClr val="D9D9D9"/>
                      </a:solidFill>
                      <a:prstDash val="solid"/>
                    </a:lnR>
                    <a:lnB w="9525">
                      <a:solidFill>
                        <a:srgbClr val="D9D9D9"/>
                      </a:solidFill>
                      <a:prstDash val="solid"/>
                    </a:lnB>
                    <a:solidFill>
                      <a:srgbClr val="F5F7F9"/>
                    </a:solidFill>
                  </a:tcPr>
                </a:tc>
                <a:tc>
                  <a:txBody>
                    <a:bodyPr/>
                    <a:lstStyle/>
                    <a:p>
                      <a:r>
                        <a:rPr sz="1725" b="0">
                          <a:solidFill>
                            <a:srgbClr val="18202A"/>
                          </a:solidFill>
                          <a:latin typeface="Arial"/>
                          <a:ea typeface="Arial"/>
                          <a:cs typeface="Arial"/>
                        </a:rPr>
                        <a:t>2-3-2</a:t>
                      </a:r>
                    </a:p>
                  </a:txBody>
                  <a:tcPr marL="91440" marR="91440" marT="45720" marB="45720">
                    <a:lnR w="9525">
                      <a:solidFill>
                        <a:srgbClr val="D9D9D9"/>
                      </a:solidFill>
                      <a:prstDash val="solid"/>
                    </a:lnR>
                    <a:lnB w="9525">
                      <a:solidFill>
                        <a:srgbClr val="D9D9D9"/>
                      </a:solidFill>
                      <a:prstDash val="solid"/>
                    </a:lnB>
                    <a:solidFill>
                      <a:srgbClr val="F5F7F9"/>
                    </a:solidFill>
                  </a:tcPr>
                </a:tc>
                <a:tc>
                  <a:txBody>
                    <a:bodyPr/>
                    <a:lstStyle/>
                    <a:p>
                      <a:r>
                        <a:rPr sz="1725" b="0">
                          <a:solidFill>
                            <a:srgbClr val="18202A"/>
                          </a:solidFill>
                          <a:latin typeface="Arial"/>
                          <a:ea typeface="Arial"/>
                          <a:cs typeface="Arial"/>
                        </a:rPr>
                        <a:t>Sigmoid</a:t>
                      </a:r>
                    </a:p>
                  </a:txBody>
                  <a:tcPr marL="91440" marR="91440" marT="45720" marB="45720">
                    <a:lnR w="9525">
                      <a:solidFill>
                        <a:srgbClr val="D9D9D9"/>
                      </a:solidFill>
                      <a:prstDash val="solid"/>
                    </a:lnR>
                    <a:lnB w="9525">
                      <a:solidFill>
                        <a:srgbClr val="D9D9D9"/>
                      </a:solidFill>
                      <a:prstDash val="solid"/>
                    </a:lnB>
                    <a:solidFill>
                      <a:srgbClr val="F5F7F9"/>
                    </a:solidFill>
                  </a:tcPr>
                </a:tc>
                <a:tc>
                  <a:txBody>
                    <a:bodyPr/>
                    <a:lstStyle/>
                    <a:p>
                      <a:r>
                        <a:rPr sz="1725" b="0">
                          <a:solidFill>
                            <a:srgbClr val="18202A"/>
                          </a:solidFill>
                          <a:latin typeface="Arial"/>
                          <a:ea typeface="Arial"/>
                          <a:cs typeface="Arial"/>
                        </a:rPr>
                        <a:t>17</a:t>
                      </a:r>
                    </a:p>
                  </a:txBody>
                  <a:tcPr marL="91440" marR="91440" marT="45720" marB="45720">
                    <a:lnR w="9525">
                      <a:solidFill>
                        <a:srgbClr val="D9D9D9"/>
                      </a:solidFill>
                      <a:prstDash val="solid"/>
                    </a:lnR>
                    <a:lnB w="9525">
                      <a:solidFill>
                        <a:srgbClr val="D9D9D9"/>
                      </a:solidFill>
                      <a:prstDash val="solid"/>
                    </a:lnB>
                    <a:solidFill>
                      <a:srgbClr val="F5F7F9"/>
                    </a:solidFill>
                  </a:tcPr>
                </a:tc>
              </a:tr>
            </a:tbl>
          </a:graphicData>
        </a:graphic>
      </p:graphicFrame>
      <p:sp>
        <p:nvSpPr>
          <p:cNvPr id="4" name="">
            <a:extLst xmlns:a="http://schemas.openxmlformats.org/drawingml/2006/main">
              <a:ext uri="{FF2B5EF4-FFF2-40B4-BE49-F238E27FC236}">
                <a16:creationId xmlns:a16="http://schemas.microsoft.com/office/drawing/2014/main" id="{5EA1007A-3B86-49BD-9D72-BAA2CDCCA3D5}"/>
              </a:ext>
            </a:extLst>
          </p:cNvPr>
          <p:cNvSpPr>
            <a:spLocks xmlns:a="http://schemas.openxmlformats.org/drawingml/2006/main" noGrp="1"/>
          </p:cNvSpPr>
          <p:nvPr/>
        </p:nvSpPr>
        <p:spPr>
          <a:xfrm xmlns:a="http://schemas.openxmlformats.org/drawingml/2006/main">
            <a:off x="666750" y="4667250"/>
            <a:ext cx="10763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100" b="0">
                <a:solidFill>
                  <a:srgbClr val="18202A"/>
                </a:solidFill>
                <a:latin typeface="Arial"/>
                <a:ea typeface="Arial"/>
                <a:cs typeface="Arial"/>
              </a:defRPr>
            </a:defPPr>
            <a:lvl1pPr>
              <a:defRPr sz="2100" b="0">
                <a:solidFill>
                  <a:srgbClr val="18202A"/>
                </a:solidFill>
                <a:latin typeface="Arial"/>
                <a:ea typeface="Arial"/>
                <a:cs typeface="Arial"/>
              </a:defRPr>
            </a:lvl1pPr>
            <a:lvl2pPr>
              <a:defRPr sz="2100" b="0">
                <a:solidFill>
                  <a:srgbClr val="18202A"/>
                </a:solidFill>
                <a:latin typeface="Arial"/>
                <a:ea typeface="Arial"/>
                <a:cs typeface="Arial"/>
              </a:defRPr>
            </a:lvl2pPr>
            <a:lvl3pPr>
              <a:defRPr sz="2100" b="0">
                <a:solidFill>
                  <a:srgbClr val="18202A"/>
                </a:solidFill>
                <a:latin typeface="Arial"/>
                <a:ea typeface="Arial"/>
                <a:cs typeface="Arial"/>
              </a:defRPr>
            </a:lvl3pPr>
            <a:lvl4pPr>
              <a:defRPr sz="2100" b="0">
                <a:solidFill>
                  <a:srgbClr val="18202A"/>
                </a:solidFill>
                <a:latin typeface="Arial"/>
                <a:ea typeface="Arial"/>
                <a:cs typeface="Arial"/>
              </a:defRPr>
            </a:lvl4pPr>
            <a:lvl5pPr>
              <a:defRPr sz="2100" b="0">
                <a:solidFill>
                  <a:srgbClr val="18202A"/>
                </a:solidFill>
                <a:latin typeface="Arial"/>
                <a:ea typeface="Arial"/>
                <a:cs typeface="Arial"/>
              </a:defRPr>
            </a:lvl5pPr>
            <a:lvl6pPr>
              <a:defRPr sz="2100" b="0">
                <a:solidFill>
                  <a:srgbClr val="18202A"/>
                </a:solidFill>
                <a:latin typeface="Arial"/>
                <a:ea typeface="Arial"/>
                <a:cs typeface="Arial"/>
              </a:defRPr>
            </a:lvl6pPr>
            <a:lvl7pPr>
              <a:defRPr sz="2100" b="0">
                <a:solidFill>
                  <a:srgbClr val="18202A"/>
                </a:solidFill>
                <a:latin typeface="Arial"/>
                <a:ea typeface="Arial"/>
                <a:cs typeface="Arial"/>
              </a:defRPr>
            </a:lvl7pPr>
            <a:lvl8pPr>
              <a:defRPr sz="2100" b="0">
                <a:solidFill>
                  <a:srgbClr val="18202A"/>
                </a:solidFill>
                <a:latin typeface="Arial"/>
                <a:ea typeface="Arial"/>
                <a:cs typeface="Arial"/>
              </a:defRPr>
            </a:lvl8pPr>
            <a:lvl9pPr>
              <a:defRPr sz="2100" b="0">
                <a:solidFill>
                  <a:srgbClr val="18202A"/>
                </a:solidFill>
                <a:latin typeface="Arial"/>
                <a:ea typeface="Arial"/>
                <a:cs typeface="Arial"/>
              </a:defRPr>
            </a:lvl9pPr>
          </a:lstStyle>
          <a:p xmlns:a="http://schemas.openxmlformats.org/drawingml/2006/main">
            <a:pPr>
              <a:defRPr sz="2100" b="0">
                <a:solidFill>
                  <a:srgbClr val="18202A"/>
                </a:solidFill>
                <a:latin typeface="Arial"/>
                <a:ea typeface="Arial"/>
                <a:cs typeface="Arial"/>
              </a:defRPr>
            </a:pPr>
            <a:r>
              <a:rPr sz="2100" b="0">
                <a:solidFill>
                  <a:srgbClr val="18202A"/>
                </a:solidFill>
                <a:latin typeface="Arial"/>
                <a:ea typeface="Arial"/>
                <a:cs typeface="Arial"/>
              </a:rPr>
              <a:t>ReLU is also implemented and gradient-checked.</a:t>
            </a:r>
          </a:p>
        </p:txBody>
      </p:sp>
      <p:sp>
        <p:nvSpPr>
          <p:cNvPr id="5" name="">
            <a:extLst xmlns:a="http://schemas.openxmlformats.org/drawingml/2006/main">
              <a:ext uri="{FF2B5EF4-FFF2-40B4-BE49-F238E27FC236}">
                <a16:creationId xmlns:a16="http://schemas.microsoft.com/office/drawing/2014/main" id="{5F6F6EBA-AA5B-490C-B3A1-33323A868B9A}"/>
              </a:ext>
            </a:extLst>
          </p:cNvPr>
          <p:cNvSpPr>
            <a:spLocks xmlns:a="http://schemas.openxmlformats.org/drawingml/2006/main" noGrp="1"/>
          </p:cNvSpPr>
          <p:nvPr/>
        </p:nvSpPr>
        <p:spPr>
          <a:xfrm xmlns:a="http://schemas.openxmlformats.org/drawingml/2006/main">
            <a:off x="666750" y="5334000"/>
            <a:ext cx="10763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400" b="0">
                <a:solidFill>
                  <a:srgbClr val="18202A"/>
                </a:solidFill>
                <a:latin typeface="Cambria Math"/>
                <a:ea typeface="Cambria Math"/>
                <a:cs typeface="Cambria Math"/>
              </a:defRPr>
            </a:defPPr>
            <a:lvl1pPr>
              <a:defRPr sz="2400" b="0">
                <a:solidFill>
                  <a:srgbClr val="18202A"/>
                </a:solidFill>
                <a:latin typeface="Cambria Math"/>
                <a:ea typeface="Cambria Math"/>
                <a:cs typeface="Cambria Math"/>
              </a:defRPr>
            </a:lvl1pPr>
            <a:lvl2pPr>
              <a:defRPr sz="2400" b="0">
                <a:solidFill>
                  <a:srgbClr val="18202A"/>
                </a:solidFill>
                <a:latin typeface="Cambria Math"/>
                <a:ea typeface="Cambria Math"/>
                <a:cs typeface="Cambria Math"/>
              </a:defRPr>
            </a:lvl2pPr>
            <a:lvl3pPr>
              <a:defRPr sz="2400" b="0">
                <a:solidFill>
                  <a:srgbClr val="18202A"/>
                </a:solidFill>
                <a:latin typeface="Cambria Math"/>
                <a:ea typeface="Cambria Math"/>
                <a:cs typeface="Cambria Math"/>
              </a:defRPr>
            </a:lvl3pPr>
            <a:lvl4pPr>
              <a:defRPr sz="2400" b="0">
                <a:solidFill>
                  <a:srgbClr val="18202A"/>
                </a:solidFill>
                <a:latin typeface="Cambria Math"/>
                <a:ea typeface="Cambria Math"/>
                <a:cs typeface="Cambria Math"/>
              </a:defRPr>
            </a:lvl4pPr>
            <a:lvl5pPr>
              <a:defRPr sz="2400" b="0">
                <a:solidFill>
                  <a:srgbClr val="18202A"/>
                </a:solidFill>
                <a:latin typeface="Cambria Math"/>
                <a:ea typeface="Cambria Math"/>
                <a:cs typeface="Cambria Math"/>
              </a:defRPr>
            </a:lvl5pPr>
            <a:lvl6pPr>
              <a:defRPr sz="2400" b="0">
                <a:solidFill>
                  <a:srgbClr val="18202A"/>
                </a:solidFill>
                <a:latin typeface="Cambria Math"/>
                <a:ea typeface="Cambria Math"/>
                <a:cs typeface="Cambria Math"/>
              </a:defRPr>
            </a:lvl6pPr>
            <a:lvl7pPr>
              <a:defRPr sz="2400" b="0">
                <a:solidFill>
                  <a:srgbClr val="18202A"/>
                </a:solidFill>
                <a:latin typeface="Cambria Math"/>
                <a:ea typeface="Cambria Math"/>
                <a:cs typeface="Cambria Math"/>
              </a:defRPr>
            </a:lvl7pPr>
            <a:lvl8pPr>
              <a:defRPr sz="2400" b="0">
                <a:solidFill>
                  <a:srgbClr val="18202A"/>
                </a:solidFill>
                <a:latin typeface="Cambria Math"/>
                <a:ea typeface="Cambria Math"/>
                <a:cs typeface="Cambria Math"/>
              </a:defRPr>
            </a:lvl8pPr>
            <a:lvl9pPr>
              <a:defRPr sz="2400" b="0">
                <a:solidFill>
                  <a:srgbClr val="18202A"/>
                </a:solidFill>
                <a:latin typeface="Cambria Math"/>
                <a:ea typeface="Cambria Math"/>
                <a:cs typeface="Cambria Math"/>
              </a:defRPr>
            </a:lvl9pPr>
          </a:lstStyle>
          <a:p xmlns:a="http://schemas.openxmlformats.org/drawingml/2006/main">
            <a:pPr>
              <a:defRPr sz="2400" b="0">
                <a:solidFill>
                  <a:srgbClr val="18202A"/>
                </a:solidFill>
                <a:latin typeface="Cambria Math"/>
                <a:ea typeface="Cambria Math"/>
                <a:cs typeface="Cambria Math"/>
              </a:defRPr>
            </a:pPr>
            <a:r>
              <a:rPr sz="2400" b="0">
                <a:solidFill>
                  <a:srgbClr val="18202A"/>
                </a:solidFill>
                <a:latin typeface="Cambria Math"/>
                <a:ea typeface="Cambria Math"/>
                <a:cs typeface="Cambria Math"/>
              </a:rPr>
              <a:t>next state = current state + learned increment</a:t>
            </a:r>
          </a:p>
        </p:txBody>
      </p:sp>
      <p:sp>
        <p:nvSpPr>
          <p:cNvPr id="6" name="">
            <a:extLst xmlns:a="http://schemas.openxmlformats.org/drawingml/2006/main">
              <a:ext uri="{FF2B5EF4-FFF2-40B4-BE49-F238E27FC236}">
                <a16:creationId xmlns:a16="http://schemas.microsoft.com/office/drawing/2014/main" id="{D2025919-7767-4BE2-9BA5-49FD74D6BC55}"/>
              </a:ext>
            </a:extLst>
          </p:cNvPr>
          <p:cNvSpPr>
            <a:spLocks xmlns:a="http://schemas.openxmlformats.org/drawingml/2006/main" noGrp="1"/>
          </p:cNvSpPr>
          <p:nvPr/>
        </p:nvSpPr>
        <p:spPr>
          <a:xfrm xmlns:a="http://schemas.openxmlformats.org/drawingml/2006/main">
            <a:off x="666750" y="6191250"/>
            <a:ext cx="10763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575" b="0">
                <a:solidFill>
                  <a:srgbClr val="535E6C"/>
                </a:solidFill>
                <a:latin typeface="Arial"/>
                <a:ea typeface="Arial"/>
                <a:cs typeface="Arial"/>
              </a:defRPr>
            </a:defPPr>
            <a:lvl1pPr>
              <a:defRPr sz="1575" b="0">
                <a:solidFill>
                  <a:srgbClr val="535E6C"/>
                </a:solidFill>
                <a:latin typeface="Arial"/>
                <a:ea typeface="Arial"/>
                <a:cs typeface="Arial"/>
              </a:defRPr>
            </a:lvl1pPr>
            <a:lvl2pPr>
              <a:defRPr sz="1575" b="0">
                <a:solidFill>
                  <a:srgbClr val="535E6C"/>
                </a:solidFill>
                <a:latin typeface="Arial"/>
                <a:ea typeface="Arial"/>
                <a:cs typeface="Arial"/>
              </a:defRPr>
            </a:lvl2pPr>
            <a:lvl3pPr>
              <a:defRPr sz="1575" b="0">
                <a:solidFill>
                  <a:srgbClr val="535E6C"/>
                </a:solidFill>
                <a:latin typeface="Arial"/>
                <a:ea typeface="Arial"/>
                <a:cs typeface="Arial"/>
              </a:defRPr>
            </a:lvl3pPr>
            <a:lvl4pPr>
              <a:defRPr sz="1575" b="0">
                <a:solidFill>
                  <a:srgbClr val="535E6C"/>
                </a:solidFill>
                <a:latin typeface="Arial"/>
                <a:ea typeface="Arial"/>
                <a:cs typeface="Arial"/>
              </a:defRPr>
            </a:lvl4pPr>
            <a:lvl5pPr>
              <a:defRPr sz="1575" b="0">
                <a:solidFill>
                  <a:srgbClr val="535E6C"/>
                </a:solidFill>
                <a:latin typeface="Arial"/>
                <a:ea typeface="Arial"/>
                <a:cs typeface="Arial"/>
              </a:defRPr>
            </a:lvl5pPr>
            <a:lvl6pPr>
              <a:defRPr sz="1575" b="0">
                <a:solidFill>
                  <a:srgbClr val="535E6C"/>
                </a:solidFill>
                <a:latin typeface="Arial"/>
                <a:ea typeface="Arial"/>
                <a:cs typeface="Arial"/>
              </a:defRPr>
            </a:lvl6pPr>
            <a:lvl7pPr>
              <a:defRPr sz="1575" b="0">
                <a:solidFill>
                  <a:srgbClr val="535E6C"/>
                </a:solidFill>
                <a:latin typeface="Arial"/>
                <a:ea typeface="Arial"/>
                <a:cs typeface="Arial"/>
              </a:defRPr>
            </a:lvl7pPr>
            <a:lvl8pPr>
              <a:defRPr sz="1575" b="0">
                <a:solidFill>
                  <a:srgbClr val="535E6C"/>
                </a:solidFill>
                <a:latin typeface="Arial"/>
                <a:ea typeface="Arial"/>
                <a:cs typeface="Arial"/>
              </a:defRPr>
            </a:lvl8pPr>
            <a:lvl9pPr>
              <a:defRPr sz="1575" b="0">
                <a:solidFill>
                  <a:srgbClr val="535E6C"/>
                </a:solidFill>
                <a:latin typeface="Arial"/>
                <a:ea typeface="Arial"/>
                <a:cs typeface="Arial"/>
              </a:defRPr>
            </a:lvl9pPr>
          </a:lstStyle>
          <a:p xmlns:a="http://schemas.openxmlformats.org/drawingml/2006/main">
            <a:pPr>
              <a:defRPr sz="1575" b="0">
                <a:solidFill>
                  <a:srgbClr val="535E6C"/>
                </a:solidFill>
                <a:latin typeface="Arial"/>
                <a:ea typeface="Arial"/>
                <a:cs typeface="Arial"/>
              </a:defRPr>
            </a:pPr>
            <a:r>
              <a:rPr sz="1575" b="0">
                <a:solidFill>
                  <a:srgbClr val="535E6C"/>
                </a:solidFill>
                <a:latin typeface="Arial"/>
                <a:ea typeface="Arial"/>
                <a:cs typeface="Arial"/>
              </a:rPr>
              <a:t>ndarray supplies linear algebra only. No autodiff or high-level ML framework.</a:t>
            </a:r>
          </a:p>
        </p:txBody>
      </p:sp>
    </p:spTree>
    <p:extLst>
      <p:ext uri="{BB962C8B-B14F-4D97-AF65-F5344CB8AC3E}">
        <p14:creationId xmlns:p14="http://schemas.microsoft.com/office/powerpoint/2010/main" val="628395692"/>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B30DD006-6457-4306-9468-99447D4B5C65}"/>
              </a:ext>
            </a:extLst>
          </p:cNvPr>
          <p:cNvSpPr>
            <a:spLocks xmlns:a="http://schemas.openxmlformats.org/drawingml/2006/main" noGrp="1"/>
          </p:cNvSpPr>
          <p:nvPr/>
        </p:nvSpPr>
        <p:spPr>
          <a:xfrm xmlns:a="http://schemas.openxmlformats.org/drawingml/2006/main">
            <a:off x="609600" y="40005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3300" b="1">
                <a:solidFill>
                  <a:srgbClr val="18202A"/>
                </a:solidFill>
                <a:latin typeface="Arial"/>
                <a:ea typeface="Arial"/>
                <a:cs typeface="Arial"/>
              </a:defRPr>
            </a:defPPr>
            <a:lvl1pPr>
              <a:defRPr sz="3300" b="1">
                <a:solidFill>
                  <a:srgbClr val="18202A"/>
                </a:solidFill>
                <a:latin typeface="Arial"/>
                <a:ea typeface="Arial"/>
                <a:cs typeface="Arial"/>
              </a:defRPr>
            </a:lvl1pPr>
            <a:lvl2pPr>
              <a:defRPr sz="3300" b="1">
                <a:solidFill>
                  <a:srgbClr val="18202A"/>
                </a:solidFill>
                <a:latin typeface="Arial"/>
                <a:ea typeface="Arial"/>
                <a:cs typeface="Arial"/>
              </a:defRPr>
            </a:lvl2pPr>
            <a:lvl3pPr>
              <a:defRPr sz="3300" b="1">
                <a:solidFill>
                  <a:srgbClr val="18202A"/>
                </a:solidFill>
                <a:latin typeface="Arial"/>
                <a:ea typeface="Arial"/>
                <a:cs typeface="Arial"/>
              </a:defRPr>
            </a:lvl3pPr>
            <a:lvl4pPr>
              <a:defRPr sz="3300" b="1">
                <a:solidFill>
                  <a:srgbClr val="18202A"/>
                </a:solidFill>
                <a:latin typeface="Arial"/>
                <a:ea typeface="Arial"/>
                <a:cs typeface="Arial"/>
              </a:defRPr>
            </a:lvl4pPr>
            <a:lvl5pPr>
              <a:defRPr sz="3300" b="1">
                <a:solidFill>
                  <a:srgbClr val="18202A"/>
                </a:solidFill>
                <a:latin typeface="Arial"/>
                <a:ea typeface="Arial"/>
                <a:cs typeface="Arial"/>
              </a:defRPr>
            </a:lvl5pPr>
            <a:lvl6pPr>
              <a:defRPr sz="3300" b="1">
                <a:solidFill>
                  <a:srgbClr val="18202A"/>
                </a:solidFill>
                <a:latin typeface="Arial"/>
                <a:ea typeface="Arial"/>
                <a:cs typeface="Arial"/>
              </a:defRPr>
            </a:lvl6pPr>
            <a:lvl7pPr>
              <a:defRPr sz="3300" b="1">
                <a:solidFill>
                  <a:srgbClr val="18202A"/>
                </a:solidFill>
                <a:latin typeface="Arial"/>
                <a:ea typeface="Arial"/>
                <a:cs typeface="Arial"/>
              </a:defRPr>
            </a:lvl7pPr>
            <a:lvl8pPr>
              <a:defRPr sz="3300" b="1">
                <a:solidFill>
                  <a:srgbClr val="18202A"/>
                </a:solidFill>
                <a:latin typeface="Arial"/>
                <a:ea typeface="Arial"/>
                <a:cs typeface="Arial"/>
              </a:defRPr>
            </a:lvl8pPr>
            <a:lvl9pPr>
              <a:defRPr sz="3300" b="1">
                <a:solidFill>
                  <a:srgbClr val="18202A"/>
                </a:solidFill>
                <a:latin typeface="Arial"/>
                <a:ea typeface="Arial"/>
                <a:cs typeface="Arial"/>
              </a:defRPr>
            </a:lvl9pPr>
          </a:lstStyle>
          <a:p xmlns:a="http://schemas.openxmlformats.org/drawingml/2006/main">
            <a:pPr>
              <a:defRPr sz="3300" b="1">
                <a:solidFill>
                  <a:srgbClr val="18202A"/>
                </a:solidFill>
                <a:latin typeface="Arial"/>
                <a:ea typeface="Arial"/>
                <a:cs typeface="Arial"/>
              </a:defRPr>
            </a:pPr>
            <a:r>
              <a:rPr sz="3300" b="1">
                <a:solidFill>
                  <a:srgbClr val="18202A"/>
                </a:solidFill>
                <a:latin typeface="Arial"/>
                <a:ea typeface="Arial"/>
                <a:cs typeface="Arial"/>
              </a:rPr>
              <a:t>Backpropagation</a:t>
            </a:r>
          </a:p>
        </p:txBody>
      </p:sp>
      <p:sp>
        <p:nvSpPr>
          <p:cNvPr id="2" name="">
            <a:extLst xmlns:a="http://schemas.openxmlformats.org/drawingml/2006/main">
              <a:ext uri="{FF2B5EF4-FFF2-40B4-BE49-F238E27FC236}">
                <a16:creationId xmlns:a16="http://schemas.microsoft.com/office/drawing/2014/main" id="{D4E8E632-EF2B-45E2-B076-1510A4389E20}"/>
              </a:ext>
            </a:extLst>
          </p:cNvPr>
          <p:cNvSpPr>
            <a:spLocks xmlns:a="http://schemas.openxmlformats.org/drawingml/2006/main" noGrp="1"/>
          </p:cNvSpPr>
          <p:nvPr/>
        </p:nvSpPr>
        <p:spPr>
          <a:xfrm xmlns:a="http://schemas.openxmlformats.org/drawingml/2006/main">
            <a:off x="666750" y="1524000"/>
            <a:ext cx="10858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400" b="0">
                <a:solidFill>
                  <a:srgbClr val="18202A"/>
                </a:solidFill>
                <a:latin typeface="Cambria Math"/>
                <a:ea typeface="Cambria Math"/>
                <a:cs typeface="Cambria Math"/>
              </a:defRPr>
            </a:defPPr>
            <a:lvl1pPr>
              <a:defRPr sz="2400" b="0">
                <a:solidFill>
                  <a:srgbClr val="18202A"/>
                </a:solidFill>
                <a:latin typeface="Cambria Math"/>
                <a:ea typeface="Cambria Math"/>
                <a:cs typeface="Cambria Math"/>
              </a:defRPr>
            </a:lvl1pPr>
            <a:lvl2pPr>
              <a:defRPr sz="2400" b="0">
                <a:solidFill>
                  <a:srgbClr val="18202A"/>
                </a:solidFill>
                <a:latin typeface="Cambria Math"/>
                <a:ea typeface="Cambria Math"/>
                <a:cs typeface="Cambria Math"/>
              </a:defRPr>
            </a:lvl2pPr>
            <a:lvl3pPr>
              <a:defRPr sz="2400" b="0">
                <a:solidFill>
                  <a:srgbClr val="18202A"/>
                </a:solidFill>
                <a:latin typeface="Cambria Math"/>
                <a:ea typeface="Cambria Math"/>
                <a:cs typeface="Cambria Math"/>
              </a:defRPr>
            </a:lvl3pPr>
            <a:lvl4pPr>
              <a:defRPr sz="2400" b="0">
                <a:solidFill>
                  <a:srgbClr val="18202A"/>
                </a:solidFill>
                <a:latin typeface="Cambria Math"/>
                <a:ea typeface="Cambria Math"/>
                <a:cs typeface="Cambria Math"/>
              </a:defRPr>
            </a:lvl4pPr>
            <a:lvl5pPr>
              <a:defRPr sz="2400" b="0">
                <a:solidFill>
                  <a:srgbClr val="18202A"/>
                </a:solidFill>
                <a:latin typeface="Cambria Math"/>
                <a:ea typeface="Cambria Math"/>
                <a:cs typeface="Cambria Math"/>
              </a:defRPr>
            </a:lvl5pPr>
            <a:lvl6pPr>
              <a:defRPr sz="2400" b="0">
                <a:solidFill>
                  <a:srgbClr val="18202A"/>
                </a:solidFill>
                <a:latin typeface="Cambria Math"/>
                <a:ea typeface="Cambria Math"/>
                <a:cs typeface="Cambria Math"/>
              </a:defRPr>
            </a:lvl6pPr>
            <a:lvl7pPr>
              <a:defRPr sz="2400" b="0">
                <a:solidFill>
                  <a:srgbClr val="18202A"/>
                </a:solidFill>
                <a:latin typeface="Cambria Math"/>
                <a:ea typeface="Cambria Math"/>
                <a:cs typeface="Cambria Math"/>
              </a:defRPr>
            </a:lvl7pPr>
            <a:lvl8pPr>
              <a:defRPr sz="2400" b="0">
                <a:solidFill>
                  <a:srgbClr val="18202A"/>
                </a:solidFill>
                <a:latin typeface="Cambria Math"/>
                <a:ea typeface="Cambria Math"/>
                <a:cs typeface="Cambria Math"/>
              </a:defRPr>
            </a:lvl8pPr>
            <a:lvl9pPr>
              <a:defRPr sz="2400" b="0">
                <a:solidFill>
                  <a:srgbClr val="18202A"/>
                </a:solidFill>
                <a:latin typeface="Cambria Math"/>
                <a:ea typeface="Cambria Math"/>
                <a:cs typeface="Cambria Math"/>
              </a:defRPr>
            </a:lvl9pPr>
          </a:lstStyle>
          <a:p xmlns:a="http://schemas.openxmlformats.org/drawingml/2006/main">
            <a:pPr>
              <a:defRPr sz="2400" b="0">
                <a:solidFill>
                  <a:srgbClr val="18202A"/>
                </a:solidFill>
                <a:latin typeface="Cambria Math"/>
                <a:ea typeface="Cambria Math"/>
                <a:cs typeface="Cambria Math"/>
              </a:defRPr>
            </a:pPr>
            <a:r>
              <a:rPr sz="2400" b="0">
                <a:solidFill>
                  <a:srgbClr val="18202A"/>
                </a:solidFill>
                <a:latin typeface="Cambria Math"/>
                <a:ea typeface="Cambria Math"/>
                <a:cs typeface="Cambria Math"/>
              </a:rPr>
              <a:t>J = mean((prediction - target)^2)</a:t>
            </a:r>
          </a:p>
        </p:txBody>
      </p:sp>
      <p:sp>
        <p:nvSpPr>
          <p:cNvPr id="3" name="">
            <a:extLst xmlns:a="http://schemas.openxmlformats.org/drawingml/2006/main">
              <a:ext uri="{FF2B5EF4-FFF2-40B4-BE49-F238E27FC236}">
                <a16:creationId xmlns:a16="http://schemas.microsoft.com/office/drawing/2014/main" id="{47EBC674-CFAD-4760-B72D-ED2F7C64FC2A}"/>
              </a:ext>
            </a:extLst>
          </p:cNvPr>
          <p:cNvSpPr>
            <a:spLocks xmlns:a="http://schemas.openxmlformats.org/drawingml/2006/main" noGrp="1"/>
          </p:cNvSpPr>
          <p:nvPr/>
        </p:nvSpPr>
        <p:spPr>
          <a:xfrm xmlns:a="http://schemas.openxmlformats.org/drawingml/2006/main">
            <a:off x="666750" y="2333625"/>
            <a:ext cx="10858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325" b="0">
                <a:solidFill>
                  <a:srgbClr val="18202A"/>
                </a:solidFill>
                <a:latin typeface="Cambria Math"/>
                <a:ea typeface="Cambria Math"/>
                <a:cs typeface="Cambria Math"/>
              </a:defRPr>
            </a:defPPr>
            <a:lvl1pPr>
              <a:defRPr sz="2325" b="0">
                <a:solidFill>
                  <a:srgbClr val="18202A"/>
                </a:solidFill>
                <a:latin typeface="Cambria Math"/>
                <a:ea typeface="Cambria Math"/>
                <a:cs typeface="Cambria Math"/>
              </a:defRPr>
            </a:lvl1pPr>
            <a:lvl2pPr>
              <a:defRPr sz="2325" b="0">
                <a:solidFill>
                  <a:srgbClr val="18202A"/>
                </a:solidFill>
                <a:latin typeface="Cambria Math"/>
                <a:ea typeface="Cambria Math"/>
                <a:cs typeface="Cambria Math"/>
              </a:defRPr>
            </a:lvl2pPr>
            <a:lvl3pPr>
              <a:defRPr sz="2325" b="0">
                <a:solidFill>
                  <a:srgbClr val="18202A"/>
                </a:solidFill>
                <a:latin typeface="Cambria Math"/>
                <a:ea typeface="Cambria Math"/>
                <a:cs typeface="Cambria Math"/>
              </a:defRPr>
            </a:lvl3pPr>
            <a:lvl4pPr>
              <a:defRPr sz="2325" b="0">
                <a:solidFill>
                  <a:srgbClr val="18202A"/>
                </a:solidFill>
                <a:latin typeface="Cambria Math"/>
                <a:ea typeface="Cambria Math"/>
                <a:cs typeface="Cambria Math"/>
              </a:defRPr>
            </a:lvl4pPr>
            <a:lvl5pPr>
              <a:defRPr sz="2325" b="0">
                <a:solidFill>
                  <a:srgbClr val="18202A"/>
                </a:solidFill>
                <a:latin typeface="Cambria Math"/>
                <a:ea typeface="Cambria Math"/>
                <a:cs typeface="Cambria Math"/>
              </a:defRPr>
            </a:lvl5pPr>
            <a:lvl6pPr>
              <a:defRPr sz="2325" b="0">
                <a:solidFill>
                  <a:srgbClr val="18202A"/>
                </a:solidFill>
                <a:latin typeface="Cambria Math"/>
                <a:ea typeface="Cambria Math"/>
                <a:cs typeface="Cambria Math"/>
              </a:defRPr>
            </a:lvl6pPr>
            <a:lvl7pPr>
              <a:defRPr sz="2325" b="0">
                <a:solidFill>
                  <a:srgbClr val="18202A"/>
                </a:solidFill>
                <a:latin typeface="Cambria Math"/>
                <a:ea typeface="Cambria Math"/>
                <a:cs typeface="Cambria Math"/>
              </a:defRPr>
            </a:lvl7pPr>
            <a:lvl8pPr>
              <a:defRPr sz="2325" b="0">
                <a:solidFill>
                  <a:srgbClr val="18202A"/>
                </a:solidFill>
                <a:latin typeface="Cambria Math"/>
                <a:ea typeface="Cambria Math"/>
                <a:cs typeface="Cambria Math"/>
              </a:defRPr>
            </a:lvl8pPr>
            <a:lvl9pPr>
              <a:defRPr sz="2325" b="0">
                <a:solidFill>
                  <a:srgbClr val="18202A"/>
                </a:solidFill>
                <a:latin typeface="Cambria Math"/>
                <a:ea typeface="Cambria Math"/>
                <a:cs typeface="Cambria Math"/>
              </a:defRPr>
            </a:lvl9pPr>
          </a:lstStyle>
          <a:p xmlns:a="http://schemas.openxmlformats.org/drawingml/2006/main">
            <a:pPr>
              <a:defRPr sz="2325" b="0">
                <a:solidFill>
                  <a:srgbClr val="18202A"/>
                </a:solidFill>
                <a:latin typeface="Cambria Math"/>
                <a:ea typeface="Cambria Math"/>
                <a:cs typeface="Cambria Math"/>
              </a:defRPr>
            </a:pPr>
            <a:r>
              <a:rPr sz="2325" b="0">
                <a:solidFill>
                  <a:srgbClr val="18202A"/>
                </a:solidFill>
                <a:latin typeface="Cambria Math"/>
                <a:ea typeface="Cambria Math"/>
                <a:cs typeface="Cambria Math"/>
              </a:rPr>
              <a:t>delta_output = 2 (prediction - target) / (B D)</a:t>
            </a:r>
          </a:p>
        </p:txBody>
      </p:sp>
      <p:sp>
        <p:nvSpPr>
          <p:cNvPr id="4" name="">
            <a:extLst xmlns:a="http://schemas.openxmlformats.org/drawingml/2006/main">
              <a:ext uri="{FF2B5EF4-FFF2-40B4-BE49-F238E27FC236}">
                <a16:creationId xmlns:a16="http://schemas.microsoft.com/office/drawing/2014/main" id="{CCC25E9D-B5D5-4913-8801-567E91AE9465}"/>
              </a:ext>
            </a:extLst>
          </p:cNvPr>
          <p:cNvSpPr>
            <a:spLocks xmlns:a="http://schemas.openxmlformats.org/drawingml/2006/main" noGrp="1"/>
          </p:cNvSpPr>
          <p:nvPr/>
        </p:nvSpPr>
        <p:spPr>
          <a:xfrm xmlns:a="http://schemas.openxmlformats.org/drawingml/2006/main">
            <a:off x="666750" y="3190875"/>
            <a:ext cx="10858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250" b="0">
                <a:solidFill>
                  <a:srgbClr val="18202A"/>
                </a:solidFill>
                <a:latin typeface="Cambria Math"/>
                <a:ea typeface="Cambria Math"/>
                <a:cs typeface="Cambria Math"/>
              </a:defRPr>
            </a:defPPr>
            <a:lvl1pPr>
              <a:defRPr sz="2250" b="0">
                <a:solidFill>
                  <a:srgbClr val="18202A"/>
                </a:solidFill>
                <a:latin typeface="Cambria Math"/>
                <a:ea typeface="Cambria Math"/>
                <a:cs typeface="Cambria Math"/>
              </a:defRPr>
            </a:lvl1pPr>
            <a:lvl2pPr>
              <a:defRPr sz="2250" b="0">
                <a:solidFill>
                  <a:srgbClr val="18202A"/>
                </a:solidFill>
                <a:latin typeface="Cambria Math"/>
                <a:ea typeface="Cambria Math"/>
                <a:cs typeface="Cambria Math"/>
              </a:defRPr>
            </a:lvl2pPr>
            <a:lvl3pPr>
              <a:defRPr sz="2250" b="0">
                <a:solidFill>
                  <a:srgbClr val="18202A"/>
                </a:solidFill>
                <a:latin typeface="Cambria Math"/>
                <a:ea typeface="Cambria Math"/>
                <a:cs typeface="Cambria Math"/>
              </a:defRPr>
            </a:lvl3pPr>
            <a:lvl4pPr>
              <a:defRPr sz="2250" b="0">
                <a:solidFill>
                  <a:srgbClr val="18202A"/>
                </a:solidFill>
                <a:latin typeface="Cambria Math"/>
                <a:ea typeface="Cambria Math"/>
                <a:cs typeface="Cambria Math"/>
              </a:defRPr>
            </a:lvl4pPr>
            <a:lvl5pPr>
              <a:defRPr sz="2250" b="0">
                <a:solidFill>
                  <a:srgbClr val="18202A"/>
                </a:solidFill>
                <a:latin typeface="Cambria Math"/>
                <a:ea typeface="Cambria Math"/>
                <a:cs typeface="Cambria Math"/>
              </a:defRPr>
            </a:lvl5pPr>
            <a:lvl6pPr>
              <a:defRPr sz="2250" b="0">
                <a:solidFill>
                  <a:srgbClr val="18202A"/>
                </a:solidFill>
                <a:latin typeface="Cambria Math"/>
                <a:ea typeface="Cambria Math"/>
                <a:cs typeface="Cambria Math"/>
              </a:defRPr>
            </a:lvl6pPr>
            <a:lvl7pPr>
              <a:defRPr sz="2250" b="0">
                <a:solidFill>
                  <a:srgbClr val="18202A"/>
                </a:solidFill>
                <a:latin typeface="Cambria Math"/>
                <a:ea typeface="Cambria Math"/>
                <a:cs typeface="Cambria Math"/>
              </a:defRPr>
            </a:lvl7pPr>
            <a:lvl8pPr>
              <a:defRPr sz="2250" b="0">
                <a:solidFill>
                  <a:srgbClr val="18202A"/>
                </a:solidFill>
                <a:latin typeface="Cambria Math"/>
                <a:ea typeface="Cambria Math"/>
                <a:cs typeface="Cambria Math"/>
              </a:defRPr>
            </a:lvl8pPr>
            <a:lvl9pPr>
              <a:defRPr sz="2250" b="0">
                <a:solidFill>
                  <a:srgbClr val="18202A"/>
                </a:solidFill>
                <a:latin typeface="Cambria Math"/>
                <a:ea typeface="Cambria Math"/>
                <a:cs typeface="Cambria Math"/>
              </a:defRPr>
            </a:lvl9pPr>
          </a:lstStyle>
          <a:p xmlns:a="http://schemas.openxmlformats.org/drawingml/2006/main">
            <a:pPr>
              <a:defRPr sz="2250" b="0">
                <a:solidFill>
                  <a:srgbClr val="18202A"/>
                </a:solidFill>
                <a:latin typeface="Cambria Math"/>
                <a:ea typeface="Cambria Math"/>
                <a:cs typeface="Cambria Math"/>
              </a:defRPr>
            </a:pPr>
            <a:r>
              <a:rPr sz="2250" b="0">
                <a:solidFill>
                  <a:srgbClr val="18202A"/>
                </a:solidFill>
                <a:latin typeface="Cambria Math"/>
                <a:ea typeface="Cambria Math"/>
                <a:cs typeface="Cambria Math"/>
              </a:rPr>
              <a:t>dW = A_previous^T delta     db = sum_rows(delta)</a:t>
            </a:r>
          </a:p>
        </p:txBody>
      </p:sp>
      <p:sp>
        <p:nvSpPr>
          <p:cNvPr id="5" name="">
            <a:extLst xmlns:a="http://schemas.openxmlformats.org/drawingml/2006/main">
              <a:ext uri="{FF2B5EF4-FFF2-40B4-BE49-F238E27FC236}">
                <a16:creationId xmlns:a16="http://schemas.microsoft.com/office/drawing/2014/main" id="{BF39CF95-D2CE-4389-BB53-FC92FAFCA2B0}"/>
              </a:ext>
            </a:extLst>
          </p:cNvPr>
          <p:cNvSpPr>
            <a:spLocks xmlns:a="http://schemas.openxmlformats.org/drawingml/2006/main" noGrp="1"/>
          </p:cNvSpPr>
          <p:nvPr/>
        </p:nvSpPr>
        <p:spPr>
          <a:xfrm xmlns:a="http://schemas.openxmlformats.org/drawingml/2006/main">
            <a:off x="666750" y="4048125"/>
            <a:ext cx="10858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175" b="1">
                <a:solidFill>
                  <a:srgbClr val="18202A"/>
                </a:solidFill>
                <a:latin typeface="Arial"/>
                <a:ea typeface="Arial"/>
                <a:cs typeface="Arial"/>
              </a:defRPr>
            </a:defPPr>
            <a:lvl1pPr>
              <a:defRPr sz="2175" b="1">
                <a:solidFill>
                  <a:srgbClr val="18202A"/>
                </a:solidFill>
                <a:latin typeface="Arial"/>
                <a:ea typeface="Arial"/>
                <a:cs typeface="Arial"/>
              </a:defRPr>
            </a:lvl1pPr>
            <a:lvl2pPr>
              <a:defRPr sz="2175" b="1">
                <a:solidFill>
                  <a:srgbClr val="18202A"/>
                </a:solidFill>
                <a:latin typeface="Arial"/>
                <a:ea typeface="Arial"/>
                <a:cs typeface="Arial"/>
              </a:defRPr>
            </a:lvl2pPr>
            <a:lvl3pPr>
              <a:defRPr sz="2175" b="1">
                <a:solidFill>
                  <a:srgbClr val="18202A"/>
                </a:solidFill>
                <a:latin typeface="Arial"/>
                <a:ea typeface="Arial"/>
                <a:cs typeface="Arial"/>
              </a:defRPr>
            </a:lvl3pPr>
            <a:lvl4pPr>
              <a:defRPr sz="2175" b="1">
                <a:solidFill>
                  <a:srgbClr val="18202A"/>
                </a:solidFill>
                <a:latin typeface="Arial"/>
                <a:ea typeface="Arial"/>
                <a:cs typeface="Arial"/>
              </a:defRPr>
            </a:lvl4pPr>
            <a:lvl5pPr>
              <a:defRPr sz="2175" b="1">
                <a:solidFill>
                  <a:srgbClr val="18202A"/>
                </a:solidFill>
                <a:latin typeface="Arial"/>
                <a:ea typeface="Arial"/>
                <a:cs typeface="Arial"/>
              </a:defRPr>
            </a:lvl5pPr>
            <a:lvl6pPr>
              <a:defRPr sz="2175" b="1">
                <a:solidFill>
                  <a:srgbClr val="18202A"/>
                </a:solidFill>
                <a:latin typeface="Arial"/>
                <a:ea typeface="Arial"/>
                <a:cs typeface="Arial"/>
              </a:defRPr>
            </a:lvl6pPr>
            <a:lvl7pPr>
              <a:defRPr sz="2175" b="1">
                <a:solidFill>
                  <a:srgbClr val="18202A"/>
                </a:solidFill>
                <a:latin typeface="Arial"/>
                <a:ea typeface="Arial"/>
                <a:cs typeface="Arial"/>
              </a:defRPr>
            </a:lvl7pPr>
            <a:lvl8pPr>
              <a:defRPr sz="2175" b="1">
                <a:solidFill>
                  <a:srgbClr val="18202A"/>
                </a:solidFill>
                <a:latin typeface="Arial"/>
                <a:ea typeface="Arial"/>
                <a:cs typeface="Arial"/>
              </a:defRPr>
            </a:lvl8pPr>
            <a:lvl9pPr>
              <a:defRPr sz="2175" b="1">
                <a:solidFill>
                  <a:srgbClr val="18202A"/>
                </a:solidFill>
                <a:latin typeface="Arial"/>
                <a:ea typeface="Arial"/>
                <a:cs typeface="Arial"/>
              </a:defRPr>
            </a:lvl9pPr>
          </a:lstStyle>
          <a:p xmlns:a="http://schemas.openxmlformats.org/drawingml/2006/main">
            <a:pPr>
              <a:defRPr sz="2175" b="1">
                <a:solidFill>
                  <a:srgbClr val="18202A"/>
                </a:solidFill>
                <a:latin typeface="Arial"/>
                <a:ea typeface="Arial"/>
                <a:cs typeface="Arial"/>
              </a:defRPr>
            </a:pPr>
            <a:r>
              <a:rPr sz="2175" b="1">
                <a:solidFill>
                  <a:srgbClr val="18202A"/>
                </a:solidFill>
                <a:latin typeface="Arial"/>
                <a:ea typeface="Arial"/>
                <a:cs typeface="Arial"/>
              </a:rPr>
              <a:t>Compute all gradients before updating any weights.</a:t>
            </a:r>
          </a:p>
        </p:txBody>
      </p:sp>
      <p:graphicFrame>
        <p:nvGraphicFramePr>
          <p:cNvPr id="6" name="">
            <a:extLst xmlns:a="http://schemas.openxmlformats.org/drawingml/2006/main">
              <a:ext uri="{FF2B5EF4-FFF2-40B4-BE49-F238E27FC236}">
                <a16:creationId xmlns:a16="http://schemas.microsoft.com/office/drawing/2014/main" id="{8DA76C71-D006-468E-8397-DB7D566BDEA2}"/>
              </a:ext>
            </a:extLst>
          </p:cNvPr>
          <p:cNvGraphicFramePr/>
          <p:nvPr/>
        </p:nvGraphicFramePr>
        <p:xfrm>
          <a:off xmlns:a="http://schemas.openxmlformats.org/drawingml/2006/main" x="647700" y="4905375"/>
          <a:ext xmlns:a="http://schemas.openxmlformats.org/drawingml/2006/main" cx="10858500" cy="1362075"/>
        </p:xfrm>
        <a:graphic xmlns:a="http://schemas.openxmlformats.org/drawingml/2006/main">
          <a:graphicData uri="http://schemas.openxmlformats.org/drawingml/2006/table">
            <a:tbl>
              <a:tblPr/>
              <a:tblGrid>
                <a:gridCol w="7810500"/>
                <a:gridCol w="3048000"/>
              </a:tblGrid>
              <a:tr h="454025">
                <a:tc>
                  <a:txBody>
                    <a:bodyPr/>
                    <a:lstStyle/>
                    <a:p>
                      <a:r>
                        <a:rPr sz="1725" b="1">
                          <a:solidFill>
                            <a:srgbClr val="18202A"/>
                          </a:solidFill>
                          <a:latin typeface="Arial"/>
                          <a:ea typeface="Arial"/>
                          <a:cs typeface="Arial"/>
                        </a:rPr>
                        <a:t>Independent check</a:t>
                      </a:r>
                    </a:p>
                  </a:txBody>
                  <a:tcPr marL="91440" marR="91440" marT="45720" marB="45720">
                    <a:lnL w="9525">
                      <a:solidFill>
                        <a:srgbClr val="D9D9D9"/>
                      </a:solidFill>
                      <a:prstDash val="solid"/>
                    </a:lnL>
                    <a:lnR w="9525">
                      <a:solidFill>
                        <a:srgbClr val="D9D9D9"/>
                      </a:solidFill>
                      <a:prstDash val="solid"/>
                    </a:lnR>
                    <a:lnT w="9525">
                      <a:solidFill>
                        <a:srgbClr val="D9D9D9"/>
                      </a:solidFill>
                      <a:prstDash val="solid"/>
                    </a:lnT>
                    <a:lnB w="9525">
                      <a:solidFill>
                        <a:srgbClr val="D9D9D9"/>
                      </a:solidFill>
                      <a:prstDash val="solid"/>
                    </a:lnB>
                    <a:solidFill>
                      <a:srgbClr val="E8EDF3"/>
                    </a:solidFill>
                  </a:tcPr>
                </a:tc>
                <a:tc>
                  <a:txBody>
                    <a:bodyPr/>
                    <a:lstStyle/>
                    <a:p>
                      <a:r>
                        <a:rPr sz="1725" b="1">
                          <a:solidFill>
                            <a:srgbClr val="18202A"/>
                          </a:solidFill>
                          <a:latin typeface="Arial"/>
                          <a:ea typeface="Arial"/>
                          <a:cs typeface="Arial"/>
                        </a:rPr>
                        <a:t>Acceptance</a:t>
                      </a:r>
                    </a:p>
                  </a:txBody>
                  <a:tcPr marL="91440" marR="91440" marT="45720" marB="45720">
                    <a:lnR w="9525">
                      <a:solidFill>
                        <a:srgbClr val="D9D9D9"/>
                      </a:solidFill>
                      <a:prstDash val="solid"/>
                    </a:lnR>
                    <a:lnT w="9525">
                      <a:solidFill>
                        <a:srgbClr val="D9D9D9"/>
                      </a:solidFill>
                      <a:prstDash val="solid"/>
                    </a:lnT>
                    <a:lnB w="9525">
                      <a:solidFill>
                        <a:srgbClr val="D9D9D9"/>
                      </a:solidFill>
                      <a:prstDash val="solid"/>
                    </a:lnB>
                    <a:solidFill>
                      <a:srgbClr val="E8EDF3"/>
                    </a:solidFill>
                  </a:tcPr>
                </a:tc>
              </a:tr>
              <a:tr h="454025">
                <a:tc>
                  <a:txBody>
                    <a:bodyPr/>
                    <a:lstStyle/>
                    <a:p>
                      <a:r>
                        <a:rPr sz="1725" b="0">
                          <a:solidFill>
                            <a:srgbClr val="18202A"/>
                          </a:solidFill>
                          <a:latin typeface="Arial"/>
                          <a:ea typeface="Arial"/>
                          <a:cs typeface="Arial"/>
                        </a:rPr>
                        <a:t>Central differences, all small-network parameters</a:t>
                      </a:r>
                    </a:p>
                  </a:txBody>
                  <a:tcPr marL="91440" marR="91440" marT="45720" marB="45720">
                    <a:lnL w="9525">
                      <a:solidFill>
                        <a:srgbClr val="D9D9D9"/>
                      </a:solidFill>
                      <a:prstDash val="solid"/>
                    </a:lnL>
                    <a:lnR w="9525">
                      <a:solidFill>
                        <a:srgbClr val="D9D9D9"/>
                      </a:solidFill>
                      <a:prstDash val="solid"/>
                    </a:lnR>
                    <a:lnB w="9525">
                      <a:solidFill>
                        <a:srgbClr val="D9D9D9"/>
                      </a:solidFill>
                      <a:prstDash val="solid"/>
                    </a:lnB>
                    <a:solidFill>
                      <a:srgbClr val="FFFFFF"/>
                    </a:solidFill>
                  </a:tcPr>
                </a:tc>
                <a:tc>
                  <a:txBody>
                    <a:bodyPr/>
                    <a:lstStyle/>
                    <a:p>
                      <a:r>
                        <a:rPr sz="1725" b="0">
                          <a:solidFill>
                            <a:srgbClr val="18202A"/>
                          </a:solidFill>
                          <a:latin typeface="Arial"/>
                          <a:ea typeface="Arial"/>
                          <a:cs typeface="Arial"/>
                        </a:rPr>
                        <a:t>Absolute error &lt; 1e-7</a:t>
                      </a:r>
                    </a:p>
                  </a:txBody>
                  <a:tcPr marL="91440" marR="91440" marT="45720" marB="45720">
                    <a:lnR w="9525">
                      <a:solidFill>
                        <a:srgbClr val="D9D9D9"/>
                      </a:solidFill>
                      <a:prstDash val="solid"/>
                    </a:lnR>
                    <a:lnB w="9525">
                      <a:solidFill>
                        <a:srgbClr val="D9D9D9"/>
                      </a:solidFill>
                      <a:prstDash val="solid"/>
                    </a:lnB>
                    <a:solidFill>
                      <a:srgbClr val="FFFFFF"/>
                    </a:solidFill>
                  </a:tcPr>
                </a:tc>
              </a:tr>
              <a:tr h="454025">
                <a:tc>
                  <a:txBody>
                    <a:bodyPr/>
                    <a:lstStyle/>
                    <a:p>
                      <a:r>
                        <a:rPr sz="1725" b="0">
                          <a:solidFill>
                            <a:srgbClr val="18202A"/>
                          </a:solidFill>
                          <a:latin typeface="Arial"/>
                          <a:ea typeface="Arial"/>
                          <a:cs typeface="Arial"/>
                        </a:rPr>
                        <a:t>Rust and NumPy forward, gradients and update</a:t>
                      </a:r>
                    </a:p>
                  </a:txBody>
                  <a:tcPr marL="91440" marR="91440" marT="45720" marB="45720">
                    <a:lnL w="9525">
                      <a:solidFill>
                        <a:srgbClr val="D9D9D9"/>
                      </a:solidFill>
                      <a:prstDash val="solid"/>
                    </a:lnL>
                    <a:lnR w="9525">
                      <a:solidFill>
                        <a:srgbClr val="D9D9D9"/>
                      </a:solidFill>
                      <a:prstDash val="solid"/>
                    </a:lnR>
                    <a:lnB w="9525">
                      <a:solidFill>
                        <a:srgbClr val="D9D9D9"/>
                      </a:solidFill>
                      <a:prstDash val="solid"/>
                    </a:lnB>
                    <a:solidFill>
                      <a:srgbClr val="F5F7F9"/>
                    </a:solidFill>
                  </a:tcPr>
                </a:tc>
                <a:tc>
                  <a:txBody>
                    <a:bodyPr/>
                    <a:lstStyle/>
                    <a:p>
                      <a:r>
                        <a:rPr sz="1725" b="0">
                          <a:solidFill>
                            <a:srgbClr val="18202A"/>
                          </a:solidFill>
                          <a:latin typeface="Arial"/>
                          <a:ea typeface="Arial"/>
                          <a:cs typeface="Arial"/>
                        </a:rPr>
                        <a:t>Absolute difference &lt; 1e-10</a:t>
                      </a:r>
                    </a:p>
                  </a:txBody>
                  <a:tcPr marL="91440" marR="91440" marT="45720" marB="45720">
                    <a:lnR w="9525">
                      <a:solidFill>
                        <a:srgbClr val="D9D9D9"/>
                      </a:solidFill>
                      <a:prstDash val="solid"/>
                    </a:lnR>
                    <a:lnB w="9525">
                      <a:solidFill>
                        <a:srgbClr val="D9D9D9"/>
                      </a:solidFill>
                      <a:prstDash val="solid"/>
                    </a:lnB>
                    <a:solidFill>
                      <a:srgbClr val="F5F7F9"/>
                    </a:solidFill>
                  </a:tcPr>
                </a:tc>
              </a:tr>
            </a:tbl>
          </a:graphicData>
        </a:graphic>
      </p:graphicFrame>
    </p:spTree>
    <p:extLst>
      <p:ext uri="{BB962C8B-B14F-4D97-AF65-F5344CB8AC3E}">
        <p14:creationId xmlns:p14="http://schemas.microsoft.com/office/powerpoint/2010/main" val="1408005166"/>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928B0C9B-7FE4-4F9D-B345-ED2BE0A94C29}"/>
              </a:ext>
            </a:extLst>
          </p:cNvPr>
          <p:cNvSpPr>
            <a:spLocks xmlns:a="http://schemas.openxmlformats.org/drawingml/2006/main" noGrp="1"/>
          </p:cNvSpPr>
          <p:nvPr/>
        </p:nvSpPr>
        <p:spPr>
          <a:xfrm xmlns:a="http://schemas.openxmlformats.org/drawingml/2006/main">
            <a:off x="609600" y="40005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3300" b="1">
                <a:solidFill>
                  <a:srgbClr val="18202A"/>
                </a:solidFill>
                <a:latin typeface="Arial"/>
                <a:ea typeface="Arial"/>
                <a:cs typeface="Arial"/>
              </a:defRPr>
            </a:defPPr>
            <a:lvl1pPr>
              <a:defRPr sz="3300" b="1">
                <a:solidFill>
                  <a:srgbClr val="18202A"/>
                </a:solidFill>
                <a:latin typeface="Arial"/>
                <a:ea typeface="Arial"/>
                <a:cs typeface="Arial"/>
              </a:defRPr>
            </a:lvl1pPr>
            <a:lvl2pPr>
              <a:defRPr sz="3300" b="1">
                <a:solidFill>
                  <a:srgbClr val="18202A"/>
                </a:solidFill>
                <a:latin typeface="Arial"/>
                <a:ea typeface="Arial"/>
                <a:cs typeface="Arial"/>
              </a:defRPr>
            </a:lvl2pPr>
            <a:lvl3pPr>
              <a:defRPr sz="3300" b="1">
                <a:solidFill>
                  <a:srgbClr val="18202A"/>
                </a:solidFill>
                <a:latin typeface="Arial"/>
                <a:ea typeface="Arial"/>
                <a:cs typeface="Arial"/>
              </a:defRPr>
            </a:lvl3pPr>
            <a:lvl4pPr>
              <a:defRPr sz="3300" b="1">
                <a:solidFill>
                  <a:srgbClr val="18202A"/>
                </a:solidFill>
                <a:latin typeface="Arial"/>
                <a:ea typeface="Arial"/>
                <a:cs typeface="Arial"/>
              </a:defRPr>
            </a:lvl4pPr>
            <a:lvl5pPr>
              <a:defRPr sz="3300" b="1">
                <a:solidFill>
                  <a:srgbClr val="18202A"/>
                </a:solidFill>
                <a:latin typeface="Arial"/>
                <a:ea typeface="Arial"/>
                <a:cs typeface="Arial"/>
              </a:defRPr>
            </a:lvl5pPr>
            <a:lvl6pPr>
              <a:defRPr sz="3300" b="1">
                <a:solidFill>
                  <a:srgbClr val="18202A"/>
                </a:solidFill>
                <a:latin typeface="Arial"/>
                <a:ea typeface="Arial"/>
                <a:cs typeface="Arial"/>
              </a:defRPr>
            </a:lvl6pPr>
            <a:lvl7pPr>
              <a:defRPr sz="3300" b="1">
                <a:solidFill>
                  <a:srgbClr val="18202A"/>
                </a:solidFill>
                <a:latin typeface="Arial"/>
                <a:ea typeface="Arial"/>
                <a:cs typeface="Arial"/>
              </a:defRPr>
            </a:lvl7pPr>
            <a:lvl8pPr>
              <a:defRPr sz="3300" b="1">
                <a:solidFill>
                  <a:srgbClr val="18202A"/>
                </a:solidFill>
                <a:latin typeface="Arial"/>
                <a:ea typeface="Arial"/>
                <a:cs typeface="Arial"/>
              </a:defRPr>
            </a:lvl8pPr>
            <a:lvl9pPr>
              <a:defRPr sz="3300" b="1">
                <a:solidFill>
                  <a:srgbClr val="18202A"/>
                </a:solidFill>
                <a:latin typeface="Arial"/>
                <a:ea typeface="Arial"/>
                <a:cs typeface="Arial"/>
              </a:defRPr>
            </a:lvl9pPr>
          </a:lstStyle>
          <a:p xmlns:a="http://schemas.openxmlformats.org/drawingml/2006/main">
            <a:pPr>
              <a:defRPr sz="3300" b="1">
                <a:solidFill>
                  <a:srgbClr val="18202A"/>
                </a:solidFill>
                <a:latin typeface="Arial"/>
                <a:ea typeface="Arial"/>
                <a:cs typeface="Arial"/>
              </a:defRPr>
            </a:pPr>
            <a:r>
              <a:rPr sz="3300" b="1">
                <a:solidFill>
                  <a:srgbClr val="18202A"/>
                </a:solidFill>
                <a:latin typeface="Arial"/>
                <a:ea typeface="Arial"/>
                <a:cs typeface="Arial"/>
              </a:rPr>
              <a:t>Training and Validation</a:t>
            </a:r>
          </a:p>
        </p:txBody>
      </p:sp>
      <p:sp>
        <p:nvSpPr>
          <p:cNvPr id="2" name="">
            <a:extLst xmlns:a="http://schemas.openxmlformats.org/drawingml/2006/main">
              <a:ext uri="{FF2B5EF4-FFF2-40B4-BE49-F238E27FC236}">
                <a16:creationId xmlns:a16="http://schemas.microsoft.com/office/drawing/2014/main" id="{BFD1405F-5450-4BC3-A1BF-D9A2D5308FFF}"/>
              </a:ext>
            </a:extLst>
          </p:cNvPr>
          <p:cNvSpPr>
            <a:spLocks xmlns:a="http://schemas.openxmlformats.org/drawingml/2006/main" noGrp="1"/>
          </p:cNvSpPr>
          <p:nvPr/>
        </p:nvSpPr>
        <p:spPr>
          <a:xfrm xmlns:a="http://schemas.openxmlformats.org/drawingml/2006/main">
            <a:off x="666750" y="1285875"/>
            <a:ext cx="10763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025" b="0">
                <a:solidFill>
                  <a:srgbClr val="18202A"/>
                </a:solidFill>
                <a:latin typeface="Arial"/>
                <a:ea typeface="Arial"/>
                <a:cs typeface="Arial"/>
              </a:defRPr>
            </a:defPPr>
            <a:lvl1pPr>
              <a:defRPr sz="2025" b="0">
                <a:solidFill>
                  <a:srgbClr val="18202A"/>
                </a:solidFill>
                <a:latin typeface="Arial"/>
                <a:ea typeface="Arial"/>
                <a:cs typeface="Arial"/>
              </a:defRPr>
            </a:lvl1pPr>
            <a:lvl2pPr>
              <a:defRPr sz="2025" b="0">
                <a:solidFill>
                  <a:srgbClr val="18202A"/>
                </a:solidFill>
                <a:latin typeface="Arial"/>
                <a:ea typeface="Arial"/>
                <a:cs typeface="Arial"/>
              </a:defRPr>
            </a:lvl2pPr>
            <a:lvl3pPr>
              <a:defRPr sz="2025" b="0">
                <a:solidFill>
                  <a:srgbClr val="18202A"/>
                </a:solidFill>
                <a:latin typeface="Arial"/>
                <a:ea typeface="Arial"/>
                <a:cs typeface="Arial"/>
              </a:defRPr>
            </a:lvl3pPr>
            <a:lvl4pPr>
              <a:defRPr sz="2025" b="0">
                <a:solidFill>
                  <a:srgbClr val="18202A"/>
                </a:solidFill>
                <a:latin typeface="Arial"/>
                <a:ea typeface="Arial"/>
                <a:cs typeface="Arial"/>
              </a:defRPr>
            </a:lvl4pPr>
            <a:lvl5pPr>
              <a:defRPr sz="2025" b="0">
                <a:solidFill>
                  <a:srgbClr val="18202A"/>
                </a:solidFill>
                <a:latin typeface="Arial"/>
                <a:ea typeface="Arial"/>
                <a:cs typeface="Arial"/>
              </a:defRPr>
            </a:lvl5pPr>
            <a:lvl6pPr>
              <a:defRPr sz="2025" b="0">
                <a:solidFill>
                  <a:srgbClr val="18202A"/>
                </a:solidFill>
                <a:latin typeface="Arial"/>
                <a:ea typeface="Arial"/>
                <a:cs typeface="Arial"/>
              </a:defRPr>
            </a:lvl6pPr>
            <a:lvl7pPr>
              <a:defRPr sz="2025" b="0">
                <a:solidFill>
                  <a:srgbClr val="18202A"/>
                </a:solidFill>
                <a:latin typeface="Arial"/>
                <a:ea typeface="Arial"/>
                <a:cs typeface="Arial"/>
              </a:defRPr>
            </a:lvl7pPr>
            <a:lvl8pPr>
              <a:defRPr sz="2025" b="0">
                <a:solidFill>
                  <a:srgbClr val="18202A"/>
                </a:solidFill>
                <a:latin typeface="Arial"/>
                <a:ea typeface="Arial"/>
                <a:cs typeface="Arial"/>
              </a:defRPr>
            </a:lvl8pPr>
            <a:lvl9pPr>
              <a:defRPr sz="2025" b="0">
                <a:solidFill>
                  <a:srgbClr val="18202A"/>
                </a:solidFill>
                <a:latin typeface="Arial"/>
                <a:ea typeface="Arial"/>
                <a:cs typeface="Arial"/>
              </a:defRPr>
            </a:lvl9pPr>
          </a:lstStyle>
          <a:p xmlns:a="http://schemas.openxmlformats.org/drawingml/2006/main">
            <a:pPr>
              <a:defRPr sz="2025" b="0">
                <a:solidFill>
                  <a:srgbClr val="18202A"/>
                </a:solidFill>
                <a:latin typeface="Arial"/>
                <a:ea typeface="Arial"/>
                <a:cs typeface="Arial"/>
              </a:defRPr>
            </a:pPr>
            <a:r>
              <a:rPr sz="2025" b="0">
                <a:solidFill>
                  <a:srgbClr val="18202A"/>
                </a:solidFill>
                <a:latin typeface="Arial"/>
                <a:ea typeface="Arial"/>
                <a:cs typeface="Arial"/>
              </a:rPr>
              <a:t>200 epochs    Batch 128    Learning rate 0.01</a:t>
            </a:r>
          </a:p>
        </p:txBody>
      </p:sp>
      <p:graphicFrame>
        <p:nvGraphicFramePr>
          <p:cNvPr id="3" name="Chart">
            <a:extLst xmlns:a="http://schemas.openxmlformats.org/drawingml/2006/main">
              <a:ext uri="{FF2B5EF4-FFF2-40B4-BE49-F238E27FC236}">
                <a16:creationId xmlns:a16="http://schemas.microsoft.com/office/drawing/2014/main" id="{DB5BB0BC-ABCC-4C2F-AA38-375929E75500}"/>
              </a:ext>
            </a:extLst>
          </p:cNvPr>
          <p:cNvGraphicFramePr/>
          <p:nvPr/>
        </p:nvGraphicFramePr>
        <p:xfrm>
          <a:off xmlns:a="http://schemas.openxmlformats.org/drawingml/2006/main" x="619125" y="1809750"/>
          <a:ext xmlns:a="http://schemas.openxmlformats.org/drawingml/2006/main" cx="10953750" cy="3714750"/>
        </p:xfrm>
        <a:graphic xmlns:a="http://schemas.openxmlformats.org/drawingml/2006/main">
          <a:graphicData uri="http://schemas.openxmlformats.org/drawingml/2006/chart">
            <c:chart xmlns:r="http://schemas.openxmlformats.org/officeDocument/2006/relationships" xmlns:c="http://schemas.openxmlformats.org/drawingml/2006/chart" r:id="Rb246c9c1b5364b33"/>
          </a:graphicData>
        </a:graphic>
      </p:graphicFrame>
      <p:sp>
        <p:nvSpPr>
          <p:cNvPr id="4" name="">
            <a:extLst xmlns:a="http://schemas.openxmlformats.org/drawingml/2006/main">
              <a:ext uri="{FF2B5EF4-FFF2-40B4-BE49-F238E27FC236}">
                <a16:creationId xmlns:a16="http://schemas.microsoft.com/office/drawing/2014/main" id="{B0594E60-2B2E-4E8F-8922-CDCCCEA1A10F}"/>
              </a:ext>
            </a:extLst>
          </p:cNvPr>
          <p:cNvSpPr>
            <a:spLocks xmlns:a="http://schemas.openxmlformats.org/drawingml/2006/main" noGrp="1"/>
          </p:cNvSpPr>
          <p:nvPr/>
        </p:nvSpPr>
        <p:spPr>
          <a:xfrm xmlns:a="http://schemas.openxmlformats.org/drawingml/2006/main">
            <a:off x="666750" y="5857875"/>
            <a:ext cx="10763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025" b="1">
                <a:solidFill>
                  <a:srgbClr val="18202A"/>
                </a:solidFill>
                <a:latin typeface="Arial"/>
                <a:ea typeface="Arial"/>
                <a:cs typeface="Arial"/>
              </a:defRPr>
            </a:defPPr>
            <a:lvl1pPr>
              <a:defRPr sz="2025" b="1">
                <a:solidFill>
                  <a:srgbClr val="18202A"/>
                </a:solidFill>
                <a:latin typeface="Arial"/>
                <a:ea typeface="Arial"/>
                <a:cs typeface="Arial"/>
              </a:defRPr>
            </a:lvl1pPr>
            <a:lvl2pPr>
              <a:defRPr sz="2025" b="1">
                <a:solidFill>
                  <a:srgbClr val="18202A"/>
                </a:solidFill>
                <a:latin typeface="Arial"/>
                <a:ea typeface="Arial"/>
                <a:cs typeface="Arial"/>
              </a:defRPr>
            </a:lvl2pPr>
            <a:lvl3pPr>
              <a:defRPr sz="2025" b="1">
                <a:solidFill>
                  <a:srgbClr val="18202A"/>
                </a:solidFill>
                <a:latin typeface="Arial"/>
                <a:ea typeface="Arial"/>
                <a:cs typeface="Arial"/>
              </a:defRPr>
            </a:lvl3pPr>
            <a:lvl4pPr>
              <a:defRPr sz="2025" b="1">
                <a:solidFill>
                  <a:srgbClr val="18202A"/>
                </a:solidFill>
                <a:latin typeface="Arial"/>
                <a:ea typeface="Arial"/>
                <a:cs typeface="Arial"/>
              </a:defRPr>
            </a:lvl4pPr>
            <a:lvl5pPr>
              <a:defRPr sz="2025" b="1">
                <a:solidFill>
                  <a:srgbClr val="18202A"/>
                </a:solidFill>
                <a:latin typeface="Arial"/>
                <a:ea typeface="Arial"/>
                <a:cs typeface="Arial"/>
              </a:defRPr>
            </a:lvl5pPr>
            <a:lvl6pPr>
              <a:defRPr sz="2025" b="1">
                <a:solidFill>
                  <a:srgbClr val="18202A"/>
                </a:solidFill>
                <a:latin typeface="Arial"/>
                <a:ea typeface="Arial"/>
                <a:cs typeface="Arial"/>
              </a:defRPr>
            </a:lvl6pPr>
            <a:lvl7pPr>
              <a:defRPr sz="2025" b="1">
                <a:solidFill>
                  <a:srgbClr val="18202A"/>
                </a:solidFill>
                <a:latin typeface="Arial"/>
                <a:ea typeface="Arial"/>
                <a:cs typeface="Arial"/>
              </a:defRPr>
            </a:lvl7pPr>
            <a:lvl8pPr>
              <a:defRPr sz="2025" b="1">
                <a:solidFill>
                  <a:srgbClr val="18202A"/>
                </a:solidFill>
                <a:latin typeface="Arial"/>
                <a:ea typeface="Arial"/>
                <a:cs typeface="Arial"/>
              </a:defRPr>
            </a:lvl8pPr>
            <a:lvl9pPr>
              <a:defRPr sz="2025" b="1">
                <a:solidFill>
                  <a:srgbClr val="18202A"/>
                </a:solidFill>
                <a:latin typeface="Arial"/>
                <a:ea typeface="Arial"/>
                <a:cs typeface="Arial"/>
              </a:defRPr>
            </a:lvl9pPr>
          </a:lstStyle>
          <a:p xmlns:a="http://schemas.openxmlformats.org/drawingml/2006/main">
            <a:pPr>
              <a:defRPr sz="2025" b="1">
                <a:solidFill>
                  <a:srgbClr val="18202A"/>
                </a:solidFill>
                <a:latin typeface="Arial"/>
                <a:ea typeface="Arial"/>
                <a:cs typeface="Arial"/>
              </a:defRPr>
            </a:pPr>
            <a:r>
              <a:rPr sz="2025" b="1">
                <a:solidFill>
                  <a:srgbClr val="18202A"/>
                </a:solidFill>
                <a:latin typeface="Arial"/>
                <a:ea typeface="Arial"/>
                <a:cs typeface="Arial"/>
              </a:rPr>
              <a:t>Checkpoint choice uses validation loss only. Test data remain held out.</a:t>
            </a:r>
          </a:p>
        </p:txBody>
      </p:sp>
    </p:spTree>
    <p:extLst>
      <p:ext uri="{BB962C8B-B14F-4D97-AF65-F5344CB8AC3E}">
        <p14:creationId xmlns:p14="http://schemas.microsoft.com/office/powerpoint/2010/main" val="1180434784"/>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BB5B6D55-39F4-43D3-84E3-9350C9BD6126}"/>
              </a:ext>
            </a:extLst>
          </p:cNvPr>
          <p:cNvSpPr>
            <a:spLocks xmlns:a="http://schemas.openxmlformats.org/drawingml/2006/main" noGrp="1"/>
          </p:cNvSpPr>
          <p:nvPr/>
        </p:nvSpPr>
        <p:spPr>
          <a:xfrm xmlns:a="http://schemas.openxmlformats.org/drawingml/2006/main">
            <a:off x="609600" y="40005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3300" b="1">
                <a:solidFill>
                  <a:srgbClr val="18202A"/>
                </a:solidFill>
                <a:latin typeface="Arial"/>
                <a:ea typeface="Arial"/>
                <a:cs typeface="Arial"/>
              </a:defRPr>
            </a:defPPr>
            <a:lvl1pPr>
              <a:defRPr sz="3300" b="1">
                <a:solidFill>
                  <a:srgbClr val="18202A"/>
                </a:solidFill>
                <a:latin typeface="Arial"/>
                <a:ea typeface="Arial"/>
                <a:cs typeface="Arial"/>
              </a:defRPr>
            </a:lvl1pPr>
            <a:lvl2pPr>
              <a:defRPr sz="3300" b="1">
                <a:solidFill>
                  <a:srgbClr val="18202A"/>
                </a:solidFill>
                <a:latin typeface="Arial"/>
                <a:ea typeface="Arial"/>
                <a:cs typeface="Arial"/>
              </a:defRPr>
            </a:lvl2pPr>
            <a:lvl3pPr>
              <a:defRPr sz="3300" b="1">
                <a:solidFill>
                  <a:srgbClr val="18202A"/>
                </a:solidFill>
                <a:latin typeface="Arial"/>
                <a:ea typeface="Arial"/>
                <a:cs typeface="Arial"/>
              </a:defRPr>
            </a:lvl3pPr>
            <a:lvl4pPr>
              <a:defRPr sz="3300" b="1">
                <a:solidFill>
                  <a:srgbClr val="18202A"/>
                </a:solidFill>
                <a:latin typeface="Arial"/>
                <a:ea typeface="Arial"/>
                <a:cs typeface="Arial"/>
              </a:defRPr>
            </a:lvl4pPr>
            <a:lvl5pPr>
              <a:defRPr sz="3300" b="1">
                <a:solidFill>
                  <a:srgbClr val="18202A"/>
                </a:solidFill>
                <a:latin typeface="Arial"/>
                <a:ea typeface="Arial"/>
                <a:cs typeface="Arial"/>
              </a:defRPr>
            </a:lvl5pPr>
            <a:lvl6pPr>
              <a:defRPr sz="3300" b="1">
                <a:solidFill>
                  <a:srgbClr val="18202A"/>
                </a:solidFill>
                <a:latin typeface="Arial"/>
                <a:ea typeface="Arial"/>
                <a:cs typeface="Arial"/>
              </a:defRPr>
            </a:lvl6pPr>
            <a:lvl7pPr>
              <a:defRPr sz="3300" b="1">
                <a:solidFill>
                  <a:srgbClr val="18202A"/>
                </a:solidFill>
                <a:latin typeface="Arial"/>
                <a:ea typeface="Arial"/>
                <a:cs typeface="Arial"/>
              </a:defRPr>
            </a:lvl7pPr>
            <a:lvl8pPr>
              <a:defRPr sz="3300" b="1">
                <a:solidFill>
                  <a:srgbClr val="18202A"/>
                </a:solidFill>
                <a:latin typeface="Arial"/>
                <a:ea typeface="Arial"/>
                <a:cs typeface="Arial"/>
              </a:defRPr>
            </a:lvl8pPr>
            <a:lvl9pPr>
              <a:defRPr sz="3300" b="1">
                <a:solidFill>
                  <a:srgbClr val="18202A"/>
                </a:solidFill>
                <a:latin typeface="Arial"/>
                <a:ea typeface="Arial"/>
                <a:cs typeface="Arial"/>
              </a:defRPr>
            </a:lvl9pPr>
          </a:lstStyle>
          <a:p xmlns:a="http://schemas.openxmlformats.org/drawingml/2006/main">
            <a:pPr>
              <a:defRPr sz="3300" b="1">
                <a:solidFill>
                  <a:srgbClr val="18202A"/>
                </a:solidFill>
                <a:latin typeface="Arial"/>
                <a:ea typeface="Arial"/>
                <a:cs typeface="Arial"/>
              </a:defRPr>
            </a:pPr>
            <a:r>
              <a:rPr sz="3300" b="1">
                <a:solidFill>
                  <a:srgbClr val="18202A"/>
                </a:solidFill>
                <a:latin typeface="Arial"/>
                <a:ea typeface="Arial"/>
                <a:cs typeface="Arial"/>
              </a:rPr>
              <a:t>One Step Results</a:t>
            </a:r>
          </a:p>
        </p:txBody>
      </p:sp>
      <p:sp>
        <p:nvSpPr>
          <p:cNvPr id="2" name="">
            <a:extLst xmlns:a="http://schemas.openxmlformats.org/drawingml/2006/main">
              <a:ext uri="{FF2B5EF4-FFF2-40B4-BE49-F238E27FC236}">
                <a16:creationId xmlns:a16="http://schemas.microsoft.com/office/drawing/2014/main" id="{8E80C3BD-9DF6-42D1-8F82-6CE3FE07CFA5}"/>
              </a:ext>
            </a:extLst>
          </p:cNvPr>
          <p:cNvSpPr>
            <a:spLocks xmlns:a="http://schemas.openxmlformats.org/drawingml/2006/main" noGrp="1"/>
          </p:cNvSpPr>
          <p:nvPr/>
        </p:nvSpPr>
        <p:spPr>
          <a:xfrm xmlns:a="http://schemas.openxmlformats.org/drawingml/2006/main">
            <a:off x="666750" y="1285875"/>
            <a:ext cx="10858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950" b="0">
                <a:solidFill>
                  <a:srgbClr val="18202A"/>
                </a:solidFill>
                <a:latin typeface="Arial"/>
                <a:ea typeface="Arial"/>
                <a:cs typeface="Arial"/>
              </a:defRPr>
            </a:defPPr>
            <a:lvl1pPr>
              <a:defRPr sz="1950" b="0">
                <a:solidFill>
                  <a:srgbClr val="18202A"/>
                </a:solidFill>
                <a:latin typeface="Arial"/>
                <a:ea typeface="Arial"/>
                <a:cs typeface="Arial"/>
              </a:defRPr>
            </a:lvl1pPr>
            <a:lvl2pPr>
              <a:defRPr sz="1950" b="0">
                <a:solidFill>
                  <a:srgbClr val="18202A"/>
                </a:solidFill>
                <a:latin typeface="Arial"/>
                <a:ea typeface="Arial"/>
                <a:cs typeface="Arial"/>
              </a:defRPr>
            </a:lvl2pPr>
            <a:lvl3pPr>
              <a:defRPr sz="1950" b="0">
                <a:solidFill>
                  <a:srgbClr val="18202A"/>
                </a:solidFill>
                <a:latin typeface="Arial"/>
                <a:ea typeface="Arial"/>
                <a:cs typeface="Arial"/>
              </a:defRPr>
            </a:lvl3pPr>
            <a:lvl4pPr>
              <a:defRPr sz="1950" b="0">
                <a:solidFill>
                  <a:srgbClr val="18202A"/>
                </a:solidFill>
                <a:latin typeface="Arial"/>
                <a:ea typeface="Arial"/>
                <a:cs typeface="Arial"/>
              </a:defRPr>
            </a:lvl4pPr>
            <a:lvl5pPr>
              <a:defRPr sz="1950" b="0">
                <a:solidFill>
                  <a:srgbClr val="18202A"/>
                </a:solidFill>
                <a:latin typeface="Arial"/>
                <a:ea typeface="Arial"/>
                <a:cs typeface="Arial"/>
              </a:defRPr>
            </a:lvl5pPr>
            <a:lvl6pPr>
              <a:defRPr sz="1950" b="0">
                <a:solidFill>
                  <a:srgbClr val="18202A"/>
                </a:solidFill>
                <a:latin typeface="Arial"/>
                <a:ea typeface="Arial"/>
                <a:cs typeface="Arial"/>
              </a:defRPr>
            </a:lvl6pPr>
            <a:lvl7pPr>
              <a:defRPr sz="1950" b="0">
                <a:solidFill>
                  <a:srgbClr val="18202A"/>
                </a:solidFill>
                <a:latin typeface="Arial"/>
                <a:ea typeface="Arial"/>
                <a:cs typeface="Arial"/>
              </a:defRPr>
            </a:lvl7pPr>
            <a:lvl8pPr>
              <a:defRPr sz="1950" b="0">
                <a:solidFill>
                  <a:srgbClr val="18202A"/>
                </a:solidFill>
                <a:latin typeface="Arial"/>
                <a:ea typeface="Arial"/>
                <a:cs typeface="Arial"/>
              </a:defRPr>
            </a:lvl8pPr>
            <a:lvl9pPr>
              <a:defRPr sz="1950" b="0">
                <a:solidFill>
                  <a:srgbClr val="18202A"/>
                </a:solidFill>
                <a:latin typeface="Arial"/>
                <a:ea typeface="Arial"/>
                <a:cs typeface="Arial"/>
              </a:defRPr>
            </a:lvl9pPr>
          </a:lstStyle>
          <a:p xmlns:a="http://schemas.openxmlformats.org/drawingml/2006/main">
            <a:pPr>
              <a:defRPr sz="1950" b="0">
                <a:solidFill>
                  <a:srgbClr val="18202A"/>
                </a:solidFill>
                <a:latin typeface="Arial"/>
                <a:ea typeface="Arial"/>
                <a:cs typeface="Arial"/>
              </a:defRPr>
            </a:pPr>
            <a:r>
              <a:rPr sz="1950" b="0">
                <a:solidFill>
                  <a:srgbClr val="18202A"/>
                </a:solidFill>
                <a:latin typeface="Arial"/>
                <a:ea typeface="Arial"/>
                <a:cs typeface="Arial"/>
              </a:rPr>
              <a:t>6,000 held-out transitions. Errors remain in their physical units.</a:t>
            </a:r>
          </a:p>
        </p:txBody>
      </p:sp>
      <p:graphicFrame>
        <p:nvGraphicFramePr>
          <p:cNvPr id="3" name="">
            <a:extLst xmlns:a="http://schemas.openxmlformats.org/drawingml/2006/main">
              <a:ext uri="{FF2B5EF4-FFF2-40B4-BE49-F238E27FC236}">
                <a16:creationId xmlns:a16="http://schemas.microsoft.com/office/drawing/2014/main" id="{D41A4B54-03C0-4308-A81B-8624EFDAC5C5}"/>
              </a:ext>
            </a:extLst>
          </p:cNvPr>
          <p:cNvGraphicFramePr/>
          <p:nvPr/>
        </p:nvGraphicFramePr>
        <p:xfrm>
          <a:off xmlns:a="http://schemas.openxmlformats.org/drawingml/2006/main" x="647700" y="2143125"/>
          <a:ext xmlns:a="http://schemas.openxmlformats.org/drawingml/2006/main" cx="10858500" cy="3171825"/>
        </p:xfrm>
        <a:graphic xmlns:a="http://schemas.openxmlformats.org/drawingml/2006/main">
          <a:graphicData uri="http://schemas.openxmlformats.org/drawingml/2006/table">
            <a:tbl>
              <a:tblPr/>
              <a:tblGrid>
                <a:gridCol w="3429000"/>
                <a:gridCol w="3714750"/>
                <a:gridCol w="3714750"/>
              </a:tblGrid>
              <a:tr h="528638">
                <a:tc>
                  <a:txBody>
                    <a:bodyPr/>
                    <a:lstStyle/>
                    <a:p>
                      <a:r>
                        <a:rPr sz="1725" b="1">
                          <a:solidFill>
                            <a:srgbClr val="18202A"/>
                          </a:solidFill>
                          <a:latin typeface="Arial"/>
                          <a:ea typeface="Arial"/>
                          <a:cs typeface="Arial"/>
                        </a:rPr>
                        <a:t>Method</a:t>
                      </a:r>
                    </a:p>
                  </a:txBody>
                  <a:tcPr marL="91440" marR="91440" marT="45720" marB="45720">
                    <a:lnL w="9525">
                      <a:solidFill>
                        <a:srgbClr val="D9D9D9"/>
                      </a:solidFill>
                      <a:prstDash val="solid"/>
                    </a:lnL>
                    <a:lnR w="9525">
                      <a:solidFill>
                        <a:srgbClr val="D9D9D9"/>
                      </a:solidFill>
                      <a:prstDash val="solid"/>
                    </a:lnR>
                    <a:lnT w="9525">
                      <a:solidFill>
                        <a:srgbClr val="D9D9D9"/>
                      </a:solidFill>
                      <a:prstDash val="solid"/>
                    </a:lnT>
                    <a:lnB w="9525">
                      <a:solidFill>
                        <a:srgbClr val="D9D9D9"/>
                      </a:solidFill>
                      <a:prstDash val="solid"/>
                    </a:lnB>
                    <a:solidFill>
                      <a:srgbClr val="E8EDF3"/>
                    </a:solidFill>
                  </a:tcPr>
                </a:tc>
                <a:tc>
                  <a:txBody>
                    <a:bodyPr/>
                    <a:lstStyle/>
                    <a:p>
                      <a:r>
                        <a:rPr sz="1725" b="1">
                          <a:solidFill>
                            <a:srgbClr val="18202A"/>
                          </a:solidFill>
                          <a:latin typeface="Arial"/>
                          <a:ea typeface="Arial"/>
                          <a:cs typeface="Arial"/>
                        </a:rPr>
                        <a:t>Angle RMSE / rad</a:t>
                      </a:r>
                    </a:p>
                  </a:txBody>
                  <a:tcPr marL="91440" marR="91440" marT="45720" marB="45720">
                    <a:lnR w="9525">
                      <a:solidFill>
                        <a:srgbClr val="D9D9D9"/>
                      </a:solidFill>
                      <a:prstDash val="solid"/>
                    </a:lnR>
                    <a:lnT w="9525">
                      <a:solidFill>
                        <a:srgbClr val="D9D9D9"/>
                      </a:solidFill>
                      <a:prstDash val="solid"/>
                    </a:lnT>
                    <a:lnB w="9525">
                      <a:solidFill>
                        <a:srgbClr val="D9D9D9"/>
                      </a:solidFill>
                      <a:prstDash val="solid"/>
                    </a:lnB>
                    <a:solidFill>
                      <a:srgbClr val="E8EDF3"/>
                    </a:solidFill>
                  </a:tcPr>
                </a:tc>
                <a:tc>
                  <a:txBody>
                    <a:bodyPr/>
                    <a:lstStyle/>
                    <a:p>
                      <a:r>
                        <a:rPr sz="1725" b="1">
                          <a:solidFill>
                            <a:srgbClr val="18202A"/>
                          </a:solidFill>
                          <a:latin typeface="Arial"/>
                          <a:ea typeface="Arial"/>
                          <a:cs typeface="Arial"/>
                        </a:rPr>
                        <a:t>Velocity RMSE / rad/s</a:t>
                      </a:r>
                    </a:p>
                  </a:txBody>
                  <a:tcPr marL="91440" marR="91440" marT="45720" marB="45720">
                    <a:lnR w="9525">
                      <a:solidFill>
                        <a:srgbClr val="D9D9D9"/>
                      </a:solidFill>
                      <a:prstDash val="solid"/>
                    </a:lnR>
                    <a:lnT w="9525">
                      <a:solidFill>
                        <a:srgbClr val="D9D9D9"/>
                      </a:solidFill>
                      <a:prstDash val="solid"/>
                    </a:lnT>
                    <a:lnB w="9525">
                      <a:solidFill>
                        <a:srgbClr val="D9D9D9"/>
                      </a:solidFill>
                      <a:prstDash val="solid"/>
                    </a:lnB>
                    <a:solidFill>
                      <a:srgbClr val="E8EDF3"/>
                    </a:solidFill>
                  </a:tcPr>
                </a:tc>
              </a:tr>
              <a:tr h="528638">
                <a:tc>
                  <a:txBody>
                    <a:bodyPr/>
                    <a:lstStyle/>
                    <a:p>
                      <a:r>
                        <a:rPr sz="1725" b="0">
                          <a:solidFill>
                            <a:srgbClr val="18202A"/>
                          </a:solidFill>
                          <a:latin typeface="Arial"/>
                          <a:ea typeface="Arial"/>
                          <a:cs typeface="Arial"/>
                        </a:rPr>
                        <a:t>Persistence</a:t>
                      </a:r>
                    </a:p>
                  </a:txBody>
                  <a:tcPr marL="91440" marR="91440" marT="45720" marB="45720">
                    <a:lnL w="9525">
                      <a:solidFill>
                        <a:srgbClr val="D9D9D9"/>
                      </a:solidFill>
                      <a:prstDash val="solid"/>
                    </a:lnL>
                    <a:lnR w="9525">
                      <a:solidFill>
                        <a:srgbClr val="D9D9D9"/>
                      </a:solidFill>
                      <a:prstDash val="solid"/>
                    </a:lnR>
                    <a:lnB w="9525">
                      <a:solidFill>
                        <a:srgbClr val="D9D9D9"/>
                      </a:solidFill>
                      <a:prstDash val="solid"/>
                    </a:lnB>
                    <a:solidFill>
                      <a:srgbClr val="FFFFFF"/>
                    </a:solidFill>
                  </a:tcPr>
                </a:tc>
                <a:tc>
                  <a:txBody>
                    <a:bodyPr/>
                    <a:lstStyle/>
                    <a:p>
                      <a:r>
                        <a:rPr sz="1725" b="0">
                          <a:solidFill>
                            <a:srgbClr val="18202A"/>
                          </a:solidFill>
                          <a:latin typeface="Arial"/>
                          <a:ea typeface="Arial"/>
                          <a:cs typeface="Arial"/>
                        </a:rPr>
                        <a:t>2.948e-2</a:t>
                      </a:r>
                    </a:p>
                  </a:txBody>
                  <a:tcPr marL="91440" marR="91440" marT="45720" marB="45720">
                    <a:lnR w="9525">
                      <a:solidFill>
                        <a:srgbClr val="D9D9D9"/>
                      </a:solidFill>
                      <a:prstDash val="solid"/>
                    </a:lnR>
                    <a:lnB w="9525">
                      <a:solidFill>
                        <a:srgbClr val="D9D9D9"/>
                      </a:solidFill>
                      <a:prstDash val="solid"/>
                    </a:lnB>
                    <a:solidFill>
                      <a:srgbClr val="FFFFFF"/>
                    </a:solidFill>
                  </a:tcPr>
                </a:tc>
                <a:tc>
                  <a:txBody>
                    <a:bodyPr/>
                    <a:lstStyle/>
                    <a:p>
                      <a:r>
                        <a:rPr sz="1725" b="0">
                          <a:solidFill>
                            <a:srgbClr val="18202A"/>
                          </a:solidFill>
                          <a:latin typeface="Arial"/>
                          <a:ea typeface="Arial"/>
                          <a:cs typeface="Arial"/>
                        </a:rPr>
                        <a:t>8.717e-2</a:t>
                      </a:r>
                    </a:p>
                  </a:txBody>
                  <a:tcPr marL="91440" marR="91440" marT="45720" marB="45720">
                    <a:lnR w="9525">
                      <a:solidFill>
                        <a:srgbClr val="D9D9D9"/>
                      </a:solidFill>
                      <a:prstDash val="solid"/>
                    </a:lnR>
                    <a:lnB w="9525">
                      <a:solidFill>
                        <a:srgbClr val="D9D9D9"/>
                      </a:solidFill>
                      <a:prstDash val="solid"/>
                    </a:lnB>
                    <a:solidFill>
                      <a:srgbClr val="FFFFFF"/>
                    </a:solidFill>
                  </a:tcPr>
                </a:tc>
              </a:tr>
              <a:tr h="528638">
                <a:tc>
                  <a:txBody>
                    <a:bodyPr/>
                    <a:lstStyle/>
                    <a:p>
                      <a:r>
                        <a:rPr sz="1725" b="0">
                          <a:solidFill>
                            <a:srgbClr val="18202A"/>
                          </a:solidFill>
                          <a:latin typeface="Arial"/>
                          <a:ea typeface="Arial"/>
                          <a:cs typeface="Arial"/>
                        </a:rPr>
                        <a:t>Euler</a:t>
                      </a:r>
                    </a:p>
                  </a:txBody>
                  <a:tcPr marL="91440" marR="91440" marT="45720" marB="45720">
                    <a:lnL w="9525">
                      <a:solidFill>
                        <a:srgbClr val="D9D9D9"/>
                      </a:solidFill>
                      <a:prstDash val="solid"/>
                    </a:lnL>
                    <a:lnR w="9525">
                      <a:solidFill>
                        <a:srgbClr val="D9D9D9"/>
                      </a:solidFill>
                      <a:prstDash val="solid"/>
                    </a:lnR>
                    <a:lnB w="9525">
                      <a:solidFill>
                        <a:srgbClr val="D9D9D9"/>
                      </a:solidFill>
                      <a:prstDash val="solid"/>
                    </a:lnB>
                    <a:solidFill>
                      <a:srgbClr val="F5F7F9"/>
                    </a:solidFill>
                  </a:tcPr>
                </a:tc>
                <a:tc>
                  <a:txBody>
                    <a:bodyPr/>
                    <a:lstStyle/>
                    <a:p>
                      <a:r>
                        <a:rPr sz="1725" b="0">
                          <a:solidFill>
                            <a:srgbClr val="18202A"/>
                          </a:solidFill>
                          <a:latin typeface="Arial"/>
                          <a:ea typeface="Arial"/>
                          <a:cs typeface="Arial"/>
                        </a:rPr>
                        <a:t>8.720e-4</a:t>
                      </a:r>
                    </a:p>
                  </a:txBody>
                  <a:tcPr marL="91440" marR="91440" marT="45720" marB="45720">
                    <a:lnR w="9525">
                      <a:solidFill>
                        <a:srgbClr val="D9D9D9"/>
                      </a:solidFill>
                      <a:prstDash val="solid"/>
                    </a:lnR>
                    <a:lnB w="9525">
                      <a:solidFill>
                        <a:srgbClr val="D9D9D9"/>
                      </a:solidFill>
                      <a:prstDash val="solid"/>
                    </a:lnB>
                    <a:solidFill>
                      <a:srgbClr val="F5F7F9"/>
                    </a:solidFill>
                  </a:tcPr>
                </a:tc>
                <a:tc>
                  <a:txBody>
                    <a:bodyPr/>
                    <a:lstStyle/>
                    <a:p>
                      <a:r>
                        <a:rPr sz="1725" b="0">
                          <a:solidFill>
                            <a:srgbClr val="18202A"/>
                          </a:solidFill>
                          <a:latin typeface="Arial"/>
                          <a:ea typeface="Arial"/>
                          <a:cs typeface="Arial"/>
                        </a:rPr>
                        <a:t>2.616e-3</a:t>
                      </a:r>
                    </a:p>
                  </a:txBody>
                  <a:tcPr marL="91440" marR="91440" marT="45720" marB="45720">
                    <a:lnR w="9525">
                      <a:solidFill>
                        <a:srgbClr val="D9D9D9"/>
                      </a:solidFill>
                      <a:prstDash val="solid"/>
                    </a:lnR>
                    <a:lnB w="9525">
                      <a:solidFill>
                        <a:srgbClr val="D9D9D9"/>
                      </a:solidFill>
                      <a:prstDash val="solid"/>
                    </a:lnB>
                    <a:solidFill>
                      <a:srgbClr val="F5F7F9"/>
                    </a:solidFill>
                  </a:tcPr>
                </a:tc>
              </a:tr>
              <a:tr h="528638">
                <a:tc>
                  <a:txBody>
                    <a:bodyPr/>
                    <a:lstStyle/>
                    <a:p>
                      <a:r>
                        <a:rPr sz="1725" b="0">
                          <a:solidFill>
                            <a:srgbClr val="18202A"/>
                          </a:solidFill>
                          <a:latin typeface="Arial"/>
                          <a:ea typeface="Arial"/>
                          <a:cs typeface="Arial"/>
                        </a:rPr>
                        <a:t>RK4</a:t>
                      </a:r>
                    </a:p>
                  </a:txBody>
                  <a:tcPr marL="91440" marR="91440" marT="45720" marB="45720">
                    <a:lnL w="9525">
                      <a:solidFill>
                        <a:srgbClr val="D9D9D9"/>
                      </a:solidFill>
                      <a:prstDash val="solid"/>
                    </a:lnL>
                    <a:lnR w="9525">
                      <a:solidFill>
                        <a:srgbClr val="D9D9D9"/>
                      </a:solidFill>
                      <a:prstDash val="solid"/>
                    </a:lnR>
                    <a:lnB w="9525">
                      <a:solidFill>
                        <a:srgbClr val="D9D9D9"/>
                      </a:solidFill>
                      <a:prstDash val="solid"/>
                    </a:lnB>
                    <a:solidFill>
                      <a:srgbClr val="FFFFFF"/>
                    </a:solidFill>
                  </a:tcPr>
                </a:tc>
                <a:tc>
                  <a:txBody>
                    <a:bodyPr/>
                    <a:lstStyle/>
                    <a:p>
                      <a:r>
                        <a:rPr sz="1725" b="0">
                          <a:solidFill>
                            <a:srgbClr val="18202A"/>
                          </a:solidFill>
                          <a:latin typeface="Arial"/>
                          <a:ea typeface="Arial"/>
                          <a:cs typeface="Arial"/>
                        </a:rPr>
                        <a:t>3.344e-9</a:t>
                      </a:r>
                    </a:p>
                  </a:txBody>
                  <a:tcPr marL="91440" marR="91440" marT="45720" marB="45720">
                    <a:lnR w="9525">
                      <a:solidFill>
                        <a:srgbClr val="D9D9D9"/>
                      </a:solidFill>
                      <a:prstDash val="solid"/>
                    </a:lnR>
                    <a:lnB w="9525">
                      <a:solidFill>
                        <a:srgbClr val="D9D9D9"/>
                      </a:solidFill>
                      <a:prstDash val="solid"/>
                    </a:lnB>
                    <a:solidFill>
                      <a:srgbClr val="FFFFFF"/>
                    </a:solidFill>
                  </a:tcPr>
                </a:tc>
                <a:tc>
                  <a:txBody>
                    <a:bodyPr/>
                    <a:lstStyle/>
                    <a:p>
                      <a:r>
                        <a:rPr sz="1725" b="0">
                          <a:solidFill>
                            <a:srgbClr val="18202A"/>
                          </a:solidFill>
                          <a:latin typeface="Arial"/>
                          <a:ea typeface="Arial"/>
                          <a:cs typeface="Arial"/>
                        </a:rPr>
                        <a:t>8.211e-9</a:t>
                      </a:r>
                    </a:p>
                  </a:txBody>
                  <a:tcPr marL="91440" marR="91440" marT="45720" marB="45720">
                    <a:lnR w="9525">
                      <a:solidFill>
                        <a:srgbClr val="D9D9D9"/>
                      </a:solidFill>
                      <a:prstDash val="solid"/>
                    </a:lnR>
                    <a:lnB w="9525">
                      <a:solidFill>
                        <a:srgbClr val="D9D9D9"/>
                      </a:solidFill>
                      <a:prstDash val="solid"/>
                    </a:lnB>
                    <a:solidFill>
                      <a:srgbClr val="FFFFFF"/>
                    </a:solidFill>
                  </a:tcPr>
                </a:tc>
              </a:tr>
              <a:tr h="528638">
                <a:tc>
                  <a:txBody>
                    <a:bodyPr/>
                    <a:lstStyle/>
                    <a:p>
                      <a:r>
                        <a:rPr sz="1725" b="0">
                          <a:solidFill>
                            <a:srgbClr val="18202A"/>
                          </a:solidFill>
                          <a:latin typeface="Arial"/>
                          <a:ea typeface="Arial"/>
                          <a:cs typeface="Arial"/>
                        </a:rPr>
                        <a:t>Tiny NN</a:t>
                      </a:r>
                    </a:p>
                  </a:txBody>
                  <a:tcPr marL="91440" marR="91440" marT="45720" marB="45720">
                    <a:lnL w="9525">
                      <a:solidFill>
                        <a:srgbClr val="D9D9D9"/>
                      </a:solidFill>
                      <a:prstDash val="solid"/>
                    </a:lnL>
                    <a:lnR w="9525">
                      <a:solidFill>
                        <a:srgbClr val="D9D9D9"/>
                      </a:solidFill>
                      <a:prstDash val="solid"/>
                    </a:lnR>
                    <a:lnB w="9525">
                      <a:solidFill>
                        <a:srgbClr val="D9D9D9"/>
                      </a:solidFill>
                      <a:prstDash val="solid"/>
                    </a:lnB>
                    <a:solidFill>
                      <a:srgbClr val="F5F7F9"/>
                    </a:solidFill>
                  </a:tcPr>
                </a:tc>
                <a:tc>
                  <a:txBody>
                    <a:bodyPr/>
                    <a:lstStyle/>
                    <a:p>
                      <a:r>
                        <a:rPr sz="1725" b="0">
                          <a:solidFill>
                            <a:srgbClr val="18202A"/>
                          </a:solidFill>
                          <a:latin typeface="Arial"/>
                          <a:ea typeface="Arial"/>
                          <a:cs typeface="Arial"/>
                        </a:rPr>
                        <a:t>2.316e-3</a:t>
                      </a:r>
                    </a:p>
                  </a:txBody>
                  <a:tcPr marL="91440" marR="91440" marT="45720" marB="45720">
                    <a:lnR w="9525">
                      <a:solidFill>
                        <a:srgbClr val="D9D9D9"/>
                      </a:solidFill>
                      <a:prstDash val="solid"/>
                    </a:lnR>
                    <a:lnB w="9525">
                      <a:solidFill>
                        <a:srgbClr val="D9D9D9"/>
                      </a:solidFill>
                      <a:prstDash val="solid"/>
                    </a:lnB>
                    <a:solidFill>
                      <a:srgbClr val="F5F7F9"/>
                    </a:solidFill>
                  </a:tcPr>
                </a:tc>
                <a:tc>
                  <a:txBody>
                    <a:bodyPr/>
                    <a:lstStyle/>
                    <a:p>
                      <a:r>
                        <a:rPr sz="1725" b="0">
                          <a:solidFill>
                            <a:srgbClr val="18202A"/>
                          </a:solidFill>
                          <a:latin typeface="Arial"/>
                          <a:ea typeface="Arial"/>
                          <a:cs typeface="Arial"/>
                        </a:rPr>
                        <a:t>3.489e-3</a:t>
                      </a:r>
                    </a:p>
                  </a:txBody>
                  <a:tcPr marL="91440" marR="91440" marT="45720" marB="45720">
                    <a:lnR w="9525">
                      <a:solidFill>
                        <a:srgbClr val="D9D9D9"/>
                      </a:solidFill>
                      <a:prstDash val="solid"/>
                    </a:lnR>
                    <a:lnB w="9525">
                      <a:solidFill>
                        <a:srgbClr val="D9D9D9"/>
                      </a:solidFill>
                      <a:prstDash val="solid"/>
                    </a:lnB>
                    <a:solidFill>
                      <a:srgbClr val="F5F7F9"/>
                    </a:solidFill>
                  </a:tcPr>
                </a:tc>
              </a:tr>
              <a:tr h="528638">
                <a:tc>
                  <a:txBody>
                    <a:bodyPr/>
                    <a:lstStyle/>
                    <a:p>
                      <a:r>
                        <a:rPr sz="1725" b="0">
                          <a:solidFill>
                            <a:srgbClr val="18202A"/>
                          </a:solidFill>
                          <a:latin typeface="Arial"/>
                          <a:ea typeface="Arial"/>
                          <a:cs typeface="Arial"/>
                        </a:rPr>
                        <a:t>NN</a:t>
                      </a:r>
                    </a:p>
                  </a:txBody>
                  <a:tcPr marL="91440" marR="91440" marT="45720" marB="45720">
                    <a:lnL w="9525">
                      <a:solidFill>
                        <a:srgbClr val="D9D9D9"/>
                      </a:solidFill>
                      <a:prstDash val="solid"/>
                    </a:lnL>
                    <a:lnR w="9525">
                      <a:solidFill>
                        <a:srgbClr val="D9D9D9"/>
                      </a:solidFill>
                      <a:prstDash val="solid"/>
                    </a:lnR>
                    <a:lnB w="9525">
                      <a:solidFill>
                        <a:srgbClr val="D9D9D9"/>
                      </a:solidFill>
                      <a:prstDash val="solid"/>
                    </a:lnB>
                    <a:solidFill>
                      <a:srgbClr val="FFFFFF"/>
                    </a:solidFill>
                  </a:tcPr>
                </a:tc>
                <a:tc>
                  <a:txBody>
                    <a:bodyPr/>
                    <a:lstStyle/>
                    <a:p>
                      <a:r>
                        <a:rPr sz="1725" b="0">
                          <a:solidFill>
                            <a:srgbClr val="18202A"/>
                          </a:solidFill>
                          <a:latin typeface="Arial"/>
                          <a:ea typeface="Arial"/>
                          <a:cs typeface="Arial"/>
                        </a:rPr>
                        <a:t>2.744e-4</a:t>
                      </a:r>
                    </a:p>
                  </a:txBody>
                  <a:tcPr marL="91440" marR="91440" marT="45720" marB="45720">
                    <a:lnR w="9525">
                      <a:solidFill>
                        <a:srgbClr val="D9D9D9"/>
                      </a:solidFill>
                      <a:prstDash val="solid"/>
                    </a:lnR>
                    <a:lnB w="9525">
                      <a:solidFill>
                        <a:srgbClr val="D9D9D9"/>
                      </a:solidFill>
                      <a:prstDash val="solid"/>
                    </a:lnB>
                    <a:solidFill>
                      <a:srgbClr val="FFFFFF"/>
                    </a:solidFill>
                  </a:tcPr>
                </a:tc>
                <a:tc>
                  <a:txBody>
                    <a:bodyPr/>
                    <a:lstStyle/>
                    <a:p>
                      <a:r>
                        <a:rPr sz="1725" b="0">
                          <a:solidFill>
                            <a:srgbClr val="18202A"/>
                          </a:solidFill>
                          <a:latin typeface="Arial"/>
                          <a:ea typeface="Arial"/>
                          <a:cs typeface="Arial"/>
                        </a:rPr>
                        <a:t>7.648e-4</a:t>
                      </a:r>
                    </a:p>
                  </a:txBody>
                  <a:tcPr marL="91440" marR="91440" marT="45720" marB="45720">
                    <a:lnR w="9525">
                      <a:solidFill>
                        <a:srgbClr val="D9D9D9"/>
                      </a:solidFill>
                      <a:prstDash val="solid"/>
                    </a:lnR>
                    <a:lnB w="9525">
                      <a:solidFill>
                        <a:srgbClr val="D9D9D9"/>
                      </a:solidFill>
                      <a:prstDash val="solid"/>
                    </a:lnB>
                    <a:solidFill>
                      <a:srgbClr val="FFFFFF"/>
                    </a:solidFill>
                  </a:tcPr>
                </a:tc>
              </a:tr>
            </a:tbl>
          </a:graphicData>
        </a:graphic>
      </p:graphicFrame>
      <p:sp>
        <p:nvSpPr>
          <p:cNvPr id="4" name="">
            <a:extLst xmlns:a="http://schemas.openxmlformats.org/drawingml/2006/main">
              <a:ext uri="{FF2B5EF4-FFF2-40B4-BE49-F238E27FC236}">
                <a16:creationId xmlns:a16="http://schemas.microsoft.com/office/drawing/2014/main" id="{A81ECFFE-C4DB-45FD-A50C-0E9FF2F77E55}"/>
              </a:ext>
            </a:extLst>
          </p:cNvPr>
          <p:cNvSpPr>
            <a:spLocks xmlns:a="http://schemas.openxmlformats.org/drawingml/2006/main" noGrp="1"/>
          </p:cNvSpPr>
          <p:nvPr/>
        </p:nvSpPr>
        <p:spPr>
          <a:xfrm xmlns:a="http://schemas.openxmlformats.org/drawingml/2006/main">
            <a:off x="666750" y="5572125"/>
            <a:ext cx="10763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250" b="1">
                <a:solidFill>
                  <a:srgbClr val="245BC2"/>
                </a:solidFill>
                <a:latin typeface="Arial"/>
                <a:ea typeface="Arial"/>
                <a:cs typeface="Arial"/>
              </a:defRPr>
            </a:defPPr>
            <a:lvl1pPr>
              <a:defRPr sz="2250" b="1">
                <a:solidFill>
                  <a:srgbClr val="245BC2"/>
                </a:solidFill>
                <a:latin typeface="Arial"/>
                <a:ea typeface="Arial"/>
                <a:cs typeface="Arial"/>
              </a:defRPr>
            </a:lvl1pPr>
            <a:lvl2pPr>
              <a:defRPr sz="2250" b="1">
                <a:solidFill>
                  <a:srgbClr val="245BC2"/>
                </a:solidFill>
                <a:latin typeface="Arial"/>
                <a:ea typeface="Arial"/>
                <a:cs typeface="Arial"/>
              </a:defRPr>
            </a:lvl2pPr>
            <a:lvl3pPr>
              <a:defRPr sz="2250" b="1">
                <a:solidFill>
                  <a:srgbClr val="245BC2"/>
                </a:solidFill>
                <a:latin typeface="Arial"/>
                <a:ea typeface="Arial"/>
                <a:cs typeface="Arial"/>
              </a:defRPr>
            </a:lvl3pPr>
            <a:lvl4pPr>
              <a:defRPr sz="2250" b="1">
                <a:solidFill>
                  <a:srgbClr val="245BC2"/>
                </a:solidFill>
                <a:latin typeface="Arial"/>
                <a:ea typeface="Arial"/>
                <a:cs typeface="Arial"/>
              </a:defRPr>
            </a:lvl4pPr>
            <a:lvl5pPr>
              <a:defRPr sz="2250" b="1">
                <a:solidFill>
                  <a:srgbClr val="245BC2"/>
                </a:solidFill>
                <a:latin typeface="Arial"/>
                <a:ea typeface="Arial"/>
                <a:cs typeface="Arial"/>
              </a:defRPr>
            </a:lvl5pPr>
            <a:lvl6pPr>
              <a:defRPr sz="2250" b="1">
                <a:solidFill>
                  <a:srgbClr val="245BC2"/>
                </a:solidFill>
                <a:latin typeface="Arial"/>
                <a:ea typeface="Arial"/>
                <a:cs typeface="Arial"/>
              </a:defRPr>
            </a:lvl6pPr>
            <a:lvl7pPr>
              <a:defRPr sz="2250" b="1">
                <a:solidFill>
                  <a:srgbClr val="245BC2"/>
                </a:solidFill>
                <a:latin typeface="Arial"/>
                <a:ea typeface="Arial"/>
                <a:cs typeface="Arial"/>
              </a:defRPr>
            </a:lvl7pPr>
            <a:lvl8pPr>
              <a:defRPr sz="2250" b="1">
                <a:solidFill>
                  <a:srgbClr val="245BC2"/>
                </a:solidFill>
                <a:latin typeface="Arial"/>
                <a:ea typeface="Arial"/>
                <a:cs typeface="Arial"/>
              </a:defRPr>
            </a:lvl8pPr>
            <a:lvl9pPr>
              <a:defRPr sz="2250" b="1">
                <a:solidFill>
                  <a:srgbClr val="245BC2"/>
                </a:solidFill>
                <a:latin typeface="Arial"/>
                <a:ea typeface="Arial"/>
                <a:cs typeface="Arial"/>
              </a:defRPr>
            </a:lvl9pPr>
          </a:lstStyle>
          <a:p xmlns:a="http://schemas.openxmlformats.org/drawingml/2006/main">
            <a:pPr>
              <a:defRPr sz="2250" b="1">
                <a:solidFill>
                  <a:srgbClr val="245BC2"/>
                </a:solidFill>
                <a:latin typeface="Arial"/>
                <a:ea typeface="Arial"/>
                <a:cs typeface="Arial"/>
              </a:defRPr>
            </a:pPr>
            <a:r>
              <a:rPr sz="2250" b="1">
                <a:solidFill>
                  <a:srgbClr val="245BC2"/>
                </a:solidFill>
                <a:latin typeface="Arial"/>
                <a:ea typeface="Arial"/>
                <a:cs typeface="Arial"/>
              </a:rPr>
              <a:t>99.10% lower standardized error than persistence.</a:t>
            </a:r>
          </a:p>
        </p:txBody>
      </p:sp>
      <p:sp>
        <p:nvSpPr>
          <p:cNvPr id="5" name="">
            <a:extLst xmlns:a="http://schemas.openxmlformats.org/drawingml/2006/main">
              <a:ext uri="{FF2B5EF4-FFF2-40B4-BE49-F238E27FC236}">
                <a16:creationId xmlns:a16="http://schemas.microsoft.com/office/drawing/2014/main" id="{8F3B5688-704E-4A82-8A49-20B8FCBBFEAE}"/>
              </a:ext>
            </a:extLst>
          </p:cNvPr>
          <p:cNvSpPr>
            <a:spLocks xmlns:a="http://schemas.openxmlformats.org/drawingml/2006/main" noGrp="1"/>
          </p:cNvSpPr>
          <p:nvPr/>
        </p:nvSpPr>
        <p:spPr>
          <a:xfrm xmlns:a="http://schemas.openxmlformats.org/drawingml/2006/main">
            <a:off x="666750" y="6172200"/>
            <a:ext cx="10763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575" b="0">
                <a:solidFill>
                  <a:srgbClr val="535E6C"/>
                </a:solidFill>
                <a:latin typeface="Arial"/>
                <a:ea typeface="Arial"/>
                <a:cs typeface="Arial"/>
              </a:defRPr>
            </a:defPPr>
            <a:lvl1pPr>
              <a:defRPr sz="1575" b="0">
                <a:solidFill>
                  <a:srgbClr val="535E6C"/>
                </a:solidFill>
                <a:latin typeface="Arial"/>
                <a:ea typeface="Arial"/>
                <a:cs typeface="Arial"/>
              </a:defRPr>
            </a:lvl1pPr>
            <a:lvl2pPr>
              <a:defRPr sz="1575" b="0">
                <a:solidFill>
                  <a:srgbClr val="535E6C"/>
                </a:solidFill>
                <a:latin typeface="Arial"/>
                <a:ea typeface="Arial"/>
                <a:cs typeface="Arial"/>
              </a:defRPr>
            </a:lvl2pPr>
            <a:lvl3pPr>
              <a:defRPr sz="1575" b="0">
                <a:solidFill>
                  <a:srgbClr val="535E6C"/>
                </a:solidFill>
                <a:latin typeface="Arial"/>
                <a:ea typeface="Arial"/>
                <a:cs typeface="Arial"/>
              </a:defRPr>
            </a:lvl3pPr>
            <a:lvl4pPr>
              <a:defRPr sz="1575" b="0">
                <a:solidFill>
                  <a:srgbClr val="535E6C"/>
                </a:solidFill>
                <a:latin typeface="Arial"/>
                <a:ea typeface="Arial"/>
                <a:cs typeface="Arial"/>
              </a:defRPr>
            </a:lvl4pPr>
            <a:lvl5pPr>
              <a:defRPr sz="1575" b="0">
                <a:solidFill>
                  <a:srgbClr val="535E6C"/>
                </a:solidFill>
                <a:latin typeface="Arial"/>
                <a:ea typeface="Arial"/>
                <a:cs typeface="Arial"/>
              </a:defRPr>
            </a:lvl5pPr>
            <a:lvl6pPr>
              <a:defRPr sz="1575" b="0">
                <a:solidFill>
                  <a:srgbClr val="535E6C"/>
                </a:solidFill>
                <a:latin typeface="Arial"/>
                <a:ea typeface="Arial"/>
                <a:cs typeface="Arial"/>
              </a:defRPr>
            </a:lvl6pPr>
            <a:lvl7pPr>
              <a:defRPr sz="1575" b="0">
                <a:solidFill>
                  <a:srgbClr val="535E6C"/>
                </a:solidFill>
                <a:latin typeface="Arial"/>
                <a:ea typeface="Arial"/>
                <a:cs typeface="Arial"/>
              </a:defRPr>
            </a:lvl7pPr>
            <a:lvl8pPr>
              <a:defRPr sz="1575" b="0">
                <a:solidFill>
                  <a:srgbClr val="535E6C"/>
                </a:solidFill>
                <a:latin typeface="Arial"/>
                <a:ea typeface="Arial"/>
                <a:cs typeface="Arial"/>
              </a:defRPr>
            </a:lvl8pPr>
            <a:lvl9pPr>
              <a:defRPr sz="1575" b="0">
                <a:solidFill>
                  <a:srgbClr val="535E6C"/>
                </a:solidFill>
                <a:latin typeface="Arial"/>
                <a:ea typeface="Arial"/>
                <a:cs typeface="Arial"/>
              </a:defRPr>
            </a:lvl9pPr>
          </a:lstStyle>
          <a:p xmlns:a="http://schemas.openxmlformats.org/drawingml/2006/main">
            <a:pPr>
              <a:defRPr sz="1575" b="0">
                <a:solidFill>
                  <a:srgbClr val="535E6C"/>
                </a:solidFill>
                <a:latin typeface="Arial"/>
                <a:ea typeface="Arial"/>
                <a:cs typeface="Arial"/>
              </a:defRPr>
            </a:pPr>
            <a:r>
              <a:rPr sz="1575" b="0">
                <a:solidFill>
                  <a:srgbClr val="535E6C"/>
                </a:solidFill>
                <a:latin typeface="Arial"/>
                <a:ea typeface="Arial"/>
                <a:cs typeface="Arial"/>
              </a:rPr>
              <a:t>RK4 is substantially more accurate. It directly uses the known governing equation.</a:t>
            </a:r>
          </a:p>
        </p:txBody>
      </p:sp>
    </p:spTree>
    <p:extLst>
      <p:ext uri="{BB962C8B-B14F-4D97-AF65-F5344CB8AC3E}">
        <p14:creationId xmlns:p14="http://schemas.microsoft.com/office/powerpoint/2010/main" val="1382555023"/>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7B3F390F-49BC-4329-8B8D-3CA5B5B8C406}"/>
              </a:ext>
            </a:extLst>
          </p:cNvPr>
          <p:cNvSpPr>
            <a:spLocks xmlns:a="http://schemas.openxmlformats.org/drawingml/2006/main" noGrp="1"/>
          </p:cNvSpPr>
          <p:nvPr/>
        </p:nvSpPr>
        <p:spPr>
          <a:xfrm xmlns:a="http://schemas.openxmlformats.org/drawingml/2006/main">
            <a:off x="609600" y="40005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3300" b="1">
                <a:solidFill>
                  <a:srgbClr val="18202A"/>
                </a:solidFill>
                <a:latin typeface="Arial"/>
                <a:ea typeface="Arial"/>
                <a:cs typeface="Arial"/>
              </a:defRPr>
            </a:defPPr>
            <a:lvl1pPr>
              <a:defRPr sz="3300" b="1">
                <a:solidFill>
                  <a:srgbClr val="18202A"/>
                </a:solidFill>
                <a:latin typeface="Arial"/>
                <a:ea typeface="Arial"/>
                <a:cs typeface="Arial"/>
              </a:defRPr>
            </a:lvl1pPr>
            <a:lvl2pPr>
              <a:defRPr sz="3300" b="1">
                <a:solidFill>
                  <a:srgbClr val="18202A"/>
                </a:solidFill>
                <a:latin typeface="Arial"/>
                <a:ea typeface="Arial"/>
                <a:cs typeface="Arial"/>
              </a:defRPr>
            </a:lvl2pPr>
            <a:lvl3pPr>
              <a:defRPr sz="3300" b="1">
                <a:solidFill>
                  <a:srgbClr val="18202A"/>
                </a:solidFill>
                <a:latin typeface="Arial"/>
                <a:ea typeface="Arial"/>
                <a:cs typeface="Arial"/>
              </a:defRPr>
            </a:lvl3pPr>
            <a:lvl4pPr>
              <a:defRPr sz="3300" b="1">
                <a:solidFill>
                  <a:srgbClr val="18202A"/>
                </a:solidFill>
                <a:latin typeface="Arial"/>
                <a:ea typeface="Arial"/>
                <a:cs typeface="Arial"/>
              </a:defRPr>
            </a:lvl4pPr>
            <a:lvl5pPr>
              <a:defRPr sz="3300" b="1">
                <a:solidFill>
                  <a:srgbClr val="18202A"/>
                </a:solidFill>
                <a:latin typeface="Arial"/>
                <a:ea typeface="Arial"/>
                <a:cs typeface="Arial"/>
              </a:defRPr>
            </a:lvl5pPr>
            <a:lvl6pPr>
              <a:defRPr sz="3300" b="1">
                <a:solidFill>
                  <a:srgbClr val="18202A"/>
                </a:solidFill>
                <a:latin typeface="Arial"/>
                <a:ea typeface="Arial"/>
                <a:cs typeface="Arial"/>
              </a:defRPr>
            </a:lvl6pPr>
            <a:lvl7pPr>
              <a:defRPr sz="3300" b="1">
                <a:solidFill>
                  <a:srgbClr val="18202A"/>
                </a:solidFill>
                <a:latin typeface="Arial"/>
                <a:ea typeface="Arial"/>
                <a:cs typeface="Arial"/>
              </a:defRPr>
            </a:lvl7pPr>
            <a:lvl8pPr>
              <a:defRPr sz="3300" b="1">
                <a:solidFill>
                  <a:srgbClr val="18202A"/>
                </a:solidFill>
                <a:latin typeface="Arial"/>
                <a:ea typeface="Arial"/>
                <a:cs typeface="Arial"/>
              </a:defRPr>
            </a:lvl8pPr>
            <a:lvl9pPr>
              <a:defRPr sz="3300" b="1">
                <a:solidFill>
                  <a:srgbClr val="18202A"/>
                </a:solidFill>
                <a:latin typeface="Arial"/>
                <a:ea typeface="Arial"/>
                <a:cs typeface="Arial"/>
              </a:defRPr>
            </a:lvl9pPr>
          </a:lstStyle>
          <a:p xmlns:a="http://schemas.openxmlformats.org/drawingml/2006/main">
            <a:pPr>
              <a:defRPr sz="3300" b="1">
                <a:solidFill>
                  <a:srgbClr val="18202A"/>
                </a:solidFill>
                <a:latin typeface="Arial"/>
                <a:ea typeface="Arial"/>
                <a:cs typeface="Arial"/>
              </a:defRPr>
            </a:pPr>
            <a:r>
              <a:rPr sz="3300" b="1">
                <a:solidFill>
                  <a:srgbClr val="18202A"/>
                </a:solidFill>
                <a:latin typeface="Arial"/>
                <a:ea typeface="Arial"/>
                <a:cs typeface="Arial"/>
              </a:rPr>
              <a:t>Autonomous Rollouts</a:t>
            </a:r>
          </a:p>
        </p:txBody>
      </p:sp>
      <p:sp>
        <p:nvSpPr>
          <p:cNvPr id="2" name="">
            <a:extLst xmlns:a="http://schemas.openxmlformats.org/drawingml/2006/main">
              <a:ext uri="{FF2B5EF4-FFF2-40B4-BE49-F238E27FC236}">
                <a16:creationId xmlns:a16="http://schemas.microsoft.com/office/drawing/2014/main" id="{99A8D025-1803-478C-A534-F68FAE9C485F}"/>
              </a:ext>
            </a:extLst>
          </p:cNvPr>
          <p:cNvSpPr>
            <a:spLocks xmlns:a="http://schemas.openxmlformats.org/drawingml/2006/main" noGrp="1"/>
          </p:cNvSpPr>
          <p:nvPr/>
        </p:nvSpPr>
        <p:spPr>
          <a:xfrm xmlns:a="http://schemas.openxmlformats.org/drawingml/2006/main">
            <a:off x="666750" y="1285875"/>
            <a:ext cx="10763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025" b="1">
                <a:solidFill>
                  <a:srgbClr val="18202A"/>
                </a:solidFill>
                <a:latin typeface="Arial"/>
                <a:ea typeface="Arial"/>
                <a:cs typeface="Arial"/>
              </a:defRPr>
            </a:defPPr>
            <a:lvl1pPr>
              <a:defRPr sz="2025" b="1">
                <a:solidFill>
                  <a:srgbClr val="18202A"/>
                </a:solidFill>
                <a:latin typeface="Arial"/>
                <a:ea typeface="Arial"/>
                <a:cs typeface="Arial"/>
              </a:defRPr>
            </a:lvl1pPr>
            <a:lvl2pPr>
              <a:defRPr sz="2025" b="1">
                <a:solidFill>
                  <a:srgbClr val="18202A"/>
                </a:solidFill>
                <a:latin typeface="Arial"/>
                <a:ea typeface="Arial"/>
                <a:cs typeface="Arial"/>
              </a:defRPr>
            </a:lvl2pPr>
            <a:lvl3pPr>
              <a:defRPr sz="2025" b="1">
                <a:solidFill>
                  <a:srgbClr val="18202A"/>
                </a:solidFill>
                <a:latin typeface="Arial"/>
                <a:ea typeface="Arial"/>
                <a:cs typeface="Arial"/>
              </a:defRPr>
            </a:lvl3pPr>
            <a:lvl4pPr>
              <a:defRPr sz="2025" b="1">
                <a:solidFill>
                  <a:srgbClr val="18202A"/>
                </a:solidFill>
                <a:latin typeface="Arial"/>
                <a:ea typeface="Arial"/>
                <a:cs typeface="Arial"/>
              </a:defRPr>
            </a:lvl4pPr>
            <a:lvl5pPr>
              <a:defRPr sz="2025" b="1">
                <a:solidFill>
                  <a:srgbClr val="18202A"/>
                </a:solidFill>
                <a:latin typeface="Arial"/>
                <a:ea typeface="Arial"/>
                <a:cs typeface="Arial"/>
              </a:defRPr>
            </a:lvl5pPr>
            <a:lvl6pPr>
              <a:defRPr sz="2025" b="1">
                <a:solidFill>
                  <a:srgbClr val="18202A"/>
                </a:solidFill>
                <a:latin typeface="Arial"/>
                <a:ea typeface="Arial"/>
                <a:cs typeface="Arial"/>
              </a:defRPr>
            </a:lvl6pPr>
            <a:lvl7pPr>
              <a:defRPr sz="2025" b="1">
                <a:solidFill>
                  <a:srgbClr val="18202A"/>
                </a:solidFill>
                <a:latin typeface="Arial"/>
                <a:ea typeface="Arial"/>
                <a:cs typeface="Arial"/>
              </a:defRPr>
            </a:lvl7pPr>
            <a:lvl8pPr>
              <a:defRPr sz="2025" b="1">
                <a:solidFill>
                  <a:srgbClr val="18202A"/>
                </a:solidFill>
                <a:latin typeface="Arial"/>
                <a:ea typeface="Arial"/>
                <a:cs typeface="Arial"/>
              </a:defRPr>
            </a:lvl8pPr>
            <a:lvl9pPr>
              <a:defRPr sz="2025" b="1">
                <a:solidFill>
                  <a:srgbClr val="18202A"/>
                </a:solidFill>
                <a:latin typeface="Arial"/>
                <a:ea typeface="Arial"/>
                <a:cs typeface="Arial"/>
              </a:defRPr>
            </a:lvl9pPr>
          </a:lstStyle>
          <a:p xmlns:a="http://schemas.openxmlformats.org/drawingml/2006/main">
            <a:pPr>
              <a:defRPr sz="2025" b="1">
                <a:solidFill>
                  <a:srgbClr val="18202A"/>
                </a:solidFill>
                <a:latin typeface="Arial"/>
                <a:ea typeface="Arial"/>
                <a:cs typeface="Arial"/>
              </a:defRPr>
            </a:pPr>
            <a:r>
              <a:rPr sz="2025" b="1">
                <a:solidFill>
                  <a:srgbClr val="18202A"/>
                </a:solidFill>
                <a:latin typeface="Arial"/>
                <a:ea typeface="Arial"/>
                <a:cs typeface="Arial"/>
              </a:rPr>
              <a:t>The NN uses only its own previous output for 500 steps.</a:t>
            </a:r>
          </a:p>
        </p:txBody>
      </p:sp>
      <p:graphicFrame>
        <p:nvGraphicFramePr>
          <p:cNvPr id="3" name="Chart">
            <a:extLst xmlns:a="http://schemas.openxmlformats.org/drawingml/2006/main">
              <a:ext uri="{FF2B5EF4-FFF2-40B4-BE49-F238E27FC236}">
                <a16:creationId xmlns:a16="http://schemas.microsoft.com/office/drawing/2014/main" id="{B3D91A26-6437-4D3B-922B-B659D3C0BE9C}"/>
              </a:ext>
            </a:extLst>
          </p:cNvPr>
          <p:cNvGraphicFramePr/>
          <p:nvPr/>
        </p:nvGraphicFramePr>
        <p:xfrm>
          <a:off xmlns:a="http://schemas.openxmlformats.org/drawingml/2006/main" x="552450" y="2047875"/>
          <a:ext xmlns:a="http://schemas.openxmlformats.org/drawingml/2006/main" cx="5381625" cy="3286125"/>
        </p:xfrm>
        <a:graphic xmlns:a="http://schemas.openxmlformats.org/drawingml/2006/main">
          <a:graphicData uri="http://schemas.openxmlformats.org/drawingml/2006/chart">
            <c:chart xmlns:r="http://schemas.openxmlformats.org/officeDocument/2006/relationships" xmlns:c="http://schemas.openxmlformats.org/drawingml/2006/chart" r:id="R015b00ee62fa4b5a"/>
          </a:graphicData>
        </a:graphic>
      </p:graphicFrame>
      <p:graphicFrame>
        <p:nvGraphicFramePr>
          <p:cNvPr id="4" name="Chart">
            <a:extLst xmlns:a="http://schemas.openxmlformats.org/drawingml/2006/main">
              <a:ext uri="{FF2B5EF4-FFF2-40B4-BE49-F238E27FC236}">
                <a16:creationId xmlns:a16="http://schemas.microsoft.com/office/drawing/2014/main" id="{3494118F-AD9F-40A0-80DA-F1345B3B4398}"/>
              </a:ext>
            </a:extLst>
          </p:cNvPr>
          <p:cNvGraphicFramePr/>
          <p:nvPr/>
        </p:nvGraphicFramePr>
        <p:xfrm>
          <a:off xmlns:a="http://schemas.openxmlformats.org/drawingml/2006/main" x="6257925" y="2047875"/>
          <a:ext xmlns:a="http://schemas.openxmlformats.org/drawingml/2006/main" cx="5381625" cy="3286125"/>
        </p:xfrm>
        <a:graphic xmlns:a="http://schemas.openxmlformats.org/drawingml/2006/main">
          <a:graphicData uri="http://schemas.openxmlformats.org/drawingml/2006/chart">
            <c:chart xmlns:r="http://schemas.openxmlformats.org/officeDocument/2006/relationships" xmlns:c="http://schemas.openxmlformats.org/drawingml/2006/chart" r:id="R67a890b8e2244c10"/>
          </a:graphicData>
        </a:graphic>
      </p:graphicFrame>
      <p:sp>
        <p:nvSpPr>
          <p:cNvPr id="5" name="">
            <a:extLst xmlns:a="http://schemas.openxmlformats.org/drawingml/2006/main">
              <a:ext uri="{FF2B5EF4-FFF2-40B4-BE49-F238E27FC236}">
                <a16:creationId xmlns:a16="http://schemas.microsoft.com/office/drawing/2014/main" id="{6B16626F-13F7-4BD2-8A46-7B23A2D3EF76}"/>
              </a:ext>
            </a:extLst>
          </p:cNvPr>
          <p:cNvSpPr>
            <a:spLocks xmlns:a="http://schemas.openxmlformats.org/drawingml/2006/main" noGrp="1"/>
          </p:cNvSpPr>
          <p:nvPr/>
        </p:nvSpPr>
        <p:spPr>
          <a:xfrm xmlns:a="http://schemas.openxmlformats.org/drawingml/2006/main">
            <a:off x="714375" y="5619750"/>
            <a:ext cx="50482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950" b="0">
                <a:solidFill>
                  <a:srgbClr val="18202A"/>
                </a:solidFill>
                <a:latin typeface="Arial"/>
                <a:ea typeface="Arial"/>
                <a:cs typeface="Arial"/>
              </a:defRPr>
            </a:defPPr>
            <a:lvl1pPr>
              <a:defRPr sz="1950" b="0">
                <a:solidFill>
                  <a:srgbClr val="18202A"/>
                </a:solidFill>
                <a:latin typeface="Arial"/>
                <a:ea typeface="Arial"/>
                <a:cs typeface="Arial"/>
              </a:defRPr>
            </a:lvl1pPr>
            <a:lvl2pPr>
              <a:defRPr sz="1950" b="0">
                <a:solidFill>
                  <a:srgbClr val="18202A"/>
                </a:solidFill>
                <a:latin typeface="Arial"/>
                <a:ea typeface="Arial"/>
                <a:cs typeface="Arial"/>
              </a:defRPr>
            </a:lvl2pPr>
            <a:lvl3pPr>
              <a:defRPr sz="1950" b="0">
                <a:solidFill>
                  <a:srgbClr val="18202A"/>
                </a:solidFill>
                <a:latin typeface="Arial"/>
                <a:ea typeface="Arial"/>
                <a:cs typeface="Arial"/>
              </a:defRPr>
            </a:lvl3pPr>
            <a:lvl4pPr>
              <a:defRPr sz="1950" b="0">
                <a:solidFill>
                  <a:srgbClr val="18202A"/>
                </a:solidFill>
                <a:latin typeface="Arial"/>
                <a:ea typeface="Arial"/>
                <a:cs typeface="Arial"/>
              </a:defRPr>
            </a:lvl4pPr>
            <a:lvl5pPr>
              <a:defRPr sz="1950" b="0">
                <a:solidFill>
                  <a:srgbClr val="18202A"/>
                </a:solidFill>
                <a:latin typeface="Arial"/>
                <a:ea typeface="Arial"/>
                <a:cs typeface="Arial"/>
              </a:defRPr>
            </a:lvl5pPr>
            <a:lvl6pPr>
              <a:defRPr sz="1950" b="0">
                <a:solidFill>
                  <a:srgbClr val="18202A"/>
                </a:solidFill>
                <a:latin typeface="Arial"/>
                <a:ea typeface="Arial"/>
                <a:cs typeface="Arial"/>
              </a:defRPr>
            </a:lvl6pPr>
            <a:lvl7pPr>
              <a:defRPr sz="1950" b="0">
                <a:solidFill>
                  <a:srgbClr val="18202A"/>
                </a:solidFill>
                <a:latin typeface="Arial"/>
                <a:ea typeface="Arial"/>
                <a:cs typeface="Arial"/>
              </a:defRPr>
            </a:lvl7pPr>
            <a:lvl8pPr>
              <a:defRPr sz="1950" b="0">
                <a:solidFill>
                  <a:srgbClr val="18202A"/>
                </a:solidFill>
                <a:latin typeface="Arial"/>
                <a:ea typeface="Arial"/>
                <a:cs typeface="Arial"/>
              </a:defRPr>
            </a:lvl8pPr>
            <a:lvl9pPr>
              <a:defRPr sz="1950" b="0">
                <a:solidFill>
                  <a:srgbClr val="18202A"/>
                </a:solidFill>
                <a:latin typeface="Arial"/>
                <a:ea typeface="Arial"/>
                <a:cs typeface="Arial"/>
              </a:defRPr>
            </a:lvl9pPr>
          </a:lstStyle>
          <a:p xmlns:a="http://schemas.openxmlformats.org/drawingml/2006/main">
            <a:pPr>
              <a:defRPr sz="1950" b="0">
                <a:solidFill>
                  <a:srgbClr val="18202A"/>
                </a:solidFill>
                <a:latin typeface="Arial"/>
                <a:ea typeface="Arial"/>
                <a:cs typeface="Arial"/>
              </a:defRPr>
            </a:pPr>
            <a:r>
              <a:rPr sz="1950" b="0">
                <a:solidFill>
                  <a:srgbClr val="18202A"/>
                </a:solidFill>
                <a:latin typeface="Arial"/>
                <a:ea typeface="Arial"/>
                <a:cs typeface="Arial"/>
              </a:rPr>
              <a:t>Trajectory 74 angle RMSE</a:t>
            </a:r>
          </a:p>
          <a:p xmlns:a="http://schemas.openxmlformats.org/drawingml/2006/main">
            <a:pPr>
              <a:defRPr sz="1950" b="0">
                <a:solidFill>
                  <a:srgbClr val="18202A"/>
                </a:solidFill>
                <a:latin typeface="Arial"/>
                <a:ea typeface="Arial"/>
                <a:cs typeface="Arial"/>
              </a:defRPr>
            </a:pPr>
            <a:r>
              <a:rPr sz="1950" b="0">
                <a:solidFill>
                  <a:srgbClr val="18202A"/>
                </a:solidFill>
                <a:latin typeface="Arial"/>
                <a:ea typeface="Arial"/>
                <a:cs typeface="Arial"/>
              </a:rPr>
              <a:t>0.0814 rad</a:t>
            </a:r>
          </a:p>
        </p:txBody>
      </p:sp>
      <p:sp>
        <p:nvSpPr>
          <p:cNvPr id="6" name="">
            <a:extLst xmlns:a="http://schemas.openxmlformats.org/drawingml/2006/main">
              <a:ext uri="{FF2B5EF4-FFF2-40B4-BE49-F238E27FC236}">
                <a16:creationId xmlns:a16="http://schemas.microsoft.com/office/drawing/2014/main" id="{E82E1DC5-1F1D-4F8C-8A29-99AB7ED42C7C}"/>
              </a:ext>
            </a:extLst>
          </p:cNvPr>
          <p:cNvSpPr>
            <a:spLocks xmlns:a="http://schemas.openxmlformats.org/drawingml/2006/main" noGrp="1"/>
          </p:cNvSpPr>
          <p:nvPr/>
        </p:nvSpPr>
        <p:spPr>
          <a:xfrm xmlns:a="http://schemas.openxmlformats.org/drawingml/2006/main">
            <a:off x="6477000" y="5619750"/>
            <a:ext cx="50482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950" b="1">
                <a:solidFill>
                  <a:srgbClr val="CB532C"/>
                </a:solidFill>
                <a:latin typeface="Arial"/>
                <a:ea typeface="Arial"/>
                <a:cs typeface="Arial"/>
              </a:defRPr>
            </a:defPPr>
            <a:lvl1pPr>
              <a:defRPr sz="1950" b="1">
                <a:solidFill>
                  <a:srgbClr val="CB532C"/>
                </a:solidFill>
                <a:latin typeface="Arial"/>
                <a:ea typeface="Arial"/>
                <a:cs typeface="Arial"/>
              </a:defRPr>
            </a:lvl1pPr>
            <a:lvl2pPr>
              <a:defRPr sz="1950" b="1">
                <a:solidFill>
                  <a:srgbClr val="CB532C"/>
                </a:solidFill>
                <a:latin typeface="Arial"/>
                <a:ea typeface="Arial"/>
                <a:cs typeface="Arial"/>
              </a:defRPr>
            </a:lvl2pPr>
            <a:lvl3pPr>
              <a:defRPr sz="1950" b="1">
                <a:solidFill>
                  <a:srgbClr val="CB532C"/>
                </a:solidFill>
                <a:latin typeface="Arial"/>
                <a:ea typeface="Arial"/>
                <a:cs typeface="Arial"/>
              </a:defRPr>
            </a:lvl3pPr>
            <a:lvl4pPr>
              <a:defRPr sz="1950" b="1">
                <a:solidFill>
                  <a:srgbClr val="CB532C"/>
                </a:solidFill>
                <a:latin typeface="Arial"/>
                <a:ea typeface="Arial"/>
                <a:cs typeface="Arial"/>
              </a:defRPr>
            </a:lvl4pPr>
            <a:lvl5pPr>
              <a:defRPr sz="1950" b="1">
                <a:solidFill>
                  <a:srgbClr val="CB532C"/>
                </a:solidFill>
                <a:latin typeface="Arial"/>
                <a:ea typeface="Arial"/>
                <a:cs typeface="Arial"/>
              </a:defRPr>
            </a:lvl5pPr>
            <a:lvl6pPr>
              <a:defRPr sz="1950" b="1">
                <a:solidFill>
                  <a:srgbClr val="CB532C"/>
                </a:solidFill>
                <a:latin typeface="Arial"/>
                <a:ea typeface="Arial"/>
                <a:cs typeface="Arial"/>
              </a:defRPr>
            </a:lvl6pPr>
            <a:lvl7pPr>
              <a:defRPr sz="1950" b="1">
                <a:solidFill>
                  <a:srgbClr val="CB532C"/>
                </a:solidFill>
                <a:latin typeface="Arial"/>
                <a:ea typeface="Arial"/>
                <a:cs typeface="Arial"/>
              </a:defRPr>
            </a:lvl7pPr>
            <a:lvl8pPr>
              <a:defRPr sz="1950" b="1">
                <a:solidFill>
                  <a:srgbClr val="CB532C"/>
                </a:solidFill>
                <a:latin typeface="Arial"/>
                <a:ea typeface="Arial"/>
                <a:cs typeface="Arial"/>
              </a:defRPr>
            </a:lvl8pPr>
            <a:lvl9pPr>
              <a:defRPr sz="1950" b="1">
                <a:solidFill>
                  <a:srgbClr val="CB532C"/>
                </a:solidFill>
                <a:latin typeface="Arial"/>
                <a:ea typeface="Arial"/>
                <a:cs typeface="Arial"/>
              </a:defRPr>
            </a:lvl9pPr>
          </a:lstStyle>
          <a:p xmlns:a="http://schemas.openxmlformats.org/drawingml/2006/main">
            <a:pPr>
              <a:defRPr sz="1950" b="1">
                <a:solidFill>
                  <a:srgbClr val="CB532C"/>
                </a:solidFill>
                <a:latin typeface="Arial"/>
                <a:ea typeface="Arial"/>
                <a:cs typeface="Arial"/>
              </a:defRPr>
            </a:pPr>
            <a:r>
              <a:rPr sz="1950" b="1">
                <a:solidFill>
                  <a:srgbClr val="CB532C"/>
                </a:solidFill>
                <a:latin typeface="Arial"/>
                <a:ea typeface="Arial"/>
                <a:cs typeface="Arial"/>
              </a:rPr>
              <a:t>OOD angle RMSE</a:t>
            </a:r>
          </a:p>
          <a:p xmlns:a="http://schemas.openxmlformats.org/drawingml/2006/main">
            <a:pPr>
              <a:defRPr sz="1950" b="1">
                <a:solidFill>
                  <a:srgbClr val="CB532C"/>
                </a:solidFill>
                <a:latin typeface="Arial"/>
                <a:ea typeface="Arial"/>
                <a:cs typeface="Arial"/>
              </a:defRPr>
            </a:pPr>
            <a:r>
              <a:rPr sz="1950" b="1">
                <a:solidFill>
                  <a:srgbClr val="CB532C"/>
                </a:solidFill>
                <a:latin typeface="Arial"/>
                <a:ea typeface="Arial"/>
                <a:cs typeface="Arial"/>
              </a:rPr>
              <a:t>0.4989 rad</a:t>
            </a:r>
          </a:p>
        </p:txBody>
      </p:sp>
    </p:spTree>
    <p:extLst>
      <p:ext uri="{BB962C8B-B14F-4D97-AF65-F5344CB8AC3E}">
        <p14:creationId xmlns:p14="http://schemas.microsoft.com/office/powerpoint/2010/main" val="1888702408"/>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5E40F06C-CD08-4786-944B-09684C5B8965}"/>
              </a:ext>
            </a:extLst>
          </p:cNvPr>
          <p:cNvSpPr>
            <a:spLocks xmlns:a="http://schemas.openxmlformats.org/drawingml/2006/main" noGrp="1"/>
          </p:cNvSpPr>
          <p:nvPr/>
        </p:nvSpPr>
        <p:spPr>
          <a:xfrm xmlns:a="http://schemas.openxmlformats.org/drawingml/2006/main">
            <a:off x="609600" y="40005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3300" b="1">
                <a:solidFill>
                  <a:srgbClr val="18202A"/>
                </a:solidFill>
                <a:latin typeface="Arial"/>
                <a:ea typeface="Arial"/>
                <a:cs typeface="Arial"/>
              </a:defRPr>
            </a:defPPr>
            <a:lvl1pPr>
              <a:defRPr sz="3300" b="1">
                <a:solidFill>
                  <a:srgbClr val="18202A"/>
                </a:solidFill>
                <a:latin typeface="Arial"/>
                <a:ea typeface="Arial"/>
                <a:cs typeface="Arial"/>
              </a:defRPr>
            </a:lvl1pPr>
            <a:lvl2pPr>
              <a:defRPr sz="3300" b="1">
                <a:solidFill>
                  <a:srgbClr val="18202A"/>
                </a:solidFill>
                <a:latin typeface="Arial"/>
                <a:ea typeface="Arial"/>
                <a:cs typeface="Arial"/>
              </a:defRPr>
            </a:lvl2pPr>
            <a:lvl3pPr>
              <a:defRPr sz="3300" b="1">
                <a:solidFill>
                  <a:srgbClr val="18202A"/>
                </a:solidFill>
                <a:latin typeface="Arial"/>
                <a:ea typeface="Arial"/>
                <a:cs typeface="Arial"/>
              </a:defRPr>
            </a:lvl3pPr>
            <a:lvl4pPr>
              <a:defRPr sz="3300" b="1">
                <a:solidFill>
                  <a:srgbClr val="18202A"/>
                </a:solidFill>
                <a:latin typeface="Arial"/>
                <a:ea typeface="Arial"/>
                <a:cs typeface="Arial"/>
              </a:defRPr>
            </a:lvl4pPr>
            <a:lvl5pPr>
              <a:defRPr sz="3300" b="1">
                <a:solidFill>
                  <a:srgbClr val="18202A"/>
                </a:solidFill>
                <a:latin typeface="Arial"/>
                <a:ea typeface="Arial"/>
                <a:cs typeface="Arial"/>
              </a:defRPr>
            </a:lvl5pPr>
            <a:lvl6pPr>
              <a:defRPr sz="3300" b="1">
                <a:solidFill>
                  <a:srgbClr val="18202A"/>
                </a:solidFill>
                <a:latin typeface="Arial"/>
                <a:ea typeface="Arial"/>
                <a:cs typeface="Arial"/>
              </a:defRPr>
            </a:lvl6pPr>
            <a:lvl7pPr>
              <a:defRPr sz="3300" b="1">
                <a:solidFill>
                  <a:srgbClr val="18202A"/>
                </a:solidFill>
                <a:latin typeface="Arial"/>
                <a:ea typeface="Arial"/>
                <a:cs typeface="Arial"/>
              </a:defRPr>
            </a:lvl7pPr>
            <a:lvl8pPr>
              <a:defRPr sz="3300" b="1">
                <a:solidFill>
                  <a:srgbClr val="18202A"/>
                </a:solidFill>
                <a:latin typeface="Arial"/>
                <a:ea typeface="Arial"/>
                <a:cs typeface="Arial"/>
              </a:defRPr>
            </a:lvl8pPr>
            <a:lvl9pPr>
              <a:defRPr sz="3300" b="1">
                <a:solidFill>
                  <a:srgbClr val="18202A"/>
                </a:solidFill>
                <a:latin typeface="Arial"/>
                <a:ea typeface="Arial"/>
                <a:cs typeface="Arial"/>
              </a:defRPr>
            </a:lvl9pPr>
          </a:lstStyle>
          <a:p xmlns:a="http://schemas.openxmlformats.org/drawingml/2006/main">
            <a:pPr>
              <a:defRPr sz="3300" b="1">
                <a:solidFill>
                  <a:srgbClr val="18202A"/>
                </a:solidFill>
                <a:latin typeface="Arial"/>
                <a:ea typeface="Arial"/>
                <a:cs typeface="Arial"/>
              </a:defRPr>
            </a:pPr>
            <a:r>
              <a:rPr sz="3300" b="1">
                <a:solidFill>
                  <a:srgbClr val="18202A"/>
                </a:solidFill>
                <a:latin typeface="Arial"/>
                <a:ea typeface="Arial"/>
                <a:cs typeface="Arial"/>
              </a:rPr>
              <a:t>Rust and Python Benchmark</a:t>
            </a:r>
          </a:p>
        </p:txBody>
      </p:sp>
      <p:graphicFrame>
        <p:nvGraphicFramePr>
          <p:cNvPr id="2" name="Chart">
            <a:extLst xmlns:a="http://schemas.openxmlformats.org/drawingml/2006/main">
              <a:ext uri="{FF2B5EF4-FFF2-40B4-BE49-F238E27FC236}">
                <a16:creationId xmlns:a16="http://schemas.microsoft.com/office/drawing/2014/main" id="{55D5A632-6ECB-4E95-A3BF-57F7681002B4}"/>
              </a:ext>
            </a:extLst>
          </p:cNvPr>
          <p:cNvGraphicFramePr/>
          <p:nvPr/>
        </p:nvGraphicFramePr>
        <p:xfrm>
          <a:off xmlns:a="http://schemas.openxmlformats.org/drawingml/2006/main" x="666750" y="1714500"/>
          <a:ext xmlns:a="http://schemas.openxmlformats.org/drawingml/2006/main" cx="6191250" cy="4000500"/>
        </p:xfrm>
        <a:graphic xmlns:a="http://schemas.openxmlformats.org/drawingml/2006/main">
          <a:graphicData uri="http://schemas.openxmlformats.org/drawingml/2006/chart">
            <c:chart xmlns:r="http://schemas.openxmlformats.org/officeDocument/2006/relationships" xmlns:c="http://schemas.openxmlformats.org/drawingml/2006/chart" r:id="R634ec96fba1b44f5"/>
          </a:graphicData>
        </a:graphic>
      </p:graphicFrame>
      <p:sp>
        <p:nvSpPr>
          <p:cNvPr id="3" name="">
            <a:extLst xmlns:a="http://schemas.openxmlformats.org/drawingml/2006/main">
              <a:ext uri="{FF2B5EF4-FFF2-40B4-BE49-F238E27FC236}">
                <a16:creationId xmlns:a16="http://schemas.microsoft.com/office/drawing/2014/main" id="{117D975A-4E06-42B5-A256-C89399BE5809}"/>
              </a:ext>
            </a:extLst>
          </p:cNvPr>
          <p:cNvSpPr>
            <a:spLocks xmlns:a="http://schemas.openxmlformats.org/drawingml/2006/main" noGrp="1"/>
          </p:cNvSpPr>
          <p:nvPr/>
        </p:nvSpPr>
        <p:spPr>
          <a:xfrm xmlns:a="http://schemas.openxmlformats.org/drawingml/2006/main">
            <a:off x="7572375" y="1952625"/>
            <a:ext cx="4000500" cy="1809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100" b="1">
                <a:solidFill>
                  <a:srgbClr val="18202A"/>
                </a:solidFill>
                <a:latin typeface="Arial"/>
                <a:ea typeface="Arial"/>
                <a:cs typeface="Arial"/>
              </a:defRPr>
            </a:defPPr>
            <a:lvl1pPr>
              <a:defRPr sz="2100" b="1">
                <a:solidFill>
                  <a:srgbClr val="18202A"/>
                </a:solidFill>
                <a:latin typeface="Arial"/>
                <a:ea typeface="Arial"/>
                <a:cs typeface="Arial"/>
              </a:defRPr>
            </a:lvl1pPr>
            <a:lvl2pPr>
              <a:defRPr sz="2100" b="1">
                <a:solidFill>
                  <a:srgbClr val="18202A"/>
                </a:solidFill>
                <a:latin typeface="Arial"/>
                <a:ea typeface="Arial"/>
                <a:cs typeface="Arial"/>
              </a:defRPr>
            </a:lvl2pPr>
            <a:lvl3pPr>
              <a:defRPr sz="2100" b="1">
                <a:solidFill>
                  <a:srgbClr val="18202A"/>
                </a:solidFill>
                <a:latin typeface="Arial"/>
                <a:ea typeface="Arial"/>
                <a:cs typeface="Arial"/>
              </a:defRPr>
            </a:lvl3pPr>
            <a:lvl4pPr>
              <a:defRPr sz="2100" b="1">
                <a:solidFill>
                  <a:srgbClr val="18202A"/>
                </a:solidFill>
                <a:latin typeface="Arial"/>
                <a:ea typeface="Arial"/>
                <a:cs typeface="Arial"/>
              </a:defRPr>
            </a:lvl4pPr>
            <a:lvl5pPr>
              <a:defRPr sz="2100" b="1">
                <a:solidFill>
                  <a:srgbClr val="18202A"/>
                </a:solidFill>
                <a:latin typeface="Arial"/>
                <a:ea typeface="Arial"/>
                <a:cs typeface="Arial"/>
              </a:defRPr>
            </a:lvl5pPr>
            <a:lvl6pPr>
              <a:defRPr sz="2100" b="1">
                <a:solidFill>
                  <a:srgbClr val="18202A"/>
                </a:solidFill>
                <a:latin typeface="Arial"/>
                <a:ea typeface="Arial"/>
                <a:cs typeface="Arial"/>
              </a:defRPr>
            </a:lvl6pPr>
            <a:lvl7pPr>
              <a:defRPr sz="2100" b="1">
                <a:solidFill>
                  <a:srgbClr val="18202A"/>
                </a:solidFill>
                <a:latin typeface="Arial"/>
                <a:ea typeface="Arial"/>
                <a:cs typeface="Arial"/>
              </a:defRPr>
            </a:lvl7pPr>
            <a:lvl8pPr>
              <a:defRPr sz="2100" b="1">
                <a:solidFill>
                  <a:srgbClr val="18202A"/>
                </a:solidFill>
                <a:latin typeface="Arial"/>
                <a:ea typeface="Arial"/>
                <a:cs typeface="Arial"/>
              </a:defRPr>
            </a:lvl8pPr>
            <a:lvl9pPr>
              <a:defRPr sz="2100" b="1">
                <a:solidFill>
                  <a:srgbClr val="18202A"/>
                </a:solidFill>
                <a:latin typeface="Arial"/>
                <a:ea typeface="Arial"/>
                <a:cs typeface="Arial"/>
              </a:defRPr>
            </a:lvl9pPr>
          </a:lstStyle>
          <a:p xmlns:a="http://schemas.openxmlformats.org/drawingml/2006/main">
            <a:pPr>
              <a:defRPr sz="2100" b="1">
                <a:solidFill>
                  <a:srgbClr val="18202A"/>
                </a:solidFill>
                <a:latin typeface="Arial"/>
                <a:ea typeface="Arial"/>
                <a:cs typeface="Arial"/>
              </a:defRPr>
            </a:pPr>
            <a:r>
              <a:rPr sz="2100" b="1">
                <a:solidFill>
                  <a:srgbClr val="18202A"/>
                </a:solidFill>
                <a:latin typeface="Arial"/>
                <a:ea typeface="Arial"/>
                <a:cs typeface="Arial"/>
              </a:rPr>
              <a:t>Same f64 data</a:t>
            </a:r>
          </a:p>
          <a:p xmlns:a="http://schemas.openxmlformats.org/drawingml/2006/main">
            <a:pPr>
              <a:defRPr sz="2100" b="1">
                <a:solidFill>
                  <a:srgbClr val="18202A"/>
                </a:solidFill>
                <a:latin typeface="Arial"/>
                <a:ea typeface="Arial"/>
                <a:cs typeface="Arial"/>
              </a:defRPr>
            </a:pPr>
            <a:r>
              <a:rPr sz="2100" b="1">
                <a:solidFill>
                  <a:srgbClr val="18202A"/>
                </a:solidFill>
                <a:latin typeface="Arial"/>
                <a:ea typeface="Arial"/>
                <a:cs typeface="Arial"/>
              </a:rPr>
              <a:t>Same initial weights</a:t>
            </a:r>
          </a:p>
          <a:p xmlns:a="http://schemas.openxmlformats.org/drawingml/2006/main">
            <a:pPr>
              <a:defRPr sz="2100" b="1">
                <a:solidFill>
                  <a:srgbClr val="18202A"/>
                </a:solidFill>
                <a:latin typeface="Arial"/>
                <a:ea typeface="Arial"/>
                <a:cs typeface="Arial"/>
              </a:defRPr>
            </a:pPr>
            <a:r>
              <a:rPr sz="2100" b="1">
                <a:solidFill>
                  <a:srgbClr val="18202A"/>
                </a:solidFill>
                <a:latin typeface="Arial"/>
                <a:ea typeface="Arial"/>
                <a:cs typeface="Arial"/>
              </a:rPr>
              <a:t>Same batch permutations</a:t>
            </a:r>
          </a:p>
          <a:p xmlns:a="http://schemas.openxmlformats.org/drawingml/2006/main">
            <a:pPr>
              <a:defRPr sz="2100" b="1">
                <a:solidFill>
                  <a:srgbClr val="18202A"/>
                </a:solidFill>
                <a:latin typeface="Arial"/>
                <a:ea typeface="Arial"/>
                <a:cs typeface="Arial"/>
              </a:defRPr>
            </a:pPr>
            <a:r>
              <a:rPr sz="2100" b="1">
                <a:solidFill>
                  <a:srgbClr val="18202A"/>
                </a:solidFill>
                <a:latin typeface="Arial"/>
                <a:ea typeface="Arial"/>
                <a:cs typeface="Arial"/>
              </a:rPr>
              <a:t>50 epochs per run</a:t>
            </a:r>
          </a:p>
        </p:txBody>
      </p:sp>
      <p:sp>
        <p:nvSpPr>
          <p:cNvPr id="4" name="">
            <a:extLst xmlns:a="http://schemas.openxmlformats.org/drawingml/2006/main">
              <a:ext uri="{FF2B5EF4-FFF2-40B4-BE49-F238E27FC236}">
                <a16:creationId xmlns:a16="http://schemas.microsoft.com/office/drawing/2014/main" id="{AA189790-904B-43AB-8E07-E4C9D95F625D}"/>
              </a:ext>
            </a:extLst>
          </p:cNvPr>
          <p:cNvSpPr>
            <a:spLocks xmlns:a="http://schemas.openxmlformats.org/drawingml/2006/main" noGrp="1"/>
          </p:cNvSpPr>
          <p:nvPr/>
        </p:nvSpPr>
        <p:spPr>
          <a:xfrm xmlns:a="http://schemas.openxmlformats.org/drawingml/2006/main">
            <a:off x="7572375" y="4191000"/>
            <a:ext cx="400050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875" b="0">
                <a:solidFill>
                  <a:srgbClr val="18202A"/>
                </a:solidFill>
                <a:latin typeface="Arial"/>
                <a:ea typeface="Arial"/>
                <a:cs typeface="Arial"/>
              </a:defRPr>
            </a:defPPr>
            <a:lvl1pPr>
              <a:defRPr sz="1875" b="0">
                <a:solidFill>
                  <a:srgbClr val="18202A"/>
                </a:solidFill>
                <a:latin typeface="Arial"/>
                <a:ea typeface="Arial"/>
                <a:cs typeface="Arial"/>
              </a:defRPr>
            </a:lvl1pPr>
            <a:lvl2pPr>
              <a:defRPr sz="1875" b="0">
                <a:solidFill>
                  <a:srgbClr val="18202A"/>
                </a:solidFill>
                <a:latin typeface="Arial"/>
                <a:ea typeface="Arial"/>
                <a:cs typeface="Arial"/>
              </a:defRPr>
            </a:lvl2pPr>
            <a:lvl3pPr>
              <a:defRPr sz="1875" b="0">
                <a:solidFill>
                  <a:srgbClr val="18202A"/>
                </a:solidFill>
                <a:latin typeface="Arial"/>
                <a:ea typeface="Arial"/>
                <a:cs typeface="Arial"/>
              </a:defRPr>
            </a:lvl3pPr>
            <a:lvl4pPr>
              <a:defRPr sz="1875" b="0">
                <a:solidFill>
                  <a:srgbClr val="18202A"/>
                </a:solidFill>
                <a:latin typeface="Arial"/>
                <a:ea typeface="Arial"/>
                <a:cs typeface="Arial"/>
              </a:defRPr>
            </a:lvl4pPr>
            <a:lvl5pPr>
              <a:defRPr sz="1875" b="0">
                <a:solidFill>
                  <a:srgbClr val="18202A"/>
                </a:solidFill>
                <a:latin typeface="Arial"/>
                <a:ea typeface="Arial"/>
                <a:cs typeface="Arial"/>
              </a:defRPr>
            </a:lvl5pPr>
            <a:lvl6pPr>
              <a:defRPr sz="1875" b="0">
                <a:solidFill>
                  <a:srgbClr val="18202A"/>
                </a:solidFill>
                <a:latin typeface="Arial"/>
                <a:ea typeface="Arial"/>
                <a:cs typeface="Arial"/>
              </a:defRPr>
            </a:lvl6pPr>
            <a:lvl7pPr>
              <a:defRPr sz="1875" b="0">
                <a:solidFill>
                  <a:srgbClr val="18202A"/>
                </a:solidFill>
                <a:latin typeface="Arial"/>
                <a:ea typeface="Arial"/>
                <a:cs typeface="Arial"/>
              </a:defRPr>
            </a:lvl7pPr>
            <a:lvl8pPr>
              <a:defRPr sz="1875" b="0">
                <a:solidFill>
                  <a:srgbClr val="18202A"/>
                </a:solidFill>
                <a:latin typeface="Arial"/>
                <a:ea typeface="Arial"/>
                <a:cs typeface="Arial"/>
              </a:defRPr>
            </a:lvl8pPr>
            <a:lvl9pPr>
              <a:defRPr sz="1875" b="0">
                <a:solidFill>
                  <a:srgbClr val="18202A"/>
                </a:solidFill>
                <a:latin typeface="Arial"/>
                <a:ea typeface="Arial"/>
                <a:cs typeface="Arial"/>
              </a:defRPr>
            </a:lvl9pPr>
          </a:lstStyle>
          <a:p xmlns:a="http://schemas.openxmlformats.org/drawingml/2006/main">
            <a:pPr>
              <a:defRPr sz="1875" b="0">
                <a:solidFill>
                  <a:srgbClr val="18202A"/>
                </a:solidFill>
                <a:latin typeface="Arial"/>
                <a:ea typeface="Arial"/>
                <a:cs typeface="Arial"/>
              </a:defRPr>
            </a:pPr>
            <a:r>
              <a:rPr sz="1875" b="0">
                <a:solidFill>
                  <a:srgbClr val="18202A"/>
                </a:solidFill>
                <a:latin typeface="Arial"/>
                <a:ea typeface="Arial"/>
                <a:cs typeface="Arial"/>
              </a:rPr>
              <a:t>1 warmup + 5 timed runs</a:t>
            </a:r>
          </a:p>
          <a:p xmlns:a="http://schemas.openxmlformats.org/drawingml/2006/main">
            <a:pPr>
              <a:defRPr sz="1875" b="0">
                <a:solidFill>
                  <a:srgbClr val="18202A"/>
                </a:solidFill>
                <a:latin typeface="Arial"/>
                <a:ea typeface="Arial"/>
                <a:cs typeface="Arial"/>
              </a:defRPr>
            </a:pPr>
            <a:r>
              <a:rPr sz="1875" b="0">
                <a:solidFill>
                  <a:srgbClr val="18202A"/>
                </a:solidFill>
                <a:latin typeface="Arial"/>
                <a:ea typeface="Arial"/>
                <a:cs typeface="Arial"/>
              </a:rPr>
              <a:t>Single-thread configuration</a:t>
            </a:r>
          </a:p>
          <a:p xmlns:a="http://schemas.openxmlformats.org/drawingml/2006/main">
            <a:pPr>
              <a:defRPr sz="1875" b="0">
                <a:solidFill>
                  <a:srgbClr val="18202A"/>
                </a:solidFill>
                <a:latin typeface="Arial"/>
                <a:ea typeface="Arial"/>
                <a:cs typeface="Arial"/>
              </a:defRPr>
            </a:pPr>
            <a:r>
              <a:rPr sz="1875" b="0">
                <a:solidFill>
                  <a:srgbClr val="18202A"/>
                </a:solidFill>
                <a:latin typeface="Arial"/>
                <a:ea typeface="Arial"/>
                <a:cs typeface="Arial"/>
              </a:rPr>
              <a:t>No startup, I/O or validation</a:t>
            </a:r>
          </a:p>
        </p:txBody>
      </p:sp>
      <p:sp>
        <p:nvSpPr>
          <p:cNvPr id="5" name="">
            <a:extLst xmlns:a="http://schemas.openxmlformats.org/drawingml/2006/main">
              <a:ext uri="{FF2B5EF4-FFF2-40B4-BE49-F238E27FC236}">
                <a16:creationId xmlns:a16="http://schemas.microsoft.com/office/drawing/2014/main" id="{1E496048-6DC2-46C5-925A-165492FC89C3}"/>
              </a:ext>
            </a:extLst>
          </p:cNvPr>
          <p:cNvSpPr>
            <a:spLocks xmlns:a="http://schemas.openxmlformats.org/drawingml/2006/main" noGrp="1"/>
          </p:cNvSpPr>
          <p:nvPr/>
        </p:nvSpPr>
        <p:spPr>
          <a:xfrm xmlns:a="http://schemas.openxmlformats.org/drawingml/2006/main">
            <a:off x="666750" y="6048375"/>
            <a:ext cx="10858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800" b="0">
                <a:solidFill>
                  <a:srgbClr val="535E6C"/>
                </a:solidFill>
                <a:latin typeface="Arial"/>
                <a:ea typeface="Arial"/>
                <a:cs typeface="Arial"/>
              </a:defRPr>
            </a:defPPr>
            <a:lvl1pPr>
              <a:defRPr sz="1800" b="0">
                <a:solidFill>
                  <a:srgbClr val="535E6C"/>
                </a:solidFill>
                <a:latin typeface="Arial"/>
                <a:ea typeface="Arial"/>
                <a:cs typeface="Arial"/>
              </a:defRPr>
            </a:lvl1pPr>
            <a:lvl2pPr>
              <a:defRPr sz="1800" b="0">
                <a:solidFill>
                  <a:srgbClr val="535E6C"/>
                </a:solidFill>
                <a:latin typeface="Arial"/>
                <a:ea typeface="Arial"/>
                <a:cs typeface="Arial"/>
              </a:defRPr>
            </a:lvl2pPr>
            <a:lvl3pPr>
              <a:defRPr sz="1800" b="0">
                <a:solidFill>
                  <a:srgbClr val="535E6C"/>
                </a:solidFill>
                <a:latin typeface="Arial"/>
                <a:ea typeface="Arial"/>
                <a:cs typeface="Arial"/>
              </a:defRPr>
            </a:lvl3pPr>
            <a:lvl4pPr>
              <a:defRPr sz="1800" b="0">
                <a:solidFill>
                  <a:srgbClr val="535E6C"/>
                </a:solidFill>
                <a:latin typeface="Arial"/>
                <a:ea typeface="Arial"/>
                <a:cs typeface="Arial"/>
              </a:defRPr>
            </a:lvl4pPr>
            <a:lvl5pPr>
              <a:defRPr sz="1800" b="0">
                <a:solidFill>
                  <a:srgbClr val="535E6C"/>
                </a:solidFill>
                <a:latin typeface="Arial"/>
                <a:ea typeface="Arial"/>
                <a:cs typeface="Arial"/>
              </a:defRPr>
            </a:lvl5pPr>
            <a:lvl6pPr>
              <a:defRPr sz="1800" b="0">
                <a:solidFill>
                  <a:srgbClr val="535E6C"/>
                </a:solidFill>
                <a:latin typeface="Arial"/>
                <a:ea typeface="Arial"/>
                <a:cs typeface="Arial"/>
              </a:defRPr>
            </a:lvl6pPr>
            <a:lvl7pPr>
              <a:defRPr sz="1800" b="0">
                <a:solidFill>
                  <a:srgbClr val="535E6C"/>
                </a:solidFill>
                <a:latin typeface="Arial"/>
                <a:ea typeface="Arial"/>
                <a:cs typeface="Arial"/>
              </a:defRPr>
            </a:lvl7pPr>
            <a:lvl8pPr>
              <a:defRPr sz="1800" b="0">
                <a:solidFill>
                  <a:srgbClr val="535E6C"/>
                </a:solidFill>
                <a:latin typeface="Arial"/>
                <a:ea typeface="Arial"/>
                <a:cs typeface="Arial"/>
              </a:defRPr>
            </a:lvl8pPr>
            <a:lvl9pPr>
              <a:defRPr sz="1800" b="0">
                <a:solidFill>
                  <a:srgbClr val="535E6C"/>
                </a:solidFill>
                <a:latin typeface="Arial"/>
                <a:ea typeface="Arial"/>
                <a:cs typeface="Arial"/>
              </a:defRPr>
            </a:lvl9pPr>
          </a:lstStyle>
          <a:p xmlns:a="http://schemas.openxmlformats.org/drawingml/2006/main">
            <a:pPr>
              <a:defRPr sz="1800" b="0">
                <a:solidFill>
                  <a:srgbClr val="535E6C"/>
                </a:solidFill>
                <a:latin typeface="Arial"/>
                <a:ea typeface="Arial"/>
                <a:cs typeface="Arial"/>
              </a:defRPr>
            </a:pPr>
            <a:r>
              <a:rPr sz="1800" b="0">
                <a:solidFill>
                  <a:srgbClr val="535E6C"/>
                </a:solidFill>
                <a:latin typeface="Arial"/>
                <a:ea typeface="Arial"/>
                <a:cs typeface="Arial"/>
              </a:rPr>
              <a:t>Backend-specific result on this machine. Numerical parity passes near roundoff.</a:t>
            </a:r>
          </a:p>
        </p:txBody>
      </p:sp>
    </p:spTree>
    <p:extLst>
      <p:ext uri="{BB962C8B-B14F-4D97-AF65-F5344CB8AC3E}">
        <p14:creationId xmlns:p14="http://schemas.microsoft.com/office/powerpoint/2010/main" val="854956063"/>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1B0BC99C-65BA-4FC0-94BF-2B425BC923C0}"/>
              </a:ext>
            </a:extLst>
          </p:cNvPr>
          <p:cNvSpPr>
            <a:spLocks xmlns:a="http://schemas.openxmlformats.org/drawingml/2006/main" noGrp="1"/>
          </p:cNvSpPr>
          <p:nvPr/>
        </p:nvSpPr>
        <p:spPr>
          <a:xfrm xmlns:a="http://schemas.openxmlformats.org/drawingml/2006/main">
            <a:off x="609600" y="40005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3300" b="1">
                <a:solidFill>
                  <a:srgbClr val="18202A"/>
                </a:solidFill>
                <a:latin typeface="Arial"/>
                <a:ea typeface="Arial"/>
                <a:cs typeface="Arial"/>
              </a:defRPr>
            </a:defPPr>
            <a:lvl1pPr>
              <a:defRPr sz="3300" b="1">
                <a:solidFill>
                  <a:srgbClr val="18202A"/>
                </a:solidFill>
                <a:latin typeface="Arial"/>
                <a:ea typeface="Arial"/>
                <a:cs typeface="Arial"/>
              </a:defRPr>
            </a:lvl1pPr>
            <a:lvl2pPr>
              <a:defRPr sz="3300" b="1">
                <a:solidFill>
                  <a:srgbClr val="18202A"/>
                </a:solidFill>
                <a:latin typeface="Arial"/>
                <a:ea typeface="Arial"/>
                <a:cs typeface="Arial"/>
              </a:defRPr>
            </a:lvl2pPr>
            <a:lvl3pPr>
              <a:defRPr sz="3300" b="1">
                <a:solidFill>
                  <a:srgbClr val="18202A"/>
                </a:solidFill>
                <a:latin typeface="Arial"/>
                <a:ea typeface="Arial"/>
                <a:cs typeface="Arial"/>
              </a:defRPr>
            </a:lvl3pPr>
            <a:lvl4pPr>
              <a:defRPr sz="3300" b="1">
                <a:solidFill>
                  <a:srgbClr val="18202A"/>
                </a:solidFill>
                <a:latin typeface="Arial"/>
                <a:ea typeface="Arial"/>
                <a:cs typeface="Arial"/>
              </a:defRPr>
            </a:lvl4pPr>
            <a:lvl5pPr>
              <a:defRPr sz="3300" b="1">
                <a:solidFill>
                  <a:srgbClr val="18202A"/>
                </a:solidFill>
                <a:latin typeface="Arial"/>
                <a:ea typeface="Arial"/>
                <a:cs typeface="Arial"/>
              </a:defRPr>
            </a:lvl5pPr>
            <a:lvl6pPr>
              <a:defRPr sz="3300" b="1">
                <a:solidFill>
                  <a:srgbClr val="18202A"/>
                </a:solidFill>
                <a:latin typeface="Arial"/>
                <a:ea typeface="Arial"/>
                <a:cs typeface="Arial"/>
              </a:defRPr>
            </a:lvl6pPr>
            <a:lvl7pPr>
              <a:defRPr sz="3300" b="1">
                <a:solidFill>
                  <a:srgbClr val="18202A"/>
                </a:solidFill>
                <a:latin typeface="Arial"/>
                <a:ea typeface="Arial"/>
                <a:cs typeface="Arial"/>
              </a:defRPr>
            </a:lvl7pPr>
            <a:lvl8pPr>
              <a:defRPr sz="3300" b="1">
                <a:solidFill>
                  <a:srgbClr val="18202A"/>
                </a:solidFill>
                <a:latin typeface="Arial"/>
                <a:ea typeface="Arial"/>
                <a:cs typeface="Arial"/>
              </a:defRPr>
            </a:lvl8pPr>
            <a:lvl9pPr>
              <a:defRPr sz="3300" b="1">
                <a:solidFill>
                  <a:srgbClr val="18202A"/>
                </a:solidFill>
                <a:latin typeface="Arial"/>
                <a:ea typeface="Arial"/>
                <a:cs typeface="Arial"/>
              </a:defRPr>
            </a:lvl9pPr>
          </a:lstStyle>
          <a:p xmlns:a="http://schemas.openxmlformats.org/drawingml/2006/main">
            <a:pPr>
              <a:defRPr sz="3300" b="1">
                <a:solidFill>
                  <a:srgbClr val="18202A"/>
                </a:solidFill>
                <a:latin typeface="Arial"/>
                <a:ea typeface="Arial"/>
                <a:cs typeface="Arial"/>
              </a:defRPr>
            </a:pPr>
            <a:r>
              <a:rPr sz="3300" b="1">
                <a:solidFill>
                  <a:srgbClr val="18202A"/>
                </a:solidFill>
                <a:latin typeface="Arial"/>
                <a:ea typeface="Arial"/>
                <a:cs typeface="Arial"/>
              </a:rPr>
              <a:t>Live Demonstration</a:t>
            </a:r>
          </a:p>
        </p:txBody>
      </p:sp>
      <p:pic>
        <p:nvPicPr>
          <p:cNvPr id="2" name="">
            <a:extLst xmlns:a="http://schemas.openxmlformats.org/drawingml/2006/main">
              <a:ext uri="{FF2B5EF4-FFF2-40B4-BE49-F238E27FC236}">
                <a16:creationId xmlns:a16="http://schemas.microsoft.com/office/drawing/2014/main" id="{7A9711E1-23A3-4D37-8F34-6281FB30D999}"/>
              </a:ext>
            </a:extLst>
          </p:cNvPr>
          <p:cNvPicPr>
            <a:picLocks xmlns:a="http://schemas.openxmlformats.org/drawingml/2006/main" noChangeAspect="1"/>
          </p:cNvPicPr>
          <p:nvPr/>
        </p:nvPicPr>
        <p:blipFill>
          <a:blip xmlns:r="http://schemas.openxmlformats.org/officeDocument/2006/relationships" xmlns:a="http://schemas.openxmlformats.org/drawingml/2006/main" r:embed="Re0fb23e5f13f469c"/>
          <a:stretch xmlns:a="http://schemas.openxmlformats.org/drawingml/2006/main"/>
        </p:blipFill>
        <p:spPr>
          <a:xfrm xmlns:a="http://schemas.openxmlformats.org/drawingml/2006/main">
            <a:off x="571500" y="1352550"/>
            <a:ext cx="7239000" cy="4524375"/>
          </a:xfrm>
          <a:prstGeom xmlns:a="http://schemas.openxmlformats.org/drawingml/2006/main" prst="rect">
            <a:avLst/>
          </a:prstGeom>
        </p:spPr>
      </p:pic>
      <p:sp>
        <p:nvSpPr>
          <p:cNvPr id="3" name="">
            <a:extLst xmlns:a="http://schemas.openxmlformats.org/drawingml/2006/main">
              <a:ext uri="{FF2B5EF4-FFF2-40B4-BE49-F238E27FC236}">
                <a16:creationId xmlns:a16="http://schemas.microsoft.com/office/drawing/2014/main" id="{A3DFB7DE-89FF-4C0A-88C0-87607660D4D1}"/>
              </a:ext>
            </a:extLst>
          </p:cNvPr>
          <p:cNvSpPr>
            <a:spLocks xmlns:a="http://schemas.openxmlformats.org/drawingml/2006/main" noGrp="1"/>
          </p:cNvSpPr>
          <p:nvPr/>
        </p:nvSpPr>
        <p:spPr>
          <a:xfrm xmlns:a="http://schemas.openxmlformats.org/drawingml/2006/main">
            <a:off x="8239125" y="1666875"/>
            <a:ext cx="3333750" cy="3429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100" b="1">
                <a:solidFill>
                  <a:srgbClr val="18202A"/>
                </a:solidFill>
                <a:latin typeface="Arial"/>
                <a:ea typeface="Arial"/>
                <a:cs typeface="Arial"/>
              </a:defRPr>
            </a:defPPr>
            <a:lvl1pPr>
              <a:defRPr sz="2100" b="1">
                <a:solidFill>
                  <a:srgbClr val="18202A"/>
                </a:solidFill>
                <a:latin typeface="Arial"/>
                <a:ea typeface="Arial"/>
                <a:cs typeface="Arial"/>
              </a:defRPr>
            </a:lvl1pPr>
            <a:lvl2pPr>
              <a:defRPr sz="2100" b="1">
                <a:solidFill>
                  <a:srgbClr val="18202A"/>
                </a:solidFill>
                <a:latin typeface="Arial"/>
                <a:ea typeface="Arial"/>
                <a:cs typeface="Arial"/>
              </a:defRPr>
            </a:lvl2pPr>
            <a:lvl3pPr>
              <a:defRPr sz="2100" b="1">
                <a:solidFill>
                  <a:srgbClr val="18202A"/>
                </a:solidFill>
                <a:latin typeface="Arial"/>
                <a:ea typeface="Arial"/>
                <a:cs typeface="Arial"/>
              </a:defRPr>
            </a:lvl3pPr>
            <a:lvl4pPr>
              <a:defRPr sz="2100" b="1">
                <a:solidFill>
                  <a:srgbClr val="18202A"/>
                </a:solidFill>
                <a:latin typeface="Arial"/>
                <a:ea typeface="Arial"/>
                <a:cs typeface="Arial"/>
              </a:defRPr>
            </a:lvl4pPr>
            <a:lvl5pPr>
              <a:defRPr sz="2100" b="1">
                <a:solidFill>
                  <a:srgbClr val="18202A"/>
                </a:solidFill>
                <a:latin typeface="Arial"/>
                <a:ea typeface="Arial"/>
                <a:cs typeface="Arial"/>
              </a:defRPr>
            </a:lvl5pPr>
            <a:lvl6pPr>
              <a:defRPr sz="2100" b="1">
                <a:solidFill>
                  <a:srgbClr val="18202A"/>
                </a:solidFill>
                <a:latin typeface="Arial"/>
                <a:ea typeface="Arial"/>
                <a:cs typeface="Arial"/>
              </a:defRPr>
            </a:lvl6pPr>
            <a:lvl7pPr>
              <a:defRPr sz="2100" b="1">
                <a:solidFill>
                  <a:srgbClr val="18202A"/>
                </a:solidFill>
                <a:latin typeface="Arial"/>
                <a:ea typeface="Arial"/>
                <a:cs typeface="Arial"/>
              </a:defRPr>
            </a:lvl7pPr>
            <a:lvl8pPr>
              <a:defRPr sz="2100" b="1">
                <a:solidFill>
                  <a:srgbClr val="18202A"/>
                </a:solidFill>
                <a:latin typeface="Arial"/>
                <a:ea typeface="Arial"/>
                <a:cs typeface="Arial"/>
              </a:defRPr>
            </a:lvl8pPr>
            <a:lvl9pPr>
              <a:defRPr sz="2100" b="1">
                <a:solidFill>
                  <a:srgbClr val="18202A"/>
                </a:solidFill>
                <a:latin typeface="Arial"/>
                <a:ea typeface="Arial"/>
                <a:cs typeface="Arial"/>
              </a:defRPr>
            </a:lvl9pPr>
          </a:lstStyle>
          <a:p xmlns:a="http://schemas.openxmlformats.org/drawingml/2006/main">
            <a:pPr>
              <a:defRPr sz="2100" b="1">
                <a:solidFill>
                  <a:srgbClr val="18202A"/>
                </a:solidFill>
                <a:latin typeface="Arial"/>
                <a:ea typeface="Arial"/>
                <a:cs typeface="Arial"/>
              </a:defRPr>
            </a:pPr>
            <a:r>
              <a:rPr sz="2100" b="1">
                <a:solidFill>
                  <a:srgbClr val="18202A"/>
                </a:solidFill>
                <a:latin typeface="Arial"/>
                <a:ea typeface="Arial"/>
                <a:cs typeface="Arial"/>
              </a:rPr>
              <a:t>Held-out initial state</a:t>
            </a:r>
          </a:p>
          <a:p xmlns:a="http://schemas.openxmlformats.org/drawingml/2006/main">
            <a:r>
              <a:t/>
            </a:r>
          </a:p>
          <a:p xmlns:a="http://schemas.openxmlformats.org/drawingml/2006/main">
            <a:pPr>
              <a:defRPr sz="2100" b="1">
                <a:solidFill>
                  <a:srgbClr val="18202A"/>
                </a:solidFill>
                <a:latin typeface="Arial"/>
                <a:ea typeface="Arial"/>
                <a:cs typeface="Arial"/>
              </a:defRPr>
            </a:pPr>
            <a:r>
              <a:rPr sz="2100" b="1">
                <a:solidFill>
                  <a:srgbClr val="18202A"/>
                </a:solidFill>
                <a:latin typeface="Arial"/>
                <a:ea typeface="Arial"/>
                <a:cs typeface="Arial"/>
              </a:rPr>
              <a:t>Pause and single-step</a:t>
            </a:r>
          </a:p>
          <a:p xmlns:a="http://schemas.openxmlformats.org/drawingml/2006/main">
            <a:r>
              <a:t/>
            </a:r>
          </a:p>
          <a:p xmlns:a="http://schemas.openxmlformats.org/drawingml/2006/main">
            <a:pPr>
              <a:defRPr sz="2100" b="1">
                <a:solidFill>
                  <a:srgbClr val="18202A"/>
                </a:solidFill>
                <a:latin typeface="Arial"/>
                <a:ea typeface="Arial"/>
                <a:cs typeface="Arial"/>
              </a:defRPr>
            </a:pPr>
            <a:r>
              <a:rPr sz="2100" b="1">
                <a:solidFill>
                  <a:srgbClr val="18202A"/>
                </a:solidFill>
                <a:latin typeface="Arial"/>
                <a:ea typeface="Arial"/>
                <a:cs typeface="Arial"/>
              </a:rPr>
              <a:t>Small-network comparison</a:t>
            </a:r>
          </a:p>
          <a:p xmlns:a="http://schemas.openxmlformats.org/drawingml/2006/main">
            <a:r>
              <a:t/>
            </a:r>
          </a:p>
          <a:p xmlns:a="http://schemas.openxmlformats.org/drawingml/2006/main">
            <a:pPr>
              <a:defRPr sz="2100" b="1">
                <a:solidFill>
                  <a:srgbClr val="18202A"/>
                </a:solidFill>
                <a:latin typeface="Arial"/>
                <a:ea typeface="Arial"/>
                <a:cs typeface="Arial"/>
              </a:defRPr>
            </a:pPr>
            <a:r>
              <a:rPr sz="2100" b="1">
                <a:solidFill>
                  <a:srgbClr val="18202A"/>
                </a:solidFill>
                <a:latin typeface="Arial"/>
                <a:ea typeface="Arial"/>
                <a:cs typeface="Arial"/>
              </a:rPr>
              <a:t>Unfamiliar high angle</a:t>
            </a:r>
          </a:p>
        </p:txBody>
      </p:sp>
      <p:sp>
        <p:nvSpPr>
          <p:cNvPr id="4" name="">
            <a:extLst xmlns:a="http://schemas.openxmlformats.org/drawingml/2006/main">
              <a:ext uri="{FF2B5EF4-FFF2-40B4-BE49-F238E27FC236}">
                <a16:creationId xmlns:a16="http://schemas.microsoft.com/office/drawing/2014/main" id="{513EBEA4-4CFE-4E39-B478-392B83B1C678}"/>
              </a:ext>
            </a:extLst>
          </p:cNvPr>
          <p:cNvSpPr>
            <a:spLocks xmlns:a="http://schemas.openxmlformats.org/drawingml/2006/main" noGrp="1"/>
          </p:cNvSpPr>
          <p:nvPr/>
        </p:nvSpPr>
        <p:spPr>
          <a:xfrm xmlns:a="http://schemas.openxmlformats.org/drawingml/2006/main">
            <a:off x="666750" y="6115050"/>
            <a:ext cx="10763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875" b="0">
                <a:solidFill>
                  <a:srgbClr val="18202A"/>
                </a:solidFill>
                <a:latin typeface="Arial"/>
                <a:ea typeface="Arial"/>
                <a:cs typeface="Arial"/>
              </a:defRPr>
            </a:defPPr>
            <a:lvl1pPr>
              <a:defRPr sz="1875" b="0">
                <a:solidFill>
                  <a:srgbClr val="18202A"/>
                </a:solidFill>
                <a:latin typeface="Arial"/>
                <a:ea typeface="Arial"/>
                <a:cs typeface="Arial"/>
              </a:defRPr>
            </a:lvl1pPr>
            <a:lvl2pPr>
              <a:defRPr sz="1875" b="0">
                <a:solidFill>
                  <a:srgbClr val="18202A"/>
                </a:solidFill>
                <a:latin typeface="Arial"/>
                <a:ea typeface="Arial"/>
                <a:cs typeface="Arial"/>
              </a:defRPr>
            </a:lvl2pPr>
            <a:lvl3pPr>
              <a:defRPr sz="1875" b="0">
                <a:solidFill>
                  <a:srgbClr val="18202A"/>
                </a:solidFill>
                <a:latin typeface="Arial"/>
                <a:ea typeface="Arial"/>
                <a:cs typeface="Arial"/>
              </a:defRPr>
            </a:lvl3pPr>
            <a:lvl4pPr>
              <a:defRPr sz="1875" b="0">
                <a:solidFill>
                  <a:srgbClr val="18202A"/>
                </a:solidFill>
                <a:latin typeface="Arial"/>
                <a:ea typeface="Arial"/>
                <a:cs typeface="Arial"/>
              </a:defRPr>
            </a:lvl4pPr>
            <a:lvl5pPr>
              <a:defRPr sz="1875" b="0">
                <a:solidFill>
                  <a:srgbClr val="18202A"/>
                </a:solidFill>
                <a:latin typeface="Arial"/>
                <a:ea typeface="Arial"/>
                <a:cs typeface="Arial"/>
              </a:defRPr>
            </a:lvl5pPr>
            <a:lvl6pPr>
              <a:defRPr sz="1875" b="0">
                <a:solidFill>
                  <a:srgbClr val="18202A"/>
                </a:solidFill>
                <a:latin typeface="Arial"/>
                <a:ea typeface="Arial"/>
                <a:cs typeface="Arial"/>
              </a:defRPr>
            </a:lvl6pPr>
            <a:lvl7pPr>
              <a:defRPr sz="1875" b="0">
                <a:solidFill>
                  <a:srgbClr val="18202A"/>
                </a:solidFill>
                <a:latin typeface="Arial"/>
                <a:ea typeface="Arial"/>
                <a:cs typeface="Arial"/>
              </a:defRPr>
            </a:lvl7pPr>
            <a:lvl8pPr>
              <a:defRPr sz="1875" b="0">
                <a:solidFill>
                  <a:srgbClr val="18202A"/>
                </a:solidFill>
                <a:latin typeface="Arial"/>
                <a:ea typeface="Arial"/>
                <a:cs typeface="Arial"/>
              </a:defRPr>
            </a:lvl8pPr>
            <a:lvl9pPr>
              <a:defRPr sz="1875" b="0">
                <a:solidFill>
                  <a:srgbClr val="18202A"/>
                </a:solidFill>
                <a:latin typeface="Arial"/>
                <a:ea typeface="Arial"/>
                <a:cs typeface="Arial"/>
              </a:defRPr>
            </a:lvl9pPr>
          </a:lstStyle>
          <a:p xmlns:a="http://schemas.openxmlformats.org/drawingml/2006/main">
            <a:pPr>
              <a:defRPr sz="1875" b="0">
                <a:solidFill>
                  <a:srgbClr val="18202A"/>
                </a:solidFill>
                <a:latin typeface="Arial"/>
                <a:ea typeface="Arial"/>
                <a:cs typeface="Arial"/>
              </a:defRPr>
            </a:pPr>
            <a:r>
              <a:rPr sz="1875" b="0">
                <a:solidFill>
                  <a:srgbClr val="18202A"/>
                </a:solidFill>
                <a:latin typeface="Arial"/>
                <a:ea typeface="Arial"/>
                <a:cs typeface="Arial"/>
              </a:rPr>
              <a:t>Useful local transition model. Long-horizon and range limits remain visible.</a:t>
            </a:r>
          </a:p>
        </p:txBody>
      </p:sp>
    </p:spTree>
    <p:extLst>
      <p:ext uri="{BB962C8B-B14F-4D97-AF65-F5344CB8AC3E}">
        <p14:creationId xmlns:p14="http://schemas.microsoft.com/office/powerpoint/2010/main" val="1858900568"/>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3A831779-C772-4736-B2C4-F36D31CDD1B6}"/>
              </a:ext>
            </a:extLst>
          </p:cNvPr>
          <p:cNvSpPr>
            <a:spLocks xmlns:a="http://schemas.openxmlformats.org/drawingml/2006/main" noGrp="1"/>
          </p:cNvSpPr>
          <p:nvPr/>
        </p:nvSpPr>
        <p:spPr>
          <a:xfrm xmlns:a="http://schemas.openxmlformats.org/drawingml/2006/main">
            <a:off x="609600" y="40005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3300" b="1">
                <a:solidFill>
                  <a:srgbClr val="18202A"/>
                </a:solidFill>
                <a:latin typeface="Arial"/>
                <a:ea typeface="Arial"/>
                <a:cs typeface="Arial"/>
              </a:defRPr>
            </a:defPPr>
            <a:lvl1pPr>
              <a:defRPr sz="3300" b="1">
                <a:solidFill>
                  <a:srgbClr val="18202A"/>
                </a:solidFill>
                <a:latin typeface="Arial"/>
                <a:ea typeface="Arial"/>
                <a:cs typeface="Arial"/>
              </a:defRPr>
            </a:lvl1pPr>
            <a:lvl2pPr>
              <a:defRPr sz="3300" b="1">
                <a:solidFill>
                  <a:srgbClr val="18202A"/>
                </a:solidFill>
                <a:latin typeface="Arial"/>
                <a:ea typeface="Arial"/>
                <a:cs typeface="Arial"/>
              </a:defRPr>
            </a:lvl2pPr>
            <a:lvl3pPr>
              <a:defRPr sz="3300" b="1">
                <a:solidFill>
                  <a:srgbClr val="18202A"/>
                </a:solidFill>
                <a:latin typeface="Arial"/>
                <a:ea typeface="Arial"/>
                <a:cs typeface="Arial"/>
              </a:defRPr>
            </a:lvl3pPr>
            <a:lvl4pPr>
              <a:defRPr sz="3300" b="1">
                <a:solidFill>
                  <a:srgbClr val="18202A"/>
                </a:solidFill>
                <a:latin typeface="Arial"/>
                <a:ea typeface="Arial"/>
                <a:cs typeface="Arial"/>
              </a:defRPr>
            </a:lvl4pPr>
            <a:lvl5pPr>
              <a:defRPr sz="3300" b="1">
                <a:solidFill>
                  <a:srgbClr val="18202A"/>
                </a:solidFill>
                <a:latin typeface="Arial"/>
                <a:ea typeface="Arial"/>
                <a:cs typeface="Arial"/>
              </a:defRPr>
            </a:lvl5pPr>
            <a:lvl6pPr>
              <a:defRPr sz="3300" b="1">
                <a:solidFill>
                  <a:srgbClr val="18202A"/>
                </a:solidFill>
                <a:latin typeface="Arial"/>
                <a:ea typeface="Arial"/>
                <a:cs typeface="Arial"/>
              </a:defRPr>
            </a:lvl6pPr>
            <a:lvl7pPr>
              <a:defRPr sz="3300" b="1">
                <a:solidFill>
                  <a:srgbClr val="18202A"/>
                </a:solidFill>
                <a:latin typeface="Arial"/>
                <a:ea typeface="Arial"/>
                <a:cs typeface="Arial"/>
              </a:defRPr>
            </a:lvl7pPr>
            <a:lvl8pPr>
              <a:defRPr sz="3300" b="1">
                <a:solidFill>
                  <a:srgbClr val="18202A"/>
                </a:solidFill>
                <a:latin typeface="Arial"/>
                <a:ea typeface="Arial"/>
                <a:cs typeface="Arial"/>
              </a:defRPr>
            </a:lvl8pPr>
            <a:lvl9pPr>
              <a:defRPr sz="3300" b="1">
                <a:solidFill>
                  <a:srgbClr val="18202A"/>
                </a:solidFill>
                <a:latin typeface="Arial"/>
                <a:ea typeface="Arial"/>
                <a:cs typeface="Arial"/>
              </a:defRPr>
            </a:lvl9pPr>
          </a:lstStyle>
          <a:p xmlns:a="http://schemas.openxmlformats.org/drawingml/2006/main">
            <a:pPr>
              <a:defRPr sz="3300" b="1">
                <a:solidFill>
                  <a:srgbClr val="18202A"/>
                </a:solidFill>
                <a:latin typeface="Arial"/>
                <a:ea typeface="Arial"/>
                <a:cs typeface="Arial"/>
              </a:defRPr>
            </a:pPr>
            <a:r>
              <a:rPr sz="3300" b="1">
                <a:solidFill>
                  <a:srgbClr val="18202A"/>
                </a:solidFill>
                <a:latin typeface="Arial"/>
                <a:ea typeface="Arial"/>
                <a:cs typeface="Arial"/>
              </a:rPr>
              <a:t>Appendix A Gradient Details</a:t>
            </a:r>
          </a:p>
        </p:txBody>
      </p:sp>
      <p:graphicFrame>
        <p:nvGraphicFramePr>
          <p:cNvPr id="2" name="">
            <a:extLst xmlns:a="http://schemas.openxmlformats.org/drawingml/2006/main">
              <a:ext uri="{FF2B5EF4-FFF2-40B4-BE49-F238E27FC236}">
                <a16:creationId xmlns:a16="http://schemas.microsoft.com/office/drawing/2014/main" id="{4A3008C5-5036-4E56-8964-F8C43C003903}"/>
              </a:ext>
            </a:extLst>
          </p:cNvPr>
          <p:cNvGraphicFramePr/>
          <p:nvPr/>
        </p:nvGraphicFramePr>
        <p:xfrm>
          <a:off xmlns:a="http://schemas.openxmlformats.org/drawingml/2006/main" x="647700" y="1428750"/>
          <a:ext xmlns:a="http://schemas.openxmlformats.org/drawingml/2006/main" cx="4762500" cy="3143250"/>
        </p:xfrm>
        <a:graphic xmlns:a="http://schemas.openxmlformats.org/drawingml/2006/main">
          <a:graphicData uri="http://schemas.openxmlformats.org/drawingml/2006/table">
            <a:tbl>
              <a:tblPr/>
              <a:tblGrid>
                <a:gridCol w="2381250"/>
                <a:gridCol w="2381250"/>
              </a:tblGrid>
              <a:tr h="628650">
                <a:tc>
                  <a:txBody>
                    <a:bodyPr/>
                    <a:lstStyle/>
                    <a:p>
                      <a:r>
                        <a:rPr sz="1725" b="1">
                          <a:solidFill>
                            <a:srgbClr val="18202A"/>
                          </a:solidFill>
                          <a:latin typeface="Arial"/>
                          <a:ea typeface="Arial"/>
                          <a:cs typeface="Arial"/>
                        </a:rPr>
                        <a:t>Quantity</a:t>
                      </a:r>
                    </a:p>
                  </a:txBody>
                  <a:tcPr marL="91440" marR="91440" marT="45720" marB="45720">
                    <a:lnL w="9525">
                      <a:solidFill>
                        <a:srgbClr val="D9D9D9"/>
                      </a:solidFill>
                      <a:prstDash val="solid"/>
                    </a:lnL>
                    <a:lnR w="9525">
                      <a:solidFill>
                        <a:srgbClr val="D9D9D9"/>
                      </a:solidFill>
                      <a:prstDash val="solid"/>
                    </a:lnR>
                    <a:lnT w="9525">
                      <a:solidFill>
                        <a:srgbClr val="D9D9D9"/>
                      </a:solidFill>
                      <a:prstDash val="solid"/>
                    </a:lnT>
                    <a:lnB w="9525">
                      <a:solidFill>
                        <a:srgbClr val="D9D9D9"/>
                      </a:solidFill>
                      <a:prstDash val="solid"/>
                    </a:lnB>
                    <a:solidFill>
                      <a:srgbClr val="E8EDF3"/>
                    </a:solidFill>
                  </a:tcPr>
                </a:tc>
                <a:tc>
                  <a:txBody>
                    <a:bodyPr/>
                    <a:lstStyle/>
                    <a:p>
                      <a:r>
                        <a:rPr sz="1725" b="1">
                          <a:solidFill>
                            <a:srgbClr val="18202A"/>
                          </a:solidFill>
                          <a:latin typeface="Arial"/>
                          <a:ea typeface="Arial"/>
                          <a:cs typeface="Arial"/>
                        </a:rPr>
                        <a:t>Shape</a:t>
                      </a:r>
                    </a:p>
                  </a:txBody>
                  <a:tcPr marL="91440" marR="91440" marT="45720" marB="45720">
                    <a:lnR w="9525">
                      <a:solidFill>
                        <a:srgbClr val="D9D9D9"/>
                      </a:solidFill>
                      <a:prstDash val="solid"/>
                    </a:lnR>
                    <a:lnT w="9525">
                      <a:solidFill>
                        <a:srgbClr val="D9D9D9"/>
                      </a:solidFill>
                      <a:prstDash val="solid"/>
                    </a:lnT>
                    <a:lnB w="9525">
                      <a:solidFill>
                        <a:srgbClr val="D9D9D9"/>
                      </a:solidFill>
                      <a:prstDash val="solid"/>
                    </a:lnB>
                    <a:solidFill>
                      <a:srgbClr val="E8EDF3"/>
                    </a:solidFill>
                  </a:tcPr>
                </a:tc>
              </a:tr>
              <a:tr h="628650">
                <a:tc>
                  <a:txBody>
                    <a:bodyPr/>
                    <a:lstStyle/>
                    <a:p>
                      <a:r>
                        <a:rPr sz="1725" b="0">
                          <a:solidFill>
                            <a:srgbClr val="18202A"/>
                          </a:solidFill>
                          <a:latin typeface="Arial"/>
                          <a:ea typeface="Arial"/>
                          <a:cs typeface="Arial"/>
                        </a:rPr>
                        <a:t>A(l-1)</a:t>
                      </a:r>
                    </a:p>
                  </a:txBody>
                  <a:tcPr marL="91440" marR="91440" marT="45720" marB="45720">
                    <a:lnL w="9525">
                      <a:solidFill>
                        <a:srgbClr val="D9D9D9"/>
                      </a:solidFill>
                      <a:prstDash val="solid"/>
                    </a:lnL>
                    <a:lnR w="9525">
                      <a:solidFill>
                        <a:srgbClr val="D9D9D9"/>
                      </a:solidFill>
                      <a:prstDash val="solid"/>
                    </a:lnR>
                    <a:lnB w="9525">
                      <a:solidFill>
                        <a:srgbClr val="D9D9D9"/>
                      </a:solidFill>
                      <a:prstDash val="solid"/>
                    </a:lnB>
                    <a:solidFill>
                      <a:srgbClr val="FFFFFF"/>
                    </a:solidFill>
                  </a:tcPr>
                </a:tc>
                <a:tc>
                  <a:txBody>
                    <a:bodyPr/>
                    <a:lstStyle/>
                    <a:p>
                      <a:r>
                        <a:rPr sz="1725" b="0">
                          <a:solidFill>
                            <a:srgbClr val="18202A"/>
                          </a:solidFill>
                          <a:latin typeface="Arial"/>
                          <a:ea typeface="Arial"/>
                          <a:cs typeface="Arial"/>
                        </a:rPr>
                        <a:t>B x n(l-1)</a:t>
                      </a:r>
                    </a:p>
                  </a:txBody>
                  <a:tcPr marL="91440" marR="91440" marT="45720" marB="45720">
                    <a:lnR w="9525">
                      <a:solidFill>
                        <a:srgbClr val="D9D9D9"/>
                      </a:solidFill>
                      <a:prstDash val="solid"/>
                    </a:lnR>
                    <a:lnB w="9525">
                      <a:solidFill>
                        <a:srgbClr val="D9D9D9"/>
                      </a:solidFill>
                      <a:prstDash val="solid"/>
                    </a:lnB>
                    <a:solidFill>
                      <a:srgbClr val="FFFFFF"/>
                    </a:solidFill>
                  </a:tcPr>
                </a:tc>
              </a:tr>
              <a:tr h="628650">
                <a:tc>
                  <a:txBody>
                    <a:bodyPr/>
                    <a:lstStyle/>
                    <a:p>
                      <a:r>
                        <a:rPr sz="1725" b="0">
                          <a:solidFill>
                            <a:srgbClr val="18202A"/>
                          </a:solidFill>
                          <a:latin typeface="Arial"/>
                          <a:ea typeface="Arial"/>
                          <a:cs typeface="Arial"/>
                        </a:rPr>
                        <a:t>W(l)</a:t>
                      </a:r>
                    </a:p>
                  </a:txBody>
                  <a:tcPr marL="91440" marR="91440" marT="45720" marB="45720">
                    <a:lnL w="9525">
                      <a:solidFill>
                        <a:srgbClr val="D9D9D9"/>
                      </a:solidFill>
                      <a:prstDash val="solid"/>
                    </a:lnL>
                    <a:lnR w="9525">
                      <a:solidFill>
                        <a:srgbClr val="D9D9D9"/>
                      </a:solidFill>
                      <a:prstDash val="solid"/>
                    </a:lnR>
                    <a:lnB w="9525">
                      <a:solidFill>
                        <a:srgbClr val="D9D9D9"/>
                      </a:solidFill>
                      <a:prstDash val="solid"/>
                    </a:lnB>
                    <a:solidFill>
                      <a:srgbClr val="F5F7F9"/>
                    </a:solidFill>
                  </a:tcPr>
                </a:tc>
                <a:tc>
                  <a:txBody>
                    <a:bodyPr/>
                    <a:lstStyle/>
                    <a:p>
                      <a:r>
                        <a:rPr sz="1725" b="0">
                          <a:solidFill>
                            <a:srgbClr val="18202A"/>
                          </a:solidFill>
                          <a:latin typeface="Arial"/>
                          <a:ea typeface="Arial"/>
                          <a:cs typeface="Arial"/>
                        </a:rPr>
                        <a:t>n(l-1) x n(l)</a:t>
                      </a:r>
                    </a:p>
                  </a:txBody>
                  <a:tcPr marL="91440" marR="91440" marT="45720" marB="45720">
                    <a:lnR w="9525">
                      <a:solidFill>
                        <a:srgbClr val="D9D9D9"/>
                      </a:solidFill>
                      <a:prstDash val="solid"/>
                    </a:lnR>
                    <a:lnB w="9525">
                      <a:solidFill>
                        <a:srgbClr val="D9D9D9"/>
                      </a:solidFill>
                      <a:prstDash val="solid"/>
                    </a:lnB>
                    <a:solidFill>
                      <a:srgbClr val="F5F7F9"/>
                    </a:solidFill>
                  </a:tcPr>
                </a:tc>
              </a:tr>
              <a:tr h="628650">
                <a:tc>
                  <a:txBody>
                    <a:bodyPr/>
                    <a:lstStyle/>
                    <a:p>
                      <a:r>
                        <a:rPr sz="1725" b="0">
                          <a:solidFill>
                            <a:srgbClr val="18202A"/>
                          </a:solidFill>
                          <a:latin typeface="Arial"/>
                          <a:ea typeface="Arial"/>
                          <a:cs typeface="Arial"/>
                        </a:rPr>
                        <a:t>delta(l)</a:t>
                      </a:r>
                    </a:p>
                  </a:txBody>
                  <a:tcPr marL="91440" marR="91440" marT="45720" marB="45720">
                    <a:lnL w="9525">
                      <a:solidFill>
                        <a:srgbClr val="D9D9D9"/>
                      </a:solidFill>
                      <a:prstDash val="solid"/>
                    </a:lnL>
                    <a:lnR w="9525">
                      <a:solidFill>
                        <a:srgbClr val="D9D9D9"/>
                      </a:solidFill>
                      <a:prstDash val="solid"/>
                    </a:lnR>
                    <a:lnB w="9525">
                      <a:solidFill>
                        <a:srgbClr val="D9D9D9"/>
                      </a:solidFill>
                      <a:prstDash val="solid"/>
                    </a:lnB>
                    <a:solidFill>
                      <a:srgbClr val="FFFFFF"/>
                    </a:solidFill>
                  </a:tcPr>
                </a:tc>
                <a:tc>
                  <a:txBody>
                    <a:bodyPr/>
                    <a:lstStyle/>
                    <a:p>
                      <a:r>
                        <a:rPr sz="1725" b="0">
                          <a:solidFill>
                            <a:srgbClr val="18202A"/>
                          </a:solidFill>
                          <a:latin typeface="Arial"/>
                          <a:ea typeface="Arial"/>
                          <a:cs typeface="Arial"/>
                        </a:rPr>
                        <a:t>B x n(l)</a:t>
                      </a:r>
                    </a:p>
                  </a:txBody>
                  <a:tcPr marL="91440" marR="91440" marT="45720" marB="45720">
                    <a:lnR w="9525">
                      <a:solidFill>
                        <a:srgbClr val="D9D9D9"/>
                      </a:solidFill>
                      <a:prstDash val="solid"/>
                    </a:lnR>
                    <a:lnB w="9525">
                      <a:solidFill>
                        <a:srgbClr val="D9D9D9"/>
                      </a:solidFill>
                      <a:prstDash val="solid"/>
                    </a:lnB>
                    <a:solidFill>
                      <a:srgbClr val="FFFFFF"/>
                    </a:solidFill>
                  </a:tcPr>
                </a:tc>
              </a:tr>
              <a:tr h="628650">
                <a:tc>
                  <a:txBody>
                    <a:bodyPr/>
                    <a:lstStyle/>
                    <a:p>
                      <a:r>
                        <a:rPr sz="1725" b="0">
                          <a:solidFill>
                            <a:srgbClr val="18202A"/>
                          </a:solidFill>
                          <a:latin typeface="Arial"/>
                          <a:ea typeface="Arial"/>
                          <a:cs typeface="Arial"/>
                        </a:rPr>
                        <a:t>dW(l)</a:t>
                      </a:r>
                    </a:p>
                  </a:txBody>
                  <a:tcPr marL="91440" marR="91440" marT="45720" marB="45720">
                    <a:lnL w="9525">
                      <a:solidFill>
                        <a:srgbClr val="D9D9D9"/>
                      </a:solidFill>
                      <a:prstDash val="solid"/>
                    </a:lnL>
                    <a:lnR w="9525">
                      <a:solidFill>
                        <a:srgbClr val="D9D9D9"/>
                      </a:solidFill>
                      <a:prstDash val="solid"/>
                    </a:lnR>
                    <a:lnB w="9525">
                      <a:solidFill>
                        <a:srgbClr val="D9D9D9"/>
                      </a:solidFill>
                      <a:prstDash val="solid"/>
                    </a:lnB>
                    <a:solidFill>
                      <a:srgbClr val="F5F7F9"/>
                    </a:solidFill>
                  </a:tcPr>
                </a:tc>
                <a:tc>
                  <a:txBody>
                    <a:bodyPr/>
                    <a:lstStyle/>
                    <a:p>
                      <a:r>
                        <a:rPr sz="1725" b="0">
                          <a:solidFill>
                            <a:srgbClr val="18202A"/>
                          </a:solidFill>
                          <a:latin typeface="Arial"/>
                          <a:ea typeface="Arial"/>
                          <a:cs typeface="Arial"/>
                        </a:rPr>
                        <a:t>n(l-1) x n(l)</a:t>
                      </a:r>
                    </a:p>
                  </a:txBody>
                  <a:tcPr marL="91440" marR="91440" marT="45720" marB="45720">
                    <a:lnR w="9525">
                      <a:solidFill>
                        <a:srgbClr val="D9D9D9"/>
                      </a:solidFill>
                      <a:prstDash val="solid"/>
                    </a:lnR>
                    <a:lnB w="9525">
                      <a:solidFill>
                        <a:srgbClr val="D9D9D9"/>
                      </a:solidFill>
                      <a:prstDash val="solid"/>
                    </a:lnB>
                    <a:solidFill>
                      <a:srgbClr val="F5F7F9"/>
                    </a:solidFill>
                  </a:tcPr>
                </a:tc>
              </a:tr>
            </a:tbl>
          </a:graphicData>
        </a:graphic>
      </p:graphicFrame>
      <p:sp>
        <p:nvSpPr>
          <p:cNvPr id="3" name="">
            <a:extLst xmlns:a="http://schemas.openxmlformats.org/drawingml/2006/main">
              <a:ext uri="{FF2B5EF4-FFF2-40B4-BE49-F238E27FC236}">
                <a16:creationId xmlns:a16="http://schemas.microsoft.com/office/drawing/2014/main" id="{351935B9-A191-49AC-ABA6-8A66A71F2E67}"/>
              </a:ext>
            </a:extLst>
          </p:cNvPr>
          <p:cNvSpPr>
            <a:spLocks xmlns:a="http://schemas.openxmlformats.org/drawingml/2006/main" noGrp="1"/>
          </p:cNvSpPr>
          <p:nvPr/>
        </p:nvSpPr>
        <p:spPr>
          <a:xfrm xmlns:a="http://schemas.openxmlformats.org/drawingml/2006/main">
            <a:off x="6096000" y="1666875"/>
            <a:ext cx="5334000" cy="1809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325" b="0">
                <a:solidFill>
                  <a:srgbClr val="18202A"/>
                </a:solidFill>
                <a:latin typeface="Cambria Math"/>
                <a:ea typeface="Cambria Math"/>
                <a:cs typeface="Cambria Math"/>
              </a:defRPr>
            </a:defPPr>
            <a:lvl1pPr>
              <a:defRPr sz="2325" b="0">
                <a:solidFill>
                  <a:srgbClr val="18202A"/>
                </a:solidFill>
                <a:latin typeface="Cambria Math"/>
                <a:ea typeface="Cambria Math"/>
                <a:cs typeface="Cambria Math"/>
              </a:defRPr>
            </a:lvl1pPr>
            <a:lvl2pPr>
              <a:defRPr sz="2325" b="0">
                <a:solidFill>
                  <a:srgbClr val="18202A"/>
                </a:solidFill>
                <a:latin typeface="Cambria Math"/>
                <a:ea typeface="Cambria Math"/>
                <a:cs typeface="Cambria Math"/>
              </a:defRPr>
            </a:lvl2pPr>
            <a:lvl3pPr>
              <a:defRPr sz="2325" b="0">
                <a:solidFill>
                  <a:srgbClr val="18202A"/>
                </a:solidFill>
                <a:latin typeface="Cambria Math"/>
                <a:ea typeface="Cambria Math"/>
                <a:cs typeface="Cambria Math"/>
              </a:defRPr>
            </a:lvl3pPr>
            <a:lvl4pPr>
              <a:defRPr sz="2325" b="0">
                <a:solidFill>
                  <a:srgbClr val="18202A"/>
                </a:solidFill>
                <a:latin typeface="Cambria Math"/>
                <a:ea typeface="Cambria Math"/>
                <a:cs typeface="Cambria Math"/>
              </a:defRPr>
            </a:lvl4pPr>
            <a:lvl5pPr>
              <a:defRPr sz="2325" b="0">
                <a:solidFill>
                  <a:srgbClr val="18202A"/>
                </a:solidFill>
                <a:latin typeface="Cambria Math"/>
                <a:ea typeface="Cambria Math"/>
                <a:cs typeface="Cambria Math"/>
              </a:defRPr>
            </a:lvl5pPr>
            <a:lvl6pPr>
              <a:defRPr sz="2325" b="0">
                <a:solidFill>
                  <a:srgbClr val="18202A"/>
                </a:solidFill>
                <a:latin typeface="Cambria Math"/>
                <a:ea typeface="Cambria Math"/>
                <a:cs typeface="Cambria Math"/>
              </a:defRPr>
            </a:lvl6pPr>
            <a:lvl7pPr>
              <a:defRPr sz="2325" b="0">
                <a:solidFill>
                  <a:srgbClr val="18202A"/>
                </a:solidFill>
                <a:latin typeface="Cambria Math"/>
                <a:ea typeface="Cambria Math"/>
                <a:cs typeface="Cambria Math"/>
              </a:defRPr>
            </a:lvl7pPr>
            <a:lvl8pPr>
              <a:defRPr sz="2325" b="0">
                <a:solidFill>
                  <a:srgbClr val="18202A"/>
                </a:solidFill>
                <a:latin typeface="Cambria Math"/>
                <a:ea typeface="Cambria Math"/>
                <a:cs typeface="Cambria Math"/>
              </a:defRPr>
            </a:lvl8pPr>
            <a:lvl9pPr>
              <a:defRPr sz="2325" b="0">
                <a:solidFill>
                  <a:srgbClr val="18202A"/>
                </a:solidFill>
                <a:latin typeface="Cambria Math"/>
                <a:ea typeface="Cambria Math"/>
                <a:cs typeface="Cambria Math"/>
              </a:defRPr>
            </a:lvl9pPr>
          </a:lstStyle>
          <a:p xmlns:a="http://schemas.openxmlformats.org/drawingml/2006/main">
            <a:pPr>
              <a:defRPr sz="2325" b="0">
                <a:solidFill>
                  <a:srgbClr val="18202A"/>
                </a:solidFill>
                <a:latin typeface="Cambria Math"/>
                <a:ea typeface="Cambria Math"/>
                <a:cs typeface="Cambria Math"/>
              </a:defRPr>
            </a:pPr>
            <a:r>
              <a:rPr sz="2325" b="0">
                <a:solidFill>
                  <a:srgbClr val="18202A"/>
                </a:solidFill>
                <a:latin typeface="Cambria Math"/>
                <a:ea typeface="Cambria Math"/>
                <a:cs typeface="Cambria Math"/>
              </a:rPr>
              <a:t>delta(l) =</a:t>
            </a:r>
          </a:p>
          <a:p xmlns:a="http://schemas.openxmlformats.org/drawingml/2006/main">
            <a:pPr>
              <a:defRPr sz="2325" b="0">
                <a:solidFill>
                  <a:srgbClr val="18202A"/>
                </a:solidFill>
                <a:latin typeface="Cambria Math"/>
                <a:ea typeface="Cambria Math"/>
                <a:cs typeface="Cambria Math"/>
              </a:defRPr>
            </a:pPr>
            <a:r>
              <a:rPr sz="2325" b="0">
                <a:solidFill>
                  <a:srgbClr val="18202A"/>
                </a:solidFill>
                <a:latin typeface="Cambria Math"/>
                <a:ea typeface="Cambria Math"/>
                <a:cs typeface="Cambria Math"/>
              </a:rPr>
              <a:t>(delta(l+1) W(l+1)^T)</a:t>
            </a:r>
          </a:p>
          <a:p xmlns:a="http://schemas.openxmlformats.org/drawingml/2006/main">
            <a:pPr>
              <a:defRPr sz="2325" b="0">
                <a:solidFill>
                  <a:srgbClr val="18202A"/>
                </a:solidFill>
                <a:latin typeface="Cambria Math"/>
                <a:ea typeface="Cambria Math"/>
                <a:cs typeface="Cambria Math"/>
              </a:defRPr>
            </a:pPr>
            <a:r>
              <a:rPr sz="2325" b="0">
                <a:solidFill>
                  <a:srgbClr val="18202A"/>
                </a:solidFill>
                <a:latin typeface="Cambria Math"/>
                <a:ea typeface="Cambria Math"/>
                <a:cs typeface="Cambria Math"/>
              </a:rPr>
              <a:t>.* phi′(Z(l))</a:t>
            </a:r>
          </a:p>
        </p:txBody>
      </p:sp>
      <p:sp>
        <p:nvSpPr>
          <p:cNvPr id="4" name="">
            <a:extLst xmlns:a="http://schemas.openxmlformats.org/drawingml/2006/main">
              <a:ext uri="{FF2B5EF4-FFF2-40B4-BE49-F238E27FC236}">
                <a16:creationId xmlns:a16="http://schemas.microsoft.com/office/drawing/2014/main" id="{C2CD075D-AA40-4E9E-80DD-D506D6797988}"/>
              </a:ext>
            </a:extLst>
          </p:cNvPr>
          <p:cNvSpPr>
            <a:spLocks xmlns:a="http://schemas.openxmlformats.org/drawingml/2006/main" noGrp="1"/>
          </p:cNvSpPr>
          <p:nvPr/>
        </p:nvSpPr>
        <p:spPr>
          <a:xfrm xmlns:a="http://schemas.openxmlformats.org/drawingml/2006/main">
            <a:off x="6096000" y="3905250"/>
            <a:ext cx="53340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100" b="0">
                <a:solidFill>
                  <a:srgbClr val="18202A"/>
                </a:solidFill>
                <a:latin typeface="Cambria Math"/>
                <a:ea typeface="Cambria Math"/>
                <a:cs typeface="Cambria Math"/>
              </a:defRPr>
            </a:defPPr>
            <a:lvl1pPr>
              <a:defRPr sz="2100" b="0">
                <a:solidFill>
                  <a:srgbClr val="18202A"/>
                </a:solidFill>
                <a:latin typeface="Cambria Math"/>
                <a:ea typeface="Cambria Math"/>
                <a:cs typeface="Cambria Math"/>
              </a:defRPr>
            </a:lvl1pPr>
            <a:lvl2pPr>
              <a:defRPr sz="2100" b="0">
                <a:solidFill>
                  <a:srgbClr val="18202A"/>
                </a:solidFill>
                <a:latin typeface="Cambria Math"/>
                <a:ea typeface="Cambria Math"/>
                <a:cs typeface="Cambria Math"/>
              </a:defRPr>
            </a:lvl2pPr>
            <a:lvl3pPr>
              <a:defRPr sz="2100" b="0">
                <a:solidFill>
                  <a:srgbClr val="18202A"/>
                </a:solidFill>
                <a:latin typeface="Cambria Math"/>
                <a:ea typeface="Cambria Math"/>
                <a:cs typeface="Cambria Math"/>
              </a:defRPr>
            </a:lvl3pPr>
            <a:lvl4pPr>
              <a:defRPr sz="2100" b="0">
                <a:solidFill>
                  <a:srgbClr val="18202A"/>
                </a:solidFill>
                <a:latin typeface="Cambria Math"/>
                <a:ea typeface="Cambria Math"/>
                <a:cs typeface="Cambria Math"/>
              </a:defRPr>
            </a:lvl4pPr>
            <a:lvl5pPr>
              <a:defRPr sz="2100" b="0">
                <a:solidFill>
                  <a:srgbClr val="18202A"/>
                </a:solidFill>
                <a:latin typeface="Cambria Math"/>
                <a:ea typeface="Cambria Math"/>
                <a:cs typeface="Cambria Math"/>
              </a:defRPr>
            </a:lvl5pPr>
            <a:lvl6pPr>
              <a:defRPr sz="2100" b="0">
                <a:solidFill>
                  <a:srgbClr val="18202A"/>
                </a:solidFill>
                <a:latin typeface="Cambria Math"/>
                <a:ea typeface="Cambria Math"/>
                <a:cs typeface="Cambria Math"/>
              </a:defRPr>
            </a:lvl6pPr>
            <a:lvl7pPr>
              <a:defRPr sz="2100" b="0">
                <a:solidFill>
                  <a:srgbClr val="18202A"/>
                </a:solidFill>
                <a:latin typeface="Cambria Math"/>
                <a:ea typeface="Cambria Math"/>
                <a:cs typeface="Cambria Math"/>
              </a:defRPr>
            </a:lvl7pPr>
            <a:lvl8pPr>
              <a:defRPr sz="2100" b="0">
                <a:solidFill>
                  <a:srgbClr val="18202A"/>
                </a:solidFill>
                <a:latin typeface="Cambria Math"/>
                <a:ea typeface="Cambria Math"/>
                <a:cs typeface="Cambria Math"/>
              </a:defRPr>
            </a:lvl8pPr>
            <a:lvl9pPr>
              <a:defRPr sz="2100" b="0">
                <a:solidFill>
                  <a:srgbClr val="18202A"/>
                </a:solidFill>
                <a:latin typeface="Cambria Math"/>
                <a:ea typeface="Cambria Math"/>
                <a:cs typeface="Cambria Math"/>
              </a:defRPr>
            </a:lvl9pPr>
          </a:lstStyle>
          <a:p xmlns:a="http://schemas.openxmlformats.org/drawingml/2006/main">
            <a:pPr>
              <a:defRPr sz="2100" b="0">
                <a:solidFill>
                  <a:srgbClr val="18202A"/>
                </a:solidFill>
                <a:latin typeface="Cambria Math"/>
                <a:ea typeface="Cambria Math"/>
                <a:cs typeface="Cambria Math"/>
              </a:defRPr>
            </a:pPr>
            <a:r>
              <a:rPr sz="2100" b="0">
                <a:solidFill>
                  <a:srgbClr val="18202A"/>
                </a:solidFill>
                <a:latin typeface="Cambria Math"/>
                <a:ea typeface="Cambria Math"/>
                <a:cs typeface="Cambria Math"/>
              </a:rPr>
              <a:t>Central difference</a:t>
            </a:r>
          </a:p>
          <a:p xmlns:a="http://schemas.openxmlformats.org/drawingml/2006/main">
            <a:pPr>
              <a:defRPr sz="2100" b="0">
                <a:solidFill>
                  <a:srgbClr val="18202A"/>
                </a:solidFill>
                <a:latin typeface="Cambria Math"/>
                <a:ea typeface="Cambria Math"/>
                <a:cs typeface="Cambria Math"/>
              </a:defRPr>
            </a:pPr>
            <a:r>
              <a:rPr sz="2100" b="0">
                <a:solidFill>
                  <a:srgbClr val="18202A"/>
                </a:solidFill>
                <a:latin typeface="Cambria Math"/>
                <a:ea typeface="Cambria Math"/>
                <a:cs typeface="Cambria Math"/>
              </a:rPr>
              <a:t>[J(w + eps) - J(w - eps)] / (2 eps)</a:t>
            </a:r>
          </a:p>
        </p:txBody>
      </p:sp>
      <p:sp>
        <p:nvSpPr>
          <p:cNvPr id="5" name="">
            <a:extLst xmlns:a="http://schemas.openxmlformats.org/drawingml/2006/main">
              <a:ext uri="{FF2B5EF4-FFF2-40B4-BE49-F238E27FC236}">
                <a16:creationId xmlns:a16="http://schemas.microsoft.com/office/drawing/2014/main" id="{6463EE36-DEEA-4D6E-9E09-C88EB99584E2}"/>
              </a:ext>
            </a:extLst>
          </p:cNvPr>
          <p:cNvSpPr>
            <a:spLocks xmlns:a="http://schemas.openxmlformats.org/drawingml/2006/main" noGrp="1"/>
          </p:cNvSpPr>
          <p:nvPr/>
        </p:nvSpPr>
        <p:spPr>
          <a:xfrm xmlns:a="http://schemas.openxmlformats.org/drawingml/2006/main">
            <a:off x="666750" y="5619750"/>
            <a:ext cx="107632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025" b="0">
                <a:solidFill>
                  <a:srgbClr val="18202A"/>
                </a:solidFill>
                <a:latin typeface="Arial"/>
                <a:ea typeface="Arial"/>
                <a:cs typeface="Arial"/>
              </a:defRPr>
            </a:defPPr>
            <a:lvl1pPr>
              <a:defRPr sz="2025" b="0">
                <a:solidFill>
                  <a:srgbClr val="18202A"/>
                </a:solidFill>
                <a:latin typeface="Arial"/>
                <a:ea typeface="Arial"/>
                <a:cs typeface="Arial"/>
              </a:defRPr>
            </a:lvl1pPr>
            <a:lvl2pPr>
              <a:defRPr sz="2025" b="0">
                <a:solidFill>
                  <a:srgbClr val="18202A"/>
                </a:solidFill>
                <a:latin typeface="Arial"/>
                <a:ea typeface="Arial"/>
                <a:cs typeface="Arial"/>
              </a:defRPr>
            </a:lvl2pPr>
            <a:lvl3pPr>
              <a:defRPr sz="2025" b="0">
                <a:solidFill>
                  <a:srgbClr val="18202A"/>
                </a:solidFill>
                <a:latin typeface="Arial"/>
                <a:ea typeface="Arial"/>
                <a:cs typeface="Arial"/>
              </a:defRPr>
            </a:lvl3pPr>
            <a:lvl4pPr>
              <a:defRPr sz="2025" b="0">
                <a:solidFill>
                  <a:srgbClr val="18202A"/>
                </a:solidFill>
                <a:latin typeface="Arial"/>
                <a:ea typeface="Arial"/>
                <a:cs typeface="Arial"/>
              </a:defRPr>
            </a:lvl4pPr>
            <a:lvl5pPr>
              <a:defRPr sz="2025" b="0">
                <a:solidFill>
                  <a:srgbClr val="18202A"/>
                </a:solidFill>
                <a:latin typeface="Arial"/>
                <a:ea typeface="Arial"/>
                <a:cs typeface="Arial"/>
              </a:defRPr>
            </a:lvl5pPr>
            <a:lvl6pPr>
              <a:defRPr sz="2025" b="0">
                <a:solidFill>
                  <a:srgbClr val="18202A"/>
                </a:solidFill>
                <a:latin typeface="Arial"/>
                <a:ea typeface="Arial"/>
                <a:cs typeface="Arial"/>
              </a:defRPr>
            </a:lvl6pPr>
            <a:lvl7pPr>
              <a:defRPr sz="2025" b="0">
                <a:solidFill>
                  <a:srgbClr val="18202A"/>
                </a:solidFill>
                <a:latin typeface="Arial"/>
                <a:ea typeface="Arial"/>
                <a:cs typeface="Arial"/>
              </a:defRPr>
            </a:lvl7pPr>
            <a:lvl8pPr>
              <a:defRPr sz="2025" b="0">
                <a:solidFill>
                  <a:srgbClr val="18202A"/>
                </a:solidFill>
                <a:latin typeface="Arial"/>
                <a:ea typeface="Arial"/>
                <a:cs typeface="Arial"/>
              </a:defRPr>
            </a:lvl8pPr>
            <a:lvl9pPr>
              <a:defRPr sz="2025" b="0">
                <a:solidFill>
                  <a:srgbClr val="18202A"/>
                </a:solidFill>
                <a:latin typeface="Arial"/>
                <a:ea typeface="Arial"/>
                <a:cs typeface="Arial"/>
              </a:defRPr>
            </a:lvl9pPr>
          </a:lstStyle>
          <a:p xmlns:a="http://schemas.openxmlformats.org/drawingml/2006/main">
            <a:pPr>
              <a:defRPr sz="2025" b="0">
                <a:solidFill>
                  <a:srgbClr val="18202A"/>
                </a:solidFill>
                <a:latin typeface="Arial"/>
                <a:ea typeface="Arial"/>
                <a:cs typeface="Arial"/>
              </a:defRPr>
            </a:pPr>
            <a:r>
              <a:rPr sz="2025" b="0">
                <a:solidFill>
                  <a:srgbClr val="18202A"/>
                </a:solidFill>
                <a:latin typeface="Arial"/>
                <a:ea typeface="Arial"/>
                <a:cs typeface="Arial"/>
              </a:rPr>
              <a:t>eps = 1e-6. Check weights and biases. Avoid the ReLU kink.</a:t>
            </a:r>
          </a:p>
        </p:txBody>
      </p:sp>
    </p:spTree>
    <p:extLst>
      <p:ext uri="{BB962C8B-B14F-4D97-AF65-F5344CB8AC3E}">
        <p14:creationId xmlns:p14="http://schemas.microsoft.com/office/powerpoint/2010/main" val="1338471975"/>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
            <a:extLst xmlns:a="http://schemas.openxmlformats.org/drawingml/2006/main">
              <a:ext uri="{FF2B5EF4-FFF2-40B4-BE49-F238E27FC236}">
                <a16:creationId xmlns:a16="http://schemas.microsoft.com/office/drawing/2014/main" id="{14565427-793F-4F02-81C7-8F823EEDFD5E}"/>
              </a:ext>
            </a:extLst>
          </p:cNvPr>
          <p:cNvSpPr>
            <a:spLocks xmlns:a="http://schemas.openxmlformats.org/drawingml/2006/main" noGrp="1"/>
          </p:cNvSpPr>
          <p:nvPr/>
        </p:nvSpPr>
        <p:spPr>
          <a:xfrm xmlns:a="http://schemas.openxmlformats.org/drawingml/2006/main">
            <a:off x="609600" y="40005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3300" b="1">
                <a:solidFill>
                  <a:srgbClr val="18202A"/>
                </a:solidFill>
                <a:latin typeface="Arial"/>
                <a:ea typeface="Arial"/>
                <a:cs typeface="Arial"/>
              </a:defRPr>
            </a:defPPr>
            <a:lvl1pPr>
              <a:defRPr sz="3300" b="1">
                <a:solidFill>
                  <a:srgbClr val="18202A"/>
                </a:solidFill>
                <a:latin typeface="Arial"/>
                <a:ea typeface="Arial"/>
                <a:cs typeface="Arial"/>
              </a:defRPr>
            </a:lvl1pPr>
            <a:lvl2pPr>
              <a:defRPr sz="3300" b="1">
                <a:solidFill>
                  <a:srgbClr val="18202A"/>
                </a:solidFill>
                <a:latin typeface="Arial"/>
                <a:ea typeface="Arial"/>
                <a:cs typeface="Arial"/>
              </a:defRPr>
            </a:lvl2pPr>
            <a:lvl3pPr>
              <a:defRPr sz="3300" b="1">
                <a:solidFill>
                  <a:srgbClr val="18202A"/>
                </a:solidFill>
                <a:latin typeface="Arial"/>
                <a:ea typeface="Arial"/>
                <a:cs typeface="Arial"/>
              </a:defRPr>
            </a:lvl3pPr>
            <a:lvl4pPr>
              <a:defRPr sz="3300" b="1">
                <a:solidFill>
                  <a:srgbClr val="18202A"/>
                </a:solidFill>
                <a:latin typeface="Arial"/>
                <a:ea typeface="Arial"/>
                <a:cs typeface="Arial"/>
              </a:defRPr>
            </a:lvl4pPr>
            <a:lvl5pPr>
              <a:defRPr sz="3300" b="1">
                <a:solidFill>
                  <a:srgbClr val="18202A"/>
                </a:solidFill>
                <a:latin typeface="Arial"/>
                <a:ea typeface="Arial"/>
                <a:cs typeface="Arial"/>
              </a:defRPr>
            </a:lvl5pPr>
            <a:lvl6pPr>
              <a:defRPr sz="3300" b="1">
                <a:solidFill>
                  <a:srgbClr val="18202A"/>
                </a:solidFill>
                <a:latin typeface="Arial"/>
                <a:ea typeface="Arial"/>
                <a:cs typeface="Arial"/>
              </a:defRPr>
            </a:lvl6pPr>
            <a:lvl7pPr>
              <a:defRPr sz="3300" b="1">
                <a:solidFill>
                  <a:srgbClr val="18202A"/>
                </a:solidFill>
                <a:latin typeface="Arial"/>
                <a:ea typeface="Arial"/>
                <a:cs typeface="Arial"/>
              </a:defRPr>
            </a:lvl7pPr>
            <a:lvl8pPr>
              <a:defRPr sz="3300" b="1">
                <a:solidFill>
                  <a:srgbClr val="18202A"/>
                </a:solidFill>
                <a:latin typeface="Arial"/>
                <a:ea typeface="Arial"/>
                <a:cs typeface="Arial"/>
              </a:defRPr>
            </a:lvl8pPr>
            <a:lvl9pPr>
              <a:defRPr sz="3300" b="1">
                <a:solidFill>
                  <a:srgbClr val="18202A"/>
                </a:solidFill>
                <a:latin typeface="Arial"/>
                <a:ea typeface="Arial"/>
                <a:cs typeface="Arial"/>
              </a:defRPr>
            </a:lvl9pPr>
          </a:lstStyle>
          <a:p xmlns:a="http://schemas.openxmlformats.org/drawingml/2006/main">
            <a:pPr>
              <a:defRPr sz="3300" b="1">
                <a:solidFill>
                  <a:srgbClr val="18202A"/>
                </a:solidFill>
                <a:latin typeface="Arial"/>
                <a:ea typeface="Arial"/>
                <a:cs typeface="Arial"/>
              </a:defRPr>
            </a:pPr>
            <a:r>
              <a:rPr sz="3300" b="1">
                <a:solidFill>
                  <a:srgbClr val="18202A"/>
                </a:solidFill>
                <a:latin typeface="Arial"/>
                <a:ea typeface="Arial"/>
                <a:cs typeface="Arial"/>
              </a:rPr>
              <a:t>Appendix B Reproducibility and Limits</a:t>
            </a:r>
          </a:p>
        </p:txBody>
      </p:sp>
      <p:sp>
        <p:nvSpPr>
          <p:cNvPr id="2" name="">
            <a:extLst xmlns:a="http://schemas.openxmlformats.org/drawingml/2006/main">
              <a:ext uri="{FF2B5EF4-FFF2-40B4-BE49-F238E27FC236}">
                <a16:creationId xmlns:a16="http://schemas.microsoft.com/office/drawing/2014/main" id="{B9884A66-1BD9-483E-A60D-0EC3D1CB83D1}"/>
              </a:ext>
            </a:extLst>
          </p:cNvPr>
          <p:cNvSpPr>
            <a:spLocks xmlns:a="http://schemas.openxmlformats.org/drawingml/2006/main" noGrp="1"/>
          </p:cNvSpPr>
          <p:nvPr/>
        </p:nvSpPr>
        <p:spPr>
          <a:xfrm xmlns:a="http://schemas.openxmlformats.org/drawingml/2006/main">
            <a:off x="647700" y="1428750"/>
            <a:ext cx="108585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650" b="0">
                <a:solidFill>
                  <a:srgbClr val="18202A"/>
                </a:solidFill>
                <a:latin typeface="Consolas"/>
                <a:ea typeface="Consolas"/>
                <a:cs typeface="Consolas"/>
              </a:defRPr>
            </a:defPPr>
            <a:lvl1pPr>
              <a:defRPr sz="1650" b="0">
                <a:solidFill>
                  <a:srgbClr val="18202A"/>
                </a:solidFill>
                <a:latin typeface="Consolas"/>
                <a:ea typeface="Consolas"/>
                <a:cs typeface="Consolas"/>
              </a:defRPr>
            </a:lvl1pPr>
            <a:lvl2pPr>
              <a:defRPr sz="1650" b="0">
                <a:solidFill>
                  <a:srgbClr val="18202A"/>
                </a:solidFill>
                <a:latin typeface="Consolas"/>
                <a:ea typeface="Consolas"/>
                <a:cs typeface="Consolas"/>
              </a:defRPr>
            </a:lvl2pPr>
            <a:lvl3pPr>
              <a:defRPr sz="1650" b="0">
                <a:solidFill>
                  <a:srgbClr val="18202A"/>
                </a:solidFill>
                <a:latin typeface="Consolas"/>
                <a:ea typeface="Consolas"/>
                <a:cs typeface="Consolas"/>
              </a:defRPr>
            </a:lvl3pPr>
            <a:lvl4pPr>
              <a:defRPr sz="1650" b="0">
                <a:solidFill>
                  <a:srgbClr val="18202A"/>
                </a:solidFill>
                <a:latin typeface="Consolas"/>
                <a:ea typeface="Consolas"/>
                <a:cs typeface="Consolas"/>
              </a:defRPr>
            </a:lvl4pPr>
            <a:lvl5pPr>
              <a:defRPr sz="1650" b="0">
                <a:solidFill>
                  <a:srgbClr val="18202A"/>
                </a:solidFill>
                <a:latin typeface="Consolas"/>
                <a:ea typeface="Consolas"/>
                <a:cs typeface="Consolas"/>
              </a:defRPr>
            </a:lvl5pPr>
            <a:lvl6pPr>
              <a:defRPr sz="1650" b="0">
                <a:solidFill>
                  <a:srgbClr val="18202A"/>
                </a:solidFill>
                <a:latin typeface="Consolas"/>
                <a:ea typeface="Consolas"/>
                <a:cs typeface="Consolas"/>
              </a:defRPr>
            </a:lvl6pPr>
            <a:lvl7pPr>
              <a:defRPr sz="1650" b="0">
                <a:solidFill>
                  <a:srgbClr val="18202A"/>
                </a:solidFill>
                <a:latin typeface="Consolas"/>
                <a:ea typeface="Consolas"/>
                <a:cs typeface="Consolas"/>
              </a:defRPr>
            </a:lvl7pPr>
            <a:lvl8pPr>
              <a:defRPr sz="1650" b="0">
                <a:solidFill>
                  <a:srgbClr val="18202A"/>
                </a:solidFill>
                <a:latin typeface="Consolas"/>
                <a:ea typeface="Consolas"/>
                <a:cs typeface="Consolas"/>
              </a:defRPr>
            </a:lvl8pPr>
            <a:lvl9pPr>
              <a:defRPr sz="1650" b="0">
                <a:solidFill>
                  <a:srgbClr val="18202A"/>
                </a:solidFill>
                <a:latin typeface="Consolas"/>
                <a:ea typeface="Consolas"/>
                <a:cs typeface="Consolas"/>
              </a:defRPr>
            </a:lvl9pPr>
          </a:lstStyle>
          <a:p xmlns:a="http://schemas.openxmlformats.org/drawingml/2006/main">
            <a:pPr>
              <a:defRPr sz="1650" b="0">
                <a:solidFill>
                  <a:srgbClr val="18202A"/>
                </a:solidFill>
                <a:latin typeface="Consolas"/>
                <a:ea typeface="Consolas"/>
                <a:cs typeface="Consolas"/>
              </a:defRPr>
            </a:pPr>
            <a:r>
              <a:rPr sz="1650" b="0">
                <a:solidFill>
                  <a:srgbClr val="18202A"/>
                </a:solidFill>
                <a:latin typeface="Consolas"/>
                <a:ea typeface="Consolas"/>
                <a:cs typeface="Consolas"/>
              </a:rPr>
              <a:t>cargo run --release --bin project11 -- reproduce --out experiment</a:t>
            </a:r>
          </a:p>
          <a:p xmlns:a="http://schemas.openxmlformats.org/drawingml/2006/main">
            <a:pPr>
              <a:defRPr sz="1650" b="0">
                <a:solidFill>
                  <a:srgbClr val="18202A"/>
                </a:solidFill>
                <a:latin typeface="Consolas"/>
                <a:ea typeface="Consolas"/>
                <a:cs typeface="Consolas"/>
              </a:defRPr>
            </a:pPr>
            <a:r>
              <a:rPr sz="1650" b="0">
                <a:solidFill>
                  <a:srgbClr val="18202A"/>
                </a:solidFill>
                <a:latin typeface="Consolas"/>
                <a:ea typeface="Consolas"/>
                <a:cs typeface="Consolas"/>
              </a:rPr>
              <a:t>cargo run --release --bin project11 -- benchmark --out experiment</a:t>
            </a:r>
          </a:p>
          <a:p xmlns:a="http://schemas.openxmlformats.org/drawingml/2006/main">
            <a:pPr>
              <a:defRPr sz="1650" b="0">
                <a:solidFill>
                  <a:srgbClr val="18202A"/>
                </a:solidFill>
                <a:latin typeface="Consolas"/>
                <a:ea typeface="Consolas"/>
                <a:cs typeface="Consolas"/>
              </a:defRPr>
            </a:pPr>
            <a:r>
              <a:rPr sz="1650" b="0">
                <a:solidFill>
                  <a:srgbClr val="18202A"/>
                </a:solidFill>
                <a:latin typeface="Consolas"/>
                <a:ea typeface="Consolas"/>
                <a:cs typeface="Consolas"/>
              </a:rPr>
              <a:t>python scripts/benchmark_numpy.py --root experiment</a:t>
            </a:r>
          </a:p>
        </p:txBody>
      </p:sp>
      <p:sp>
        <p:nvSpPr>
          <p:cNvPr id="3" name="">
            <a:extLst xmlns:a="http://schemas.openxmlformats.org/drawingml/2006/main">
              <a:ext uri="{FF2B5EF4-FFF2-40B4-BE49-F238E27FC236}">
                <a16:creationId xmlns:a16="http://schemas.microsoft.com/office/drawing/2014/main" id="{6986CD8D-C3B4-42AD-9503-2AE463AD3F91}"/>
              </a:ext>
            </a:extLst>
          </p:cNvPr>
          <p:cNvSpPr>
            <a:spLocks xmlns:a="http://schemas.openxmlformats.org/drawingml/2006/main" noGrp="1"/>
          </p:cNvSpPr>
          <p:nvPr/>
        </p:nvSpPr>
        <p:spPr>
          <a:xfrm xmlns:a="http://schemas.openxmlformats.org/drawingml/2006/main">
            <a:off x="666750" y="3238500"/>
            <a:ext cx="10763250" cy="2476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175" b="0">
                <a:solidFill>
                  <a:srgbClr val="18202A"/>
                </a:solidFill>
                <a:latin typeface="Arial"/>
                <a:ea typeface="Arial"/>
                <a:cs typeface="Arial"/>
              </a:defRPr>
            </a:defPPr>
            <a:lvl1pPr>
              <a:defRPr sz="2175" b="0">
                <a:solidFill>
                  <a:srgbClr val="18202A"/>
                </a:solidFill>
                <a:latin typeface="Arial"/>
                <a:ea typeface="Arial"/>
                <a:cs typeface="Arial"/>
              </a:defRPr>
            </a:lvl1pPr>
            <a:lvl2pPr>
              <a:defRPr sz="2175" b="0">
                <a:solidFill>
                  <a:srgbClr val="18202A"/>
                </a:solidFill>
                <a:latin typeface="Arial"/>
                <a:ea typeface="Arial"/>
                <a:cs typeface="Arial"/>
              </a:defRPr>
            </a:lvl2pPr>
            <a:lvl3pPr>
              <a:defRPr sz="2175" b="0">
                <a:solidFill>
                  <a:srgbClr val="18202A"/>
                </a:solidFill>
                <a:latin typeface="Arial"/>
                <a:ea typeface="Arial"/>
                <a:cs typeface="Arial"/>
              </a:defRPr>
            </a:lvl3pPr>
            <a:lvl4pPr>
              <a:defRPr sz="2175" b="0">
                <a:solidFill>
                  <a:srgbClr val="18202A"/>
                </a:solidFill>
                <a:latin typeface="Arial"/>
                <a:ea typeface="Arial"/>
                <a:cs typeface="Arial"/>
              </a:defRPr>
            </a:lvl4pPr>
            <a:lvl5pPr>
              <a:defRPr sz="2175" b="0">
                <a:solidFill>
                  <a:srgbClr val="18202A"/>
                </a:solidFill>
                <a:latin typeface="Arial"/>
                <a:ea typeface="Arial"/>
                <a:cs typeface="Arial"/>
              </a:defRPr>
            </a:lvl5pPr>
            <a:lvl6pPr>
              <a:defRPr sz="2175" b="0">
                <a:solidFill>
                  <a:srgbClr val="18202A"/>
                </a:solidFill>
                <a:latin typeface="Arial"/>
                <a:ea typeface="Arial"/>
                <a:cs typeface="Arial"/>
              </a:defRPr>
            </a:lvl6pPr>
            <a:lvl7pPr>
              <a:defRPr sz="2175" b="0">
                <a:solidFill>
                  <a:srgbClr val="18202A"/>
                </a:solidFill>
                <a:latin typeface="Arial"/>
                <a:ea typeface="Arial"/>
                <a:cs typeface="Arial"/>
              </a:defRPr>
            </a:lvl7pPr>
            <a:lvl8pPr>
              <a:defRPr sz="2175" b="0">
                <a:solidFill>
                  <a:srgbClr val="18202A"/>
                </a:solidFill>
                <a:latin typeface="Arial"/>
                <a:ea typeface="Arial"/>
                <a:cs typeface="Arial"/>
              </a:defRPr>
            </a:lvl8pPr>
            <a:lvl9pPr>
              <a:defRPr sz="2175" b="0">
                <a:solidFill>
                  <a:srgbClr val="18202A"/>
                </a:solidFill>
                <a:latin typeface="Arial"/>
                <a:ea typeface="Arial"/>
                <a:cs typeface="Arial"/>
              </a:defRPr>
            </a:lvl9pPr>
          </a:lstStyle>
          <a:p xmlns:a="http://schemas.openxmlformats.org/drawingml/2006/main">
            <a:pPr>
              <a:defRPr sz="2175" b="0">
                <a:solidFill>
                  <a:srgbClr val="18202A"/>
                </a:solidFill>
                <a:latin typeface="Arial"/>
                <a:ea typeface="Arial"/>
                <a:cs typeface="Arial"/>
              </a:defRPr>
            </a:pPr>
            <a:r>
              <a:rPr sz="2175" b="0">
                <a:solidFill>
                  <a:srgbClr val="18202A"/>
                </a:solidFill>
                <a:latin typeface="Arial"/>
                <a:ea typeface="Arial"/>
                <a:cs typeface="Arial"/>
              </a:rPr>
              <a:t>Fixed time step and physical parameters</a:t>
            </a:r>
          </a:p>
          <a:p xmlns:a="http://schemas.openxmlformats.org/drawingml/2006/main">
            <a:r>
              <a:t/>
            </a:r>
          </a:p>
          <a:p xmlns:a="http://schemas.openxmlformats.org/drawingml/2006/main">
            <a:pPr>
              <a:defRPr sz="2175" b="0">
                <a:solidFill>
                  <a:srgbClr val="18202A"/>
                </a:solidFill>
                <a:latin typeface="Arial"/>
                <a:ea typeface="Arial"/>
                <a:cs typeface="Arial"/>
              </a:defRPr>
            </a:pPr>
            <a:r>
              <a:rPr sz="2175" b="0">
                <a:solidFill>
                  <a:srgbClr val="18202A"/>
                </a:solidFill>
                <a:latin typeface="Arial"/>
                <a:ea typeface="Arial"/>
                <a:cs typeface="Arial"/>
              </a:rPr>
              <a:t>One training seed and one OOD case</a:t>
            </a:r>
          </a:p>
          <a:p xmlns:a="http://schemas.openxmlformats.org/drawingml/2006/main">
            <a:r>
              <a:t/>
            </a:r>
          </a:p>
          <a:p xmlns:a="http://schemas.openxmlformats.org/drawingml/2006/main">
            <a:pPr>
              <a:defRPr sz="2175" b="0">
                <a:solidFill>
                  <a:srgbClr val="18202A"/>
                </a:solidFill>
                <a:latin typeface="Arial"/>
                <a:ea typeface="Arial"/>
                <a:cs typeface="Arial"/>
              </a:defRPr>
            </a:pPr>
            <a:r>
              <a:rPr sz="2175" b="0">
                <a:solidFill>
                  <a:srgbClr val="18202A"/>
                </a:solidFill>
                <a:latin typeface="Arial"/>
                <a:ea typeface="Arial"/>
                <a:cs typeface="Arial"/>
              </a:rPr>
              <a:t>No measured inference-speed advantage over RK4</a:t>
            </a:r>
          </a:p>
          <a:p xmlns:a="http://schemas.openxmlformats.org/drawingml/2006/main">
            <a:r>
              <a:t/>
            </a:r>
          </a:p>
          <a:p xmlns:a="http://schemas.openxmlformats.org/drawingml/2006/main">
            <a:pPr>
              <a:defRPr sz="2175" b="0">
                <a:solidFill>
                  <a:srgbClr val="18202A"/>
                </a:solidFill>
                <a:latin typeface="Arial"/>
                <a:ea typeface="Arial"/>
                <a:cs typeface="Arial"/>
              </a:defRPr>
            </a:pPr>
            <a:r>
              <a:rPr sz="2175" b="0">
                <a:solidFill>
                  <a:srgbClr val="18202A"/>
                </a:solidFill>
                <a:latin typeface="Arial"/>
                <a:ea typeface="Arial"/>
                <a:cs typeface="Arial"/>
              </a:rPr>
              <a:t>Discrete transition surrogate, not a PINN</a:t>
            </a:r>
          </a:p>
        </p:txBody>
      </p:sp>
    </p:spTree>
    <p:extLst>
      <p:ext uri="{BB962C8B-B14F-4D97-AF65-F5344CB8AC3E}">
        <p14:creationId xmlns:p14="http://schemas.microsoft.com/office/powerpoint/2010/main" val="1215813330"/>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2026-10-23T06:30:14.1650000Z</dcterms:created>
  <dcterms:modified xsi:type="dcterms:W3CDTF">2026-10-23T06:30:14.1650000Z</dcterms:modified>
</coreProperties>
</file>